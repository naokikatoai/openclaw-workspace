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QuattrocentoSans-regular.fntdata"/><Relationship Id="rId21" Type="http://schemas.openxmlformats.org/officeDocument/2006/relationships/slide" Target="slides/slide15.xml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Quattrocento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6e9aaa12c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6e9aaa12c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6e9aaa12c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6e9aaa12c_2_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6e9aaa12c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6e9aaa12c_2_1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6e9aaa12c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6e9aaa12c_2_14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6e9aaa12c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c6e9aaa12c_2_16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6e9aaa12c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c6e9aaa12c_2_1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6e9aaa12c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c6e9aaa12c_2_2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6e9aaa12c_2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c6e9aaa12c_2_22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6e9aaa12c_2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c6e9aaa12c_2_24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6e9aaa12c_2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c6e9aaa12c_2_27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c6e9aaa12c_2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c6e9aaa12c_2_2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6e9aaa12c_2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c6e9aaa12c_2_3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6e9aaa12c_2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c6e9aaa12c_2_34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6e9aaa12c_2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c6e9aaa12c_2_35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/>
          <p:nvPr/>
        </p:nvSpPr>
        <p:spPr>
          <a:xfrm>
            <a:off x="0" y="0"/>
            <a:ext cx="9144015" cy="41148"/>
          </a:xfrm>
          <a:prstGeom prst="rect">
            <a:avLst/>
          </a:prstGeom>
          <a:solidFill>
            <a:srgbClr val="00F2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0" y="41148"/>
            <a:ext cx="9144015" cy="41148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685818" y="1028700"/>
            <a:ext cx="774974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TikTok Shop</a:t>
            </a:r>
            <a:endParaRPr sz="1100"/>
          </a:p>
        </p:txBody>
      </p:sp>
      <p:sp>
        <p:nvSpPr>
          <p:cNvPr id="138" name="Google Shape;138;p26"/>
          <p:cNvSpPr txBox="1"/>
          <p:nvPr/>
        </p:nvSpPr>
        <p:spPr>
          <a:xfrm>
            <a:off x="685818" y="1783080"/>
            <a:ext cx="77497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3000" u="none" cap="none" strike="noStrike">
                <a:solidFill>
                  <a:srgbClr val="00F2EA"/>
                </a:solidFill>
                <a:latin typeface="Arial"/>
                <a:ea typeface="Arial"/>
                <a:cs typeface="Arial"/>
                <a:sym typeface="Arial"/>
              </a:rPr>
              <a:t>アカウント開設 手順書</a:t>
            </a:r>
            <a:endParaRPr sz="1100"/>
          </a:p>
        </p:txBody>
      </p:sp>
      <p:sp>
        <p:nvSpPr>
          <p:cNvPr id="139" name="Google Shape;139;p26"/>
          <p:cNvSpPr/>
          <p:nvPr/>
        </p:nvSpPr>
        <p:spPr>
          <a:xfrm>
            <a:off x="3086182" y="2537460"/>
            <a:ext cx="2949019" cy="377190"/>
          </a:xfrm>
          <a:prstGeom prst="roundRect">
            <a:avLst>
              <a:gd fmla="val 16667" name="adj"/>
            </a:avLst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3086182" y="2551176"/>
            <a:ext cx="2949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法人向け</a:t>
            </a:r>
            <a:endParaRPr sz="1100"/>
          </a:p>
        </p:txBody>
      </p:sp>
      <p:sp>
        <p:nvSpPr>
          <p:cNvPr id="141" name="Google Shape;141;p26"/>
          <p:cNvSpPr/>
          <p:nvPr/>
        </p:nvSpPr>
        <p:spPr>
          <a:xfrm>
            <a:off x="1714546" y="3291840"/>
            <a:ext cx="5692292" cy="1234440"/>
          </a:xfrm>
          <a:prstGeom prst="roundRect">
            <a:avLst>
              <a:gd fmla="val 16667" name="adj"/>
            </a:avLst>
          </a:prstGeom>
          <a:solidFill>
            <a:srgbClr val="25253A"/>
          </a:solidFill>
          <a:ln cap="flat" cmpd="sng" w="12700">
            <a:solidFill>
              <a:srgbClr val="40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1920291" y="3394710"/>
            <a:ext cx="52808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00F2EA"/>
                </a:solidFill>
                <a:latin typeface="Arial"/>
                <a:ea typeface="Arial"/>
                <a:cs typeface="Arial"/>
                <a:sym typeface="Arial"/>
              </a:rPr>
              <a:t>基本情報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初期費用・月額: 無料  |  販売手数料: 売上の7%（新規は3商品登録後90日間 3%に割引）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審査期間: 1〜5営業日  |  法人は最大5ショップまで開設OK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 / 14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548655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全体フロー</a:t>
            </a:r>
            <a:endParaRPr sz="1100"/>
          </a:p>
        </p:txBody>
      </p:sp>
      <p:sp>
        <p:nvSpPr>
          <p:cNvPr id="150" name="Google Shape;150;p27"/>
          <p:cNvSpPr/>
          <p:nvPr/>
        </p:nvSpPr>
        <p:spPr>
          <a:xfrm>
            <a:off x="548655" y="685800"/>
            <a:ext cx="1371637" cy="27432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788691" y="1028700"/>
            <a:ext cx="411491" cy="411480"/>
          </a:xfrm>
          <a:prstGeom prst="ellipse">
            <a:avLst/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100"/>
          </a:p>
        </p:txBody>
      </p:sp>
      <p:sp>
        <p:nvSpPr>
          <p:cNvPr id="152" name="Google Shape;152;p27"/>
          <p:cNvSpPr/>
          <p:nvPr/>
        </p:nvSpPr>
        <p:spPr>
          <a:xfrm>
            <a:off x="411491" y="1543050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書類準備</a:t>
            </a:r>
            <a:endParaRPr sz="1100"/>
          </a:p>
        </p:txBody>
      </p:sp>
      <p:sp>
        <p:nvSpPr>
          <p:cNvPr id="153" name="Google Shape;153;p27"/>
          <p:cNvSpPr txBox="1"/>
          <p:nvPr/>
        </p:nvSpPr>
        <p:spPr>
          <a:xfrm>
            <a:off x="1645964" y="1714500"/>
            <a:ext cx="4114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sz="1100"/>
          </a:p>
        </p:txBody>
      </p:sp>
      <p:sp>
        <p:nvSpPr>
          <p:cNvPr id="154" name="Google Shape;154;p27"/>
          <p:cNvSpPr/>
          <p:nvPr/>
        </p:nvSpPr>
        <p:spPr>
          <a:xfrm>
            <a:off x="2503237" y="1028700"/>
            <a:ext cx="411491" cy="411480"/>
          </a:xfrm>
          <a:prstGeom prst="ellipse">
            <a:avLst/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100"/>
          </a:p>
        </p:txBody>
      </p:sp>
      <p:sp>
        <p:nvSpPr>
          <p:cNvPr id="155" name="Google Shape;155;p27"/>
          <p:cNvSpPr/>
          <p:nvPr/>
        </p:nvSpPr>
        <p:spPr>
          <a:xfrm>
            <a:off x="2126037" y="1543050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Seller Center</a:t>
            </a:r>
            <a:b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アカウント登録</a:t>
            </a:r>
            <a:endParaRPr sz="1100"/>
          </a:p>
        </p:txBody>
      </p:sp>
      <p:sp>
        <p:nvSpPr>
          <p:cNvPr id="156" name="Google Shape;156;p27"/>
          <p:cNvSpPr txBox="1"/>
          <p:nvPr/>
        </p:nvSpPr>
        <p:spPr>
          <a:xfrm>
            <a:off x="3360510" y="1714500"/>
            <a:ext cx="4114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sz="1100"/>
          </a:p>
        </p:txBody>
      </p:sp>
      <p:sp>
        <p:nvSpPr>
          <p:cNvPr id="157" name="Google Shape;157;p27"/>
          <p:cNvSpPr/>
          <p:nvPr/>
        </p:nvSpPr>
        <p:spPr>
          <a:xfrm>
            <a:off x="4217782" y="1028700"/>
            <a:ext cx="411491" cy="411480"/>
          </a:xfrm>
          <a:prstGeom prst="ellipse">
            <a:avLst/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100"/>
          </a:p>
        </p:txBody>
      </p:sp>
      <p:sp>
        <p:nvSpPr>
          <p:cNvPr id="158" name="Google Shape;158;p27"/>
          <p:cNvSpPr/>
          <p:nvPr/>
        </p:nvSpPr>
        <p:spPr>
          <a:xfrm>
            <a:off x="3840582" y="1543050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法人</a:t>
            </a:r>
            <a:b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（コーポレートセラー）</a:t>
            </a:r>
            <a:b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選択</a:t>
            </a:r>
            <a:endParaRPr sz="1100"/>
          </a:p>
        </p:txBody>
      </p:sp>
      <p:sp>
        <p:nvSpPr>
          <p:cNvPr id="159" name="Google Shape;159;p27"/>
          <p:cNvSpPr txBox="1"/>
          <p:nvPr/>
        </p:nvSpPr>
        <p:spPr>
          <a:xfrm>
            <a:off x="5075055" y="1714500"/>
            <a:ext cx="4114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sz="1100"/>
          </a:p>
        </p:txBody>
      </p:sp>
      <p:sp>
        <p:nvSpPr>
          <p:cNvPr id="160" name="Google Shape;160;p27"/>
          <p:cNvSpPr/>
          <p:nvPr/>
        </p:nvSpPr>
        <p:spPr>
          <a:xfrm>
            <a:off x="5932328" y="1028700"/>
            <a:ext cx="411491" cy="411480"/>
          </a:xfrm>
          <a:prstGeom prst="ellipse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100"/>
          </a:p>
        </p:txBody>
      </p:sp>
      <p:sp>
        <p:nvSpPr>
          <p:cNvPr id="161" name="Google Shape;161;p27"/>
          <p:cNvSpPr/>
          <p:nvPr/>
        </p:nvSpPr>
        <p:spPr>
          <a:xfrm>
            <a:off x="5555128" y="1543050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A5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身分証</a:t>
            </a:r>
            <a:b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カメラ認証</a:t>
            </a:r>
            <a:endParaRPr sz="1100"/>
          </a:p>
        </p:txBody>
      </p:sp>
      <p:sp>
        <p:nvSpPr>
          <p:cNvPr id="162" name="Google Shape;162;p27"/>
          <p:cNvSpPr txBox="1"/>
          <p:nvPr/>
        </p:nvSpPr>
        <p:spPr>
          <a:xfrm>
            <a:off x="6789601" y="1714500"/>
            <a:ext cx="4114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A55EEA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sz="1100"/>
          </a:p>
        </p:txBody>
      </p:sp>
      <p:sp>
        <p:nvSpPr>
          <p:cNvPr id="163" name="Google Shape;163;p27"/>
          <p:cNvSpPr/>
          <p:nvPr/>
        </p:nvSpPr>
        <p:spPr>
          <a:xfrm>
            <a:off x="7646874" y="1028700"/>
            <a:ext cx="411491" cy="411480"/>
          </a:xfrm>
          <a:prstGeom prst="ellipse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1100"/>
          </a:p>
        </p:txBody>
      </p:sp>
      <p:sp>
        <p:nvSpPr>
          <p:cNvPr id="164" name="Google Shape;164;p27"/>
          <p:cNvSpPr/>
          <p:nvPr/>
        </p:nvSpPr>
        <p:spPr>
          <a:xfrm>
            <a:off x="7269674" y="1543050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A5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法人情報・書類</a:t>
            </a:r>
            <a:b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アップロード</a:t>
            </a:r>
            <a:endParaRPr sz="1100"/>
          </a:p>
        </p:txBody>
      </p:sp>
      <p:sp>
        <p:nvSpPr>
          <p:cNvPr id="165" name="Google Shape;165;p27"/>
          <p:cNvSpPr txBox="1"/>
          <p:nvPr/>
        </p:nvSpPr>
        <p:spPr>
          <a:xfrm>
            <a:off x="7749747" y="2331720"/>
            <a:ext cx="4114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500" u="none" cap="none" strike="noStrike">
                <a:solidFill>
                  <a:srgbClr val="A55EE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sz="1100"/>
          </a:p>
        </p:txBody>
      </p:sp>
      <p:sp>
        <p:nvSpPr>
          <p:cNvPr id="166" name="Google Shape;166;p27"/>
          <p:cNvSpPr/>
          <p:nvPr/>
        </p:nvSpPr>
        <p:spPr>
          <a:xfrm>
            <a:off x="7646874" y="2811779"/>
            <a:ext cx="411491" cy="411480"/>
          </a:xfrm>
          <a:prstGeom prst="ellipse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100"/>
          </a:p>
        </p:txBody>
      </p:sp>
      <p:sp>
        <p:nvSpPr>
          <p:cNvPr id="167" name="Google Shape;167;p27"/>
          <p:cNvSpPr/>
          <p:nvPr/>
        </p:nvSpPr>
        <p:spPr>
          <a:xfrm>
            <a:off x="7269674" y="3326129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FE2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ショップ名・</a:t>
            </a:r>
            <a:b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住所入力</a:t>
            </a:r>
            <a:endParaRPr sz="1100"/>
          </a:p>
        </p:txBody>
      </p:sp>
      <p:sp>
        <p:nvSpPr>
          <p:cNvPr id="168" name="Google Shape;168;p27"/>
          <p:cNvSpPr txBox="1"/>
          <p:nvPr/>
        </p:nvSpPr>
        <p:spPr>
          <a:xfrm>
            <a:off x="6721019" y="3497579"/>
            <a:ext cx="4114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  <a:t>◀</a:t>
            </a:r>
            <a:endParaRPr sz="1100"/>
          </a:p>
        </p:txBody>
      </p:sp>
      <p:sp>
        <p:nvSpPr>
          <p:cNvPr id="169" name="Google Shape;169;p27"/>
          <p:cNvSpPr/>
          <p:nvPr/>
        </p:nvSpPr>
        <p:spPr>
          <a:xfrm>
            <a:off x="5932328" y="2811779"/>
            <a:ext cx="411491" cy="411480"/>
          </a:xfrm>
          <a:prstGeom prst="ellipse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100"/>
          </a:p>
        </p:txBody>
      </p:sp>
      <p:sp>
        <p:nvSpPr>
          <p:cNvPr id="170" name="Google Shape;170;p27"/>
          <p:cNvSpPr/>
          <p:nvPr/>
        </p:nvSpPr>
        <p:spPr>
          <a:xfrm>
            <a:off x="5555128" y="3326129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FE2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申請</a:t>
            </a:r>
            <a:b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（審査1〜5営業日）</a:t>
            </a:r>
            <a:endParaRPr sz="1100"/>
          </a:p>
        </p:txBody>
      </p:sp>
      <p:sp>
        <p:nvSpPr>
          <p:cNvPr id="171" name="Google Shape;171;p27"/>
          <p:cNvSpPr txBox="1"/>
          <p:nvPr/>
        </p:nvSpPr>
        <p:spPr>
          <a:xfrm>
            <a:off x="5006473" y="3497579"/>
            <a:ext cx="4114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  <a:t>◀</a:t>
            </a:r>
            <a:endParaRPr sz="1100"/>
          </a:p>
        </p:txBody>
      </p:sp>
      <p:sp>
        <p:nvSpPr>
          <p:cNvPr id="172" name="Google Shape;172;p27"/>
          <p:cNvSpPr/>
          <p:nvPr/>
        </p:nvSpPr>
        <p:spPr>
          <a:xfrm>
            <a:off x="4217782" y="2811779"/>
            <a:ext cx="411491" cy="41148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sz="1100"/>
          </a:p>
        </p:txBody>
      </p:sp>
      <p:sp>
        <p:nvSpPr>
          <p:cNvPr id="173" name="Google Shape;173;p27"/>
          <p:cNvSpPr/>
          <p:nvPr/>
        </p:nvSpPr>
        <p:spPr>
          <a:xfrm>
            <a:off x="3840582" y="3326129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銀行口座連携</a:t>
            </a:r>
            <a:endParaRPr sz="1100"/>
          </a:p>
        </p:txBody>
      </p:sp>
      <p:sp>
        <p:nvSpPr>
          <p:cNvPr id="174" name="Google Shape;174;p27"/>
          <p:cNvSpPr txBox="1"/>
          <p:nvPr/>
        </p:nvSpPr>
        <p:spPr>
          <a:xfrm>
            <a:off x="3291928" y="3497579"/>
            <a:ext cx="4114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25D366"/>
                </a:solidFill>
                <a:latin typeface="Arial"/>
                <a:ea typeface="Arial"/>
                <a:cs typeface="Arial"/>
                <a:sym typeface="Arial"/>
              </a:rPr>
              <a:t>◀</a:t>
            </a:r>
            <a:endParaRPr sz="1100"/>
          </a:p>
        </p:txBody>
      </p:sp>
      <p:sp>
        <p:nvSpPr>
          <p:cNvPr id="175" name="Google Shape;175;p27"/>
          <p:cNvSpPr/>
          <p:nvPr/>
        </p:nvSpPr>
        <p:spPr>
          <a:xfrm>
            <a:off x="2503237" y="2811779"/>
            <a:ext cx="411491" cy="41148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sz="1100"/>
          </a:p>
        </p:txBody>
      </p:sp>
      <p:sp>
        <p:nvSpPr>
          <p:cNvPr id="176" name="Google Shape;176;p27"/>
          <p:cNvSpPr/>
          <p:nvPr/>
        </p:nvSpPr>
        <p:spPr>
          <a:xfrm>
            <a:off x="2126037" y="3326129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商品登録</a:t>
            </a:r>
            <a:b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（3商品で手数料割引!）</a:t>
            </a:r>
            <a:endParaRPr sz="1100"/>
          </a:p>
        </p:txBody>
      </p:sp>
      <p:sp>
        <p:nvSpPr>
          <p:cNvPr id="177" name="Google Shape;177;p27"/>
          <p:cNvSpPr txBox="1"/>
          <p:nvPr/>
        </p:nvSpPr>
        <p:spPr>
          <a:xfrm>
            <a:off x="1577382" y="3497579"/>
            <a:ext cx="4114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25D366"/>
                </a:solidFill>
                <a:latin typeface="Arial"/>
                <a:ea typeface="Arial"/>
                <a:cs typeface="Arial"/>
                <a:sym typeface="Arial"/>
              </a:rPr>
              <a:t>◀</a:t>
            </a:r>
            <a:endParaRPr sz="1100"/>
          </a:p>
        </p:txBody>
      </p:sp>
      <p:sp>
        <p:nvSpPr>
          <p:cNvPr id="178" name="Google Shape;178;p27"/>
          <p:cNvSpPr/>
          <p:nvPr/>
        </p:nvSpPr>
        <p:spPr>
          <a:xfrm>
            <a:off x="788691" y="2811779"/>
            <a:ext cx="411491" cy="4114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sz="1100"/>
          </a:p>
        </p:txBody>
      </p:sp>
      <p:sp>
        <p:nvSpPr>
          <p:cNvPr id="179" name="Google Shape;179;p27"/>
          <p:cNvSpPr/>
          <p:nvPr/>
        </p:nvSpPr>
        <p:spPr>
          <a:xfrm>
            <a:off x="411491" y="3326129"/>
            <a:ext cx="1165891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配送・通知設定</a:t>
            </a:r>
            <a:endParaRPr sz="1100"/>
          </a:p>
        </p:txBody>
      </p:sp>
      <p:sp>
        <p:nvSpPr>
          <p:cNvPr id="180" name="Google Shape;180;p27"/>
          <p:cNvSpPr/>
          <p:nvPr/>
        </p:nvSpPr>
        <p:spPr>
          <a:xfrm>
            <a:off x="3086182" y="4251960"/>
            <a:ext cx="2949019" cy="480060"/>
          </a:xfrm>
          <a:prstGeom prst="roundRect">
            <a:avLst>
              <a:gd fmla="val 16667" name="adj"/>
            </a:avLst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販売開始!</a:t>
            </a:r>
            <a:endParaRPr sz="1100"/>
          </a:p>
        </p:txBody>
      </p:sp>
      <p:sp>
        <p:nvSpPr>
          <p:cNvPr id="181" name="Google Shape;181;p27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 / 14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sz="1100"/>
          </a:p>
        </p:txBody>
      </p:sp>
      <p:sp>
        <p:nvSpPr>
          <p:cNvPr id="189" name="Google Shape;189;p28"/>
          <p:cNvSpPr txBox="1"/>
          <p:nvPr/>
        </p:nvSpPr>
        <p:spPr>
          <a:xfrm>
            <a:off x="1920291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事前に準備するもの</a:t>
            </a:r>
            <a:endParaRPr sz="1100"/>
          </a:p>
        </p:txBody>
      </p:sp>
      <p:sp>
        <p:nvSpPr>
          <p:cNvPr id="190" name="Google Shape;190;p28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548655" y="82296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必要書類</a:t>
            </a:r>
            <a:endParaRPr sz="1100"/>
          </a:p>
        </p:txBody>
      </p:sp>
      <p:sp>
        <p:nvSpPr>
          <p:cNvPr id="192" name="Google Shape;192;p28"/>
          <p:cNvSpPr/>
          <p:nvPr/>
        </p:nvSpPr>
        <p:spPr>
          <a:xfrm>
            <a:off x="548655" y="1200150"/>
            <a:ext cx="3977746" cy="2880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754400" y="1268730"/>
            <a:ext cx="36348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✅  履歴事項全部証明書（登記簿謄本）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ja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    → 発行から3ヶ月以内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✅  代表者の身分証明書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ja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    → 運転免許証 / パスポート / 在留カード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✅  会社情報の証明書（1つ）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ja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 → 公共料金請求書 / 住民票 / 銀行取引明細 / クレカ請求書のどれか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✅  法人の銀行口座情報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ja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    → 口座名義が登記の会社名と完全一致すること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✅  事業許可証（該当する場合のみ）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ja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    → 食品営業許可、化粧品製造販売業許可など</a:t>
            </a:r>
            <a:endParaRPr sz="1100"/>
          </a:p>
        </p:txBody>
      </p:sp>
      <p:sp>
        <p:nvSpPr>
          <p:cNvPr id="194" name="Google Shape;194;p28"/>
          <p:cNvSpPr txBox="1"/>
          <p:nvPr/>
        </p:nvSpPr>
        <p:spPr>
          <a:xfrm>
            <a:off x="4800728" y="82296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その他の準備</a:t>
            </a:r>
            <a:endParaRPr sz="1100"/>
          </a:p>
        </p:txBody>
      </p:sp>
      <p:sp>
        <p:nvSpPr>
          <p:cNvPr id="195" name="Google Shape;195;p28"/>
          <p:cNvSpPr/>
          <p:nvPr/>
        </p:nvSpPr>
        <p:spPr>
          <a:xfrm>
            <a:off x="4800728" y="1200150"/>
            <a:ext cx="3772001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006473" y="1268730"/>
            <a:ext cx="34290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✅  法人用メールアドレス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✅  法人用電話番号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✅  TikTokビジネスアカウント</a:t>
            </a:r>
            <a:endParaRPr b="0" i="0" sz="11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（個人アカウントなら切替が必要）</a:t>
            </a:r>
            <a:endParaRPr sz="1100"/>
          </a:p>
        </p:txBody>
      </p:sp>
      <p:sp>
        <p:nvSpPr>
          <p:cNvPr id="197" name="Google Shape;197;p28"/>
          <p:cNvSpPr/>
          <p:nvPr/>
        </p:nvSpPr>
        <p:spPr>
          <a:xfrm>
            <a:off x="4800728" y="2743200"/>
            <a:ext cx="3772001" cy="480060"/>
          </a:xfrm>
          <a:prstGeom prst="roundRect">
            <a:avLst>
              <a:gd fmla="val 16667" name="adj"/>
            </a:avLst>
          </a:prstGeom>
          <a:solidFill>
            <a:srgbClr val="FFF8E1"/>
          </a:solidFill>
          <a:ln cap="flat" cmpd="sng" w="254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4903601" y="2811780"/>
            <a:ext cx="342909" cy="3429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 sz="1100"/>
          </a:p>
        </p:txBody>
      </p:sp>
      <p:sp>
        <p:nvSpPr>
          <p:cNvPr id="199" name="Google Shape;199;p28"/>
          <p:cNvSpPr txBox="1"/>
          <p:nvPr/>
        </p:nvSpPr>
        <p:spPr>
          <a:xfrm>
            <a:off x="5349383" y="2811780"/>
            <a:ext cx="30861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  <a:t>身分証明書はリアルタイムのカメラ撮影で</a:t>
            </a:r>
            <a:br>
              <a:rPr b="0" i="0" lang="ja" sz="10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0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  <a:t>認証する場合あり。PCカメラかスマホを手元に!</a:t>
            </a:r>
            <a:endParaRPr sz="1100"/>
          </a:p>
        </p:txBody>
      </p:sp>
      <p:sp>
        <p:nvSpPr>
          <p:cNvPr id="200" name="Google Shape;200;p28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 / 14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sz="1100"/>
          </a:p>
        </p:txBody>
      </p:sp>
      <p:sp>
        <p:nvSpPr>
          <p:cNvPr id="208" name="Google Shape;208;p29"/>
          <p:cNvSpPr txBox="1"/>
          <p:nvPr/>
        </p:nvSpPr>
        <p:spPr>
          <a:xfrm>
            <a:off x="1920291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Seller Center にアクセス</a:t>
            </a:r>
            <a:endParaRPr sz="1100"/>
          </a:p>
        </p:txBody>
      </p:sp>
      <p:sp>
        <p:nvSpPr>
          <p:cNvPr id="209" name="Google Shape;209;p29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685818" y="1234440"/>
            <a:ext cx="21946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1474509" y="1440180"/>
            <a:ext cx="617236" cy="617220"/>
          </a:xfrm>
          <a:prstGeom prst="ellipse">
            <a:avLst/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100"/>
          </a:p>
        </p:txBody>
      </p:sp>
      <p:sp>
        <p:nvSpPr>
          <p:cNvPr id="212" name="Google Shape;212;p29"/>
          <p:cNvSpPr txBox="1"/>
          <p:nvPr/>
        </p:nvSpPr>
        <p:spPr>
          <a:xfrm>
            <a:off x="891564" y="2160270"/>
            <a:ext cx="178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PCブラウザでアクセス</a:t>
            </a:r>
            <a:endParaRPr sz="900"/>
          </a:p>
        </p:txBody>
      </p:sp>
      <p:sp>
        <p:nvSpPr>
          <p:cNvPr id="213" name="Google Shape;213;p29"/>
          <p:cNvSpPr txBox="1"/>
          <p:nvPr/>
        </p:nvSpPr>
        <p:spPr>
          <a:xfrm>
            <a:off x="891564" y="2468880"/>
            <a:ext cx="1783128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https://seller-jp.tiktok.com/</a:t>
            </a:r>
            <a:b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を開く</a:t>
            </a:r>
            <a:endParaRPr sz="1100"/>
          </a:p>
        </p:txBody>
      </p:sp>
      <p:sp>
        <p:nvSpPr>
          <p:cNvPr id="214" name="Google Shape;214;p29"/>
          <p:cNvSpPr/>
          <p:nvPr/>
        </p:nvSpPr>
        <p:spPr>
          <a:xfrm>
            <a:off x="3291928" y="1234440"/>
            <a:ext cx="21946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A5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4080619" y="1440180"/>
            <a:ext cx="617236" cy="617220"/>
          </a:xfrm>
          <a:prstGeom prst="ellipse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100"/>
          </a:p>
        </p:txBody>
      </p:sp>
      <p:sp>
        <p:nvSpPr>
          <p:cNvPr id="216" name="Google Shape;216;p29"/>
          <p:cNvSpPr txBox="1"/>
          <p:nvPr/>
        </p:nvSpPr>
        <p:spPr>
          <a:xfrm>
            <a:off x="3497673" y="2160270"/>
            <a:ext cx="1783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A55EEA"/>
                </a:solidFill>
                <a:latin typeface="Arial"/>
                <a:ea typeface="Arial"/>
                <a:cs typeface="Arial"/>
                <a:sym typeface="Arial"/>
              </a:rPr>
              <a:t>アカウント登録</a:t>
            </a:r>
            <a:endParaRPr sz="1100"/>
          </a:p>
        </p:txBody>
      </p:sp>
      <p:sp>
        <p:nvSpPr>
          <p:cNvPr id="217" name="Google Shape;217;p29"/>
          <p:cNvSpPr txBox="1"/>
          <p:nvPr/>
        </p:nvSpPr>
        <p:spPr>
          <a:xfrm>
            <a:off x="3497673" y="2468880"/>
            <a:ext cx="1783128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「アカウント登録」を</a:t>
            </a:r>
            <a:b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クリック</a:t>
            </a:r>
            <a:endParaRPr sz="1100"/>
          </a:p>
        </p:txBody>
      </p:sp>
      <p:sp>
        <p:nvSpPr>
          <p:cNvPr id="218" name="Google Shape;218;p29"/>
          <p:cNvSpPr/>
          <p:nvPr/>
        </p:nvSpPr>
        <p:spPr>
          <a:xfrm>
            <a:off x="5898037" y="1234440"/>
            <a:ext cx="21946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6686728" y="1440180"/>
            <a:ext cx="617236" cy="6172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100"/>
          </a:p>
        </p:txBody>
      </p:sp>
      <p:sp>
        <p:nvSpPr>
          <p:cNvPr id="220" name="Google Shape;220;p29"/>
          <p:cNvSpPr txBox="1"/>
          <p:nvPr/>
        </p:nvSpPr>
        <p:spPr>
          <a:xfrm>
            <a:off x="6103783" y="2160270"/>
            <a:ext cx="1783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25D366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1100"/>
          </a:p>
        </p:txBody>
      </p:sp>
      <p:sp>
        <p:nvSpPr>
          <p:cNvPr id="221" name="Google Shape;221;p29"/>
          <p:cNvSpPr txBox="1"/>
          <p:nvPr/>
        </p:nvSpPr>
        <p:spPr>
          <a:xfrm>
            <a:off x="6012999" y="2488875"/>
            <a:ext cx="196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電話番号/メールで新規登録</a:t>
            </a:r>
            <a:b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or 既存TikTokアカウントで</a:t>
            </a:r>
            <a:b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1100"/>
          </a:p>
        </p:txBody>
      </p:sp>
      <p:sp>
        <p:nvSpPr>
          <p:cNvPr id="222" name="Google Shape;222;p29"/>
          <p:cNvSpPr/>
          <p:nvPr/>
        </p:nvSpPr>
        <p:spPr>
          <a:xfrm>
            <a:off x="1714546" y="3566160"/>
            <a:ext cx="5692292" cy="48006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1851709" y="3600450"/>
            <a:ext cx="54179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URL: https://seller-jp.tiktok.com/</a:t>
            </a:r>
            <a:endParaRPr sz="1100"/>
          </a:p>
        </p:txBody>
      </p:sp>
      <p:sp>
        <p:nvSpPr>
          <p:cNvPr id="224" name="Google Shape;224;p29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 / 14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sz="1100"/>
          </a:p>
        </p:txBody>
      </p:sp>
      <p:sp>
        <p:nvSpPr>
          <p:cNvPr id="232" name="Google Shape;232;p30"/>
          <p:cNvSpPr txBox="1"/>
          <p:nvPr/>
        </p:nvSpPr>
        <p:spPr>
          <a:xfrm>
            <a:off x="1920291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ビジネスタイプ選択</a:t>
            </a:r>
            <a:endParaRPr sz="1100"/>
          </a:p>
        </p:txBody>
      </p:sp>
      <p:sp>
        <p:nvSpPr>
          <p:cNvPr id="233" name="Google Shape;233;p30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1028727" y="1028700"/>
            <a:ext cx="7063928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1234473" y="1131570"/>
            <a:ext cx="411491" cy="411480"/>
          </a:xfrm>
          <a:prstGeom prst="ellipse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100"/>
          </a:p>
        </p:txBody>
      </p:sp>
      <p:sp>
        <p:nvSpPr>
          <p:cNvPr id="236" name="Google Shape;236;p30"/>
          <p:cNvSpPr txBox="1"/>
          <p:nvPr/>
        </p:nvSpPr>
        <p:spPr>
          <a:xfrm>
            <a:off x="1851709" y="1131570"/>
            <a:ext cx="58294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「販売を開始」をクリック</a:t>
            </a:r>
            <a:endParaRPr sz="1100"/>
          </a:p>
        </p:txBody>
      </p:sp>
      <p:sp>
        <p:nvSpPr>
          <p:cNvPr id="237" name="Google Shape;237;p30"/>
          <p:cNvSpPr/>
          <p:nvPr/>
        </p:nvSpPr>
        <p:spPr>
          <a:xfrm>
            <a:off x="1028727" y="1851660"/>
            <a:ext cx="7063928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1234473" y="1954530"/>
            <a:ext cx="411491" cy="411480"/>
          </a:xfrm>
          <a:prstGeom prst="ellipse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100"/>
          </a:p>
        </p:txBody>
      </p:sp>
      <p:sp>
        <p:nvSpPr>
          <p:cNvPr id="239" name="Google Shape;239;p30"/>
          <p:cNvSpPr txBox="1"/>
          <p:nvPr/>
        </p:nvSpPr>
        <p:spPr>
          <a:xfrm>
            <a:off x="1851709" y="1954530"/>
            <a:ext cx="58294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「コーポレートセラー（法人）」を選択</a:t>
            </a:r>
            <a:endParaRPr sz="1100"/>
          </a:p>
        </p:txBody>
      </p:sp>
      <p:sp>
        <p:nvSpPr>
          <p:cNvPr id="240" name="Google Shape;240;p30"/>
          <p:cNvSpPr/>
          <p:nvPr/>
        </p:nvSpPr>
        <p:spPr>
          <a:xfrm>
            <a:off x="1028727" y="2674620"/>
            <a:ext cx="7063928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1234473" y="2777490"/>
            <a:ext cx="411491" cy="411480"/>
          </a:xfrm>
          <a:prstGeom prst="ellipse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100"/>
          </a:p>
        </p:txBody>
      </p:sp>
      <p:sp>
        <p:nvSpPr>
          <p:cNvPr id="242" name="Google Shape;242;p30"/>
          <p:cNvSpPr txBox="1"/>
          <p:nvPr/>
        </p:nvSpPr>
        <p:spPr>
          <a:xfrm>
            <a:off x="1851709" y="2777490"/>
            <a:ext cx="58294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「次へ」をクリック</a:t>
            </a:r>
            <a:endParaRPr sz="1100"/>
          </a:p>
        </p:txBody>
      </p:sp>
      <p:sp>
        <p:nvSpPr>
          <p:cNvPr id="243" name="Google Shape;243;p30"/>
          <p:cNvSpPr/>
          <p:nvPr/>
        </p:nvSpPr>
        <p:spPr>
          <a:xfrm>
            <a:off x="1714546" y="3429000"/>
            <a:ext cx="5692292" cy="822960"/>
          </a:xfrm>
          <a:prstGeom prst="roundRect">
            <a:avLst>
              <a:gd fmla="val 16667" name="adj"/>
            </a:avLst>
          </a:prstGeom>
          <a:solidFill>
            <a:srgbClr val="FFEBEE"/>
          </a:solidFill>
          <a:ln cap="flat" cmpd="sng" w="38100">
            <a:solidFill>
              <a:srgbClr val="FE2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1920291" y="3497580"/>
            <a:ext cx="52808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 sz="1100"/>
          </a:p>
        </p:txBody>
      </p:sp>
      <p:sp>
        <p:nvSpPr>
          <p:cNvPr id="245" name="Google Shape;245;p30"/>
          <p:cNvSpPr txBox="1"/>
          <p:nvPr/>
        </p:nvSpPr>
        <p:spPr>
          <a:xfrm>
            <a:off x="1920291" y="3806190"/>
            <a:ext cx="52808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  <a:t>必ず「コーポレートセラー（法人）」を選択してください!</a:t>
            </a:r>
            <a:br>
              <a:rPr b="0" i="0" lang="ja" sz="12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2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  <a:t>個人セラーを選ぶと後から変更できません。</a:t>
            </a:r>
            <a:endParaRPr sz="1100"/>
          </a:p>
        </p:txBody>
      </p:sp>
      <p:sp>
        <p:nvSpPr>
          <p:cNvPr id="246" name="Google Shape;246;p30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 / 14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sz="1100"/>
          </a:p>
        </p:txBody>
      </p:sp>
      <p:sp>
        <p:nvSpPr>
          <p:cNvPr id="254" name="Google Shape;254;p31"/>
          <p:cNvSpPr txBox="1"/>
          <p:nvPr/>
        </p:nvSpPr>
        <p:spPr>
          <a:xfrm>
            <a:off x="1920291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身分証明書の認証</a:t>
            </a:r>
            <a:endParaRPr sz="1100"/>
          </a:p>
        </p:txBody>
      </p:sp>
      <p:sp>
        <p:nvSpPr>
          <p:cNvPr id="255" name="Google Shape;255;p31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1028727" y="1028700"/>
            <a:ext cx="7063928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1234473" y="1097280"/>
            <a:ext cx="411491" cy="411480"/>
          </a:xfrm>
          <a:prstGeom prst="ellipse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100"/>
          </a:p>
        </p:txBody>
      </p:sp>
      <p:sp>
        <p:nvSpPr>
          <p:cNvPr id="258" name="Google Shape;258;p31"/>
          <p:cNvSpPr txBox="1"/>
          <p:nvPr/>
        </p:nvSpPr>
        <p:spPr>
          <a:xfrm>
            <a:off x="1851709" y="1097280"/>
            <a:ext cx="58294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代表者の身分証明書をアップロード</a:t>
            </a:r>
            <a:endParaRPr sz="1100"/>
          </a:p>
        </p:txBody>
      </p:sp>
      <p:sp>
        <p:nvSpPr>
          <p:cNvPr id="259" name="Google Shape;259;p31"/>
          <p:cNvSpPr/>
          <p:nvPr/>
        </p:nvSpPr>
        <p:spPr>
          <a:xfrm>
            <a:off x="1028727" y="1920240"/>
            <a:ext cx="7063928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/>
          <p:nvPr/>
        </p:nvSpPr>
        <p:spPr>
          <a:xfrm>
            <a:off x="1234473" y="1988820"/>
            <a:ext cx="411491" cy="411480"/>
          </a:xfrm>
          <a:prstGeom prst="ellipse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100"/>
          </a:p>
        </p:txBody>
      </p:sp>
      <p:sp>
        <p:nvSpPr>
          <p:cNvPr id="261" name="Google Shape;261;p31"/>
          <p:cNvSpPr txBox="1"/>
          <p:nvPr/>
        </p:nvSpPr>
        <p:spPr>
          <a:xfrm>
            <a:off x="1851709" y="1988820"/>
            <a:ext cx="58294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QRコードが表示されたら</a:t>
            </a:r>
            <a:br>
              <a:rPr b="0" i="0" lang="ja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→ スマホで読み取って実物をリアルタイム撮影</a:t>
            </a:r>
            <a:endParaRPr sz="1100"/>
          </a:p>
        </p:txBody>
      </p:sp>
      <p:sp>
        <p:nvSpPr>
          <p:cNvPr id="262" name="Google Shape;262;p31"/>
          <p:cNvSpPr/>
          <p:nvPr/>
        </p:nvSpPr>
        <p:spPr>
          <a:xfrm>
            <a:off x="1028727" y="2811779"/>
            <a:ext cx="7063928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1"/>
          <p:cNvSpPr/>
          <p:nvPr/>
        </p:nvSpPr>
        <p:spPr>
          <a:xfrm>
            <a:off x="1234473" y="2880359"/>
            <a:ext cx="411491" cy="411480"/>
          </a:xfrm>
          <a:prstGeom prst="ellipse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100"/>
          </a:p>
        </p:txBody>
      </p:sp>
      <p:sp>
        <p:nvSpPr>
          <p:cNvPr id="264" name="Google Shape;264;p31"/>
          <p:cNvSpPr txBox="1"/>
          <p:nvPr/>
        </p:nvSpPr>
        <p:spPr>
          <a:xfrm>
            <a:off x="1851709" y="2880359"/>
            <a:ext cx="58294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認証完了まで待つ</a:t>
            </a:r>
            <a:endParaRPr sz="1100"/>
          </a:p>
        </p:txBody>
      </p:sp>
      <p:sp>
        <p:nvSpPr>
          <p:cNvPr id="265" name="Google Shape;265;p31"/>
          <p:cNvSpPr/>
          <p:nvPr/>
        </p:nvSpPr>
        <p:spPr>
          <a:xfrm>
            <a:off x="1028727" y="3634740"/>
            <a:ext cx="7063928" cy="48006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254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1165891" y="3703320"/>
            <a:ext cx="67896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0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画像は鮮明に撮影してください。ぼやけていると再提出になります。</a:t>
            </a:r>
            <a:endParaRPr sz="1100"/>
          </a:p>
        </p:txBody>
      </p:sp>
      <p:sp>
        <p:nvSpPr>
          <p:cNvPr id="267" name="Google Shape;267;p31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1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 / 14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  <a:endParaRPr sz="1100"/>
          </a:p>
        </p:txBody>
      </p:sp>
      <p:sp>
        <p:nvSpPr>
          <p:cNvPr id="275" name="Google Shape;275;p32"/>
          <p:cNvSpPr txBox="1"/>
          <p:nvPr/>
        </p:nvSpPr>
        <p:spPr>
          <a:xfrm>
            <a:off x="1920291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法人情報の入力</a:t>
            </a:r>
            <a:endParaRPr sz="1100"/>
          </a:p>
        </p:txBody>
      </p:sp>
      <p:sp>
        <p:nvSpPr>
          <p:cNvPr id="276" name="Google Shape;276;p32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A55E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548655" y="891540"/>
            <a:ext cx="3772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A55EEA"/>
                </a:solidFill>
                <a:latin typeface="Arial"/>
                <a:ea typeface="Arial"/>
                <a:cs typeface="Arial"/>
                <a:sym typeface="Arial"/>
              </a:rPr>
              <a:t>入力する情報</a:t>
            </a:r>
            <a:endParaRPr sz="1100"/>
          </a:p>
        </p:txBody>
      </p:sp>
      <p:sp>
        <p:nvSpPr>
          <p:cNvPr id="278" name="Google Shape;278;p32"/>
          <p:cNvSpPr/>
          <p:nvPr/>
        </p:nvSpPr>
        <p:spPr>
          <a:xfrm>
            <a:off x="548655" y="1268730"/>
            <a:ext cx="3772001" cy="240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2"/>
          <p:cNvSpPr txBox="1"/>
          <p:nvPr/>
        </p:nvSpPr>
        <p:spPr>
          <a:xfrm>
            <a:off x="754400" y="1337310"/>
            <a:ext cx="3429091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法人名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法人番号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事業所住所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担当者氏名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電話番号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郵便番号</a:t>
            </a:r>
            <a:endParaRPr sz="1100"/>
          </a:p>
        </p:txBody>
      </p:sp>
      <p:sp>
        <p:nvSpPr>
          <p:cNvPr id="280" name="Google Shape;280;p32"/>
          <p:cNvSpPr txBox="1"/>
          <p:nvPr/>
        </p:nvSpPr>
        <p:spPr>
          <a:xfrm>
            <a:off x="4800728" y="891540"/>
            <a:ext cx="3772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A55EEA"/>
                </a:solidFill>
                <a:latin typeface="Arial"/>
                <a:ea typeface="Arial"/>
                <a:cs typeface="Arial"/>
                <a:sym typeface="Arial"/>
              </a:rPr>
              <a:t>アップロードする書類</a:t>
            </a:r>
            <a:endParaRPr sz="1100"/>
          </a:p>
        </p:txBody>
      </p:sp>
      <p:sp>
        <p:nvSpPr>
          <p:cNvPr id="281" name="Google Shape;281;p32"/>
          <p:cNvSpPr/>
          <p:nvPr/>
        </p:nvSpPr>
        <p:spPr>
          <a:xfrm>
            <a:off x="4800728" y="1268730"/>
            <a:ext cx="3772001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A5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5006473" y="1371600"/>
            <a:ext cx="33605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A55EEA"/>
                </a:solidFill>
                <a:latin typeface="Arial"/>
                <a:ea typeface="Arial"/>
                <a:cs typeface="Arial"/>
                <a:sym typeface="Arial"/>
              </a:rPr>
              <a:t>履歴事項全部証明書</a:t>
            </a:r>
            <a:endParaRPr sz="1100"/>
          </a:p>
        </p:txBody>
      </p:sp>
      <p:sp>
        <p:nvSpPr>
          <p:cNvPr id="283" name="Google Shape;283;p32"/>
          <p:cNvSpPr txBox="1"/>
          <p:nvPr/>
        </p:nvSpPr>
        <p:spPr>
          <a:xfrm>
            <a:off x="5006473" y="1680210"/>
            <a:ext cx="33605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登記簿謄本の画像</a:t>
            </a:r>
            <a:endParaRPr sz="1100"/>
          </a:p>
        </p:txBody>
      </p:sp>
      <p:sp>
        <p:nvSpPr>
          <p:cNvPr id="284" name="Google Shape;284;p32"/>
          <p:cNvSpPr/>
          <p:nvPr/>
        </p:nvSpPr>
        <p:spPr>
          <a:xfrm>
            <a:off x="4800728" y="2297430"/>
            <a:ext cx="3772001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A5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5006473" y="2400300"/>
            <a:ext cx="33605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A55EEA"/>
                </a:solidFill>
                <a:latin typeface="Arial"/>
                <a:ea typeface="Arial"/>
                <a:cs typeface="Arial"/>
                <a:sym typeface="Arial"/>
              </a:rPr>
              <a:t>会社情報証明書</a:t>
            </a:r>
            <a:endParaRPr sz="1100"/>
          </a:p>
        </p:txBody>
      </p:sp>
      <p:sp>
        <p:nvSpPr>
          <p:cNvPr id="286" name="Google Shape;286;p32"/>
          <p:cNvSpPr txBox="1"/>
          <p:nvPr/>
        </p:nvSpPr>
        <p:spPr>
          <a:xfrm>
            <a:off x="5006473" y="2708910"/>
            <a:ext cx="33605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公共料金請求書等の画像</a:t>
            </a:r>
            <a:endParaRPr sz="1100"/>
          </a:p>
        </p:txBody>
      </p:sp>
      <p:sp>
        <p:nvSpPr>
          <p:cNvPr id="287" name="Google Shape;287;p32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2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 / 14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6</a:t>
            </a:r>
            <a:endParaRPr sz="1100"/>
          </a:p>
        </p:txBody>
      </p:sp>
      <p:sp>
        <p:nvSpPr>
          <p:cNvPr id="295" name="Google Shape;295;p33"/>
          <p:cNvSpPr txBox="1"/>
          <p:nvPr/>
        </p:nvSpPr>
        <p:spPr>
          <a:xfrm>
            <a:off x="1920291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ショップ情報の入力</a:t>
            </a:r>
            <a:endParaRPr sz="1100"/>
          </a:p>
        </p:txBody>
      </p:sp>
      <p:sp>
        <p:nvSpPr>
          <p:cNvPr id="296" name="Google Shape;296;p33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548655" y="1028700"/>
            <a:ext cx="2468946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FE2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754400" y="1234440"/>
            <a:ext cx="20574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27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🏪</a:t>
            </a:r>
            <a:endParaRPr sz="1100"/>
          </a:p>
        </p:txBody>
      </p:sp>
      <p:sp>
        <p:nvSpPr>
          <p:cNvPr id="299" name="Google Shape;299;p33"/>
          <p:cNvSpPr txBox="1"/>
          <p:nvPr/>
        </p:nvSpPr>
        <p:spPr>
          <a:xfrm>
            <a:off x="754400" y="1783080"/>
            <a:ext cx="20574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  <a:t>ショップ名</a:t>
            </a:r>
            <a:endParaRPr sz="1100"/>
          </a:p>
        </p:txBody>
      </p:sp>
      <p:sp>
        <p:nvSpPr>
          <p:cNvPr id="300" name="Google Shape;300;p33"/>
          <p:cNvSpPr txBox="1"/>
          <p:nvPr/>
        </p:nvSpPr>
        <p:spPr>
          <a:xfrm>
            <a:off x="754400" y="2194560"/>
            <a:ext cx="20574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ブランド名がベスト</a:t>
            </a:r>
            <a:b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後から変更も可能</a:t>
            </a:r>
            <a:endParaRPr sz="1100"/>
          </a:p>
        </p:txBody>
      </p:sp>
      <p:sp>
        <p:nvSpPr>
          <p:cNvPr id="301" name="Google Shape;301;p33"/>
          <p:cNvSpPr/>
          <p:nvPr/>
        </p:nvSpPr>
        <p:spPr>
          <a:xfrm>
            <a:off x="3291928" y="1028700"/>
            <a:ext cx="2468946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FE2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3497673" y="1234440"/>
            <a:ext cx="20574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27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 sz="1100"/>
          </a:p>
        </p:txBody>
      </p:sp>
      <p:sp>
        <p:nvSpPr>
          <p:cNvPr id="303" name="Google Shape;303;p33"/>
          <p:cNvSpPr txBox="1"/>
          <p:nvPr/>
        </p:nvSpPr>
        <p:spPr>
          <a:xfrm>
            <a:off x="3497673" y="1783080"/>
            <a:ext cx="20574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  <a:t>倉庫/集荷先の住所</a:t>
            </a:r>
            <a:endParaRPr sz="1100"/>
          </a:p>
        </p:txBody>
      </p:sp>
      <p:sp>
        <p:nvSpPr>
          <p:cNvPr id="304" name="Google Shape;304;p33"/>
          <p:cNvSpPr txBox="1"/>
          <p:nvPr/>
        </p:nvSpPr>
        <p:spPr>
          <a:xfrm>
            <a:off x="3497673" y="2194560"/>
            <a:ext cx="20574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商品の発送元住所を</a:t>
            </a:r>
            <a:b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入力</a:t>
            </a:r>
            <a:endParaRPr sz="1100"/>
          </a:p>
        </p:txBody>
      </p:sp>
      <p:sp>
        <p:nvSpPr>
          <p:cNvPr id="305" name="Google Shape;305;p33"/>
          <p:cNvSpPr/>
          <p:nvPr/>
        </p:nvSpPr>
        <p:spPr>
          <a:xfrm>
            <a:off x="6035201" y="1028700"/>
            <a:ext cx="2468946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FE2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3"/>
          <p:cNvSpPr txBox="1"/>
          <p:nvPr/>
        </p:nvSpPr>
        <p:spPr>
          <a:xfrm>
            <a:off x="6240946" y="1234440"/>
            <a:ext cx="20574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27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🔃</a:t>
            </a:r>
            <a:endParaRPr sz="1100"/>
          </a:p>
        </p:txBody>
      </p:sp>
      <p:sp>
        <p:nvSpPr>
          <p:cNvPr id="307" name="Google Shape;307;p33"/>
          <p:cNvSpPr txBox="1"/>
          <p:nvPr/>
        </p:nvSpPr>
        <p:spPr>
          <a:xfrm>
            <a:off x="6240946" y="1783080"/>
            <a:ext cx="20574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  <a:t>返送先の住所</a:t>
            </a:r>
            <a:endParaRPr sz="1100"/>
          </a:p>
        </p:txBody>
      </p:sp>
      <p:sp>
        <p:nvSpPr>
          <p:cNvPr id="308" name="Google Shape;308;p33"/>
          <p:cNvSpPr txBox="1"/>
          <p:nvPr/>
        </p:nvSpPr>
        <p:spPr>
          <a:xfrm>
            <a:off x="6240946" y="2194560"/>
            <a:ext cx="2057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「返送先として設定」</a:t>
            </a:r>
            <a:endParaRPr b="0" i="0" sz="11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チェックで</a:t>
            </a:r>
            <a:b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集荷先と同じにできる</a:t>
            </a:r>
            <a:endParaRPr sz="1100"/>
          </a:p>
        </p:txBody>
      </p:sp>
      <p:sp>
        <p:nvSpPr>
          <p:cNvPr id="309" name="Google Shape;309;p33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8 / 14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4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7</a:t>
            </a:r>
            <a:endParaRPr sz="1100"/>
          </a:p>
        </p:txBody>
      </p:sp>
      <p:sp>
        <p:nvSpPr>
          <p:cNvPr id="317" name="Google Shape;317;p34"/>
          <p:cNvSpPr txBox="1"/>
          <p:nvPr/>
        </p:nvSpPr>
        <p:spPr>
          <a:xfrm>
            <a:off x="1920291" y="205740"/>
            <a:ext cx="5486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申請</a:t>
            </a:r>
            <a:endParaRPr sz="1100"/>
          </a:p>
        </p:txBody>
      </p:sp>
      <p:sp>
        <p:nvSpPr>
          <p:cNvPr id="318" name="Google Shape;318;p34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1371637" y="1028700"/>
            <a:ext cx="63781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1577382" y="1110996"/>
            <a:ext cx="411491" cy="411480"/>
          </a:xfrm>
          <a:prstGeom prst="ellipse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100"/>
          </a:p>
        </p:txBody>
      </p:sp>
      <p:sp>
        <p:nvSpPr>
          <p:cNvPr id="321" name="Google Shape;321;p34"/>
          <p:cNvSpPr txBox="1"/>
          <p:nvPr/>
        </p:nvSpPr>
        <p:spPr>
          <a:xfrm>
            <a:off x="2194619" y="1131570"/>
            <a:ext cx="5143637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入力内容を最終確認</a:t>
            </a:r>
            <a:endParaRPr sz="1100"/>
          </a:p>
        </p:txBody>
      </p:sp>
      <p:sp>
        <p:nvSpPr>
          <p:cNvPr id="322" name="Google Shape;322;p34"/>
          <p:cNvSpPr/>
          <p:nvPr/>
        </p:nvSpPr>
        <p:spPr>
          <a:xfrm>
            <a:off x="1371637" y="1783080"/>
            <a:ext cx="63781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1577382" y="1865376"/>
            <a:ext cx="411491" cy="411480"/>
          </a:xfrm>
          <a:prstGeom prst="ellipse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100"/>
          </a:p>
        </p:txBody>
      </p:sp>
      <p:sp>
        <p:nvSpPr>
          <p:cNvPr id="324" name="Google Shape;324;p34"/>
          <p:cNvSpPr txBox="1"/>
          <p:nvPr/>
        </p:nvSpPr>
        <p:spPr>
          <a:xfrm>
            <a:off x="2194619" y="1885950"/>
            <a:ext cx="5143637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利用規約に同意</a:t>
            </a:r>
            <a:endParaRPr sz="1100"/>
          </a:p>
        </p:txBody>
      </p:sp>
      <p:sp>
        <p:nvSpPr>
          <p:cNvPr id="325" name="Google Shape;325;p34"/>
          <p:cNvSpPr/>
          <p:nvPr/>
        </p:nvSpPr>
        <p:spPr>
          <a:xfrm>
            <a:off x="1371637" y="2537460"/>
            <a:ext cx="63781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4"/>
          <p:cNvSpPr/>
          <p:nvPr/>
        </p:nvSpPr>
        <p:spPr>
          <a:xfrm>
            <a:off x="1577382" y="2619756"/>
            <a:ext cx="411491" cy="411480"/>
          </a:xfrm>
          <a:prstGeom prst="ellipse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100"/>
          </a:p>
        </p:txBody>
      </p:sp>
      <p:sp>
        <p:nvSpPr>
          <p:cNvPr id="327" name="Google Shape;327;p34"/>
          <p:cNvSpPr txBox="1"/>
          <p:nvPr/>
        </p:nvSpPr>
        <p:spPr>
          <a:xfrm>
            <a:off x="2194619" y="2640330"/>
            <a:ext cx="5143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「送信」クリック → 申請完了</a:t>
            </a:r>
            <a:endParaRPr sz="1100"/>
          </a:p>
        </p:txBody>
      </p:sp>
      <p:sp>
        <p:nvSpPr>
          <p:cNvPr id="328" name="Google Shape;328;p34"/>
          <p:cNvSpPr/>
          <p:nvPr/>
        </p:nvSpPr>
        <p:spPr>
          <a:xfrm>
            <a:off x="1371637" y="3291840"/>
            <a:ext cx="63781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4"/>
          <p:cNvSpPr/>
          <p:nvPr/>
        </p:nvSpPr>
        <p:spPr>
          <a:xfrm>
            <a:off x="1577382" y="3374136"/>
            <a:ext cx="411491" cy="411480"/>
          </a:xfrm>
          <a:prstGeom prst="ellipse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100"/>
          </a:p>
        </p:txBody>
      </p:sp>
      <p:sp>
        <p:nvSpPr>
          <p:cNvPr id="330" name="Google Shape;330;p34"/>
          <p:cNvSpPr txBox="1"/>
          <p:nvPr/>
        </p:nvSpPr>
        <p:spPr>
          <a:xfrm>
            <a:off x="2194619" y="3394710"/>
            <a:ext cx="5143637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審査結果を待つ（1〜5営業日、メールで通知）</a:t>
            </a:r>
            <a:endParaRPr sz="1100"/>
          </a:p>
        </p:txBody>
      </p:sp>
      <p:sp>
        <p:nvSpPr>
          <p:cNvPr id="331" name="Google Shape;331;p34"/>
          <p:cNvSpPr/>
          <p:nvPr/>
        </p:nvSpPr>
        <p:spPr>
          <a:xfrm>
            <a:off x="2411676" y="3969030"/>
            <a:ext cx="4320600" cy="548700"/>
          </a:xfrm>
          <a:prstGeom prst="roundRect">
            <a:avLst>
              <a:gd fmla="val 16667" name="adj"/>
            </a:avLst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申請が完了したら、審査結果のメールを待ちましょう!</a:t>
            </a:r>
            <a:endParaRPr sz="1100"/>
          </a:p>
        </p:txBody>
      </p:sp>
      <p:sp>
        <p:nvSpPr>
          <p:cNvPr id="332" name="Google Shape;332;p34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4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 / 14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5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8</a:t>
            </a:r>
            <a:endParaRPr sz="1100"/>
          </a:p>
        </p:txBody>
      </p:sp>
      <p:sp>
        <p:nvSpPr>
          <p:cNvPr id="340" name="Google Shape;340;p35"/>
          <p:cNvSpPr txBox="1"/>
          <p:nvPr/>
        </p:nvSpPr>
        <p:spPr>
          <a:xfrm>
            <a:off x="1920291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銀行口座の連携（審査通過後）</a:t>
            </a:r>
            <a:endParaRPr sz="1100"/>
          </a:p>
        </p:txBody>
      </p:sp>
      <p:sp>
        <p:nvSpPr>
          <p:cNvPr id="341" name="Google Shape;341;p35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5"/>
          <p:cNvSpPr txBox="1"/>
          <p:nvPr/>
        </p:nvSpPr>
        <p:spPr>
          <a:xfrm>
            <a:off x="548655" y="89154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25D366"/>
                </a:solidFill>
                <a:latin typeface="Arial"/>
                <a:ea typeface="Arial"/>
                <a:cs typeface="Arial"/>
                <a:sym typeface="Arial"/>
              </a:rPr>
              <a:t>操作手順</a:t>
            </a:r>
            <a:endParaRPr sz="1100"/>
          </a:p>
        </p:txBody>
      </p:sp>
      <p:sp>
        <p:nvSpPr>
          <p:cNvPr id="343" name="Google Shape;343;p35"/>
          <p:cNvSpPr/>
          <p:nvPr/>
        </p:nvSpPr>
        <p:spPr>
          <a:xfrm>
            <a:off x="548655" y="1268730"/>
            <a:ext cx="3772001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754400" y="1337310"/>
            <a:ext cx="3429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Seller Center → 「銀行口座の連携」</a:t>
            </a:r>
            <a:endParaRPr b="1" i="0" sz="12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→ 「アカウントの連携」</a:t>
            </a:r>
            <a:endParaRPr sz="1100"/>
          </a:p>
        </p:txBody>
      </p:sp>
      <p:sp>
        <p:nvSpPr>
          <p:cNvPr id="345" name="Google Shape;345;p35"/>
          <p:cNvSpPr txBox="1"/>
          <p:nvPr/>
        </p:nvSpPr>
        <p:spPr>
          <a:xfrm>
            <a:off x="548655" y="212598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25D366"/>
                </a:solidFill>
                <a:latin typeface="Arial"/>
                <a:ea typeface="Arial"/>
                <a:cs typeface="Arial"/>
                <a:sym typeface="Arial"/>
              </a:rPr>
              <a:t>入力する情報</a:t>
            </a:r>
            <a:endParaRPr sz="1100"/>
          </a:p>
        </p:txBody>
      </p:sp>
      <p:sp>
        <p:nvSpPr>
          <p:cNvPr id="346" name="Google Shape;346;p35"/>
          <p:cNvSpPr/>
          <p:nvPr/>
        </p:nvSpPr>
        <p:spPr>
          <a:xfrm>
            <a:off x="548655" y="2468880"/>
            <a:ext cx="3772001" cy="17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5"/>
          <p:cNvSpPr txBox="1"/>
          <p:nvPr/>
        </p:nvSpPr>
        <p:spPr>
          <a:xfrm>
            <a:off x="754400" y="2537460"/>
            <a:ext cx="34290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アカウント名（= 会社名）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銀行名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口座番号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メールアドレス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▶  住所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ja" sz="1100" u="none" cap="none" strike="noStrike">
                <a:solidFill>
                  <a:srgbClr val="25D366"/>
                </a:solidFill>
                <a:latin typeface="Arial"/>
                <a:ea typeface="Arial"/>
                <a:cs typeface="Arial"/>
                <a:sym typeface="Arial"/>
              </a:rPr>
              <a:t>→ 入力完了後「送信」をクリック</a:t>
            </a:r>
            <a:endParaRPr sz="1100"/>
          </a:p>
        </p:txBody>
      </p:sp>
      <p:sp>
        <p:nvSpPr>
          <p:cNvPr id="348" name="Google Shape;348;p35"/>
          <p:cNvSpPr/>
          <p:nvPr/>
        </p:nvSpPr>
        <p:spPr>
          <a:xfrm>
            <a:off x="4800728" y="1268730"/>
            <a:ext cx="3772001" cy="1714500"/>
          </a:xfrm>
          <a:prstGeom prst="roundRect">
            <a:avLst>
              <a:gd fmla="val 16667" name="adj"/>
            </a:avLst>
          </a:prstGeom>
          <a:solidFill>
            <a:srgbClr val="FFF8E1"/>
          </a:solidFill>
          <a:ln cap="flat" cmpd="sng" w="381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5"/>
          <p:cNvSpPr txBox="1"/>
          <p:nvPr/>
        </p:nvSpPr>
        <p:spPr>
          <a:xfrm>
            <a:off x="5006473" y="1371600"/>
            <a:ext cx="33605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700" u="none" cap="none" strike="noStrike">
                <a:solidFill>
                  <a:srgbClr val="FF9F43"/>
                </a:solidFill>
                <a:latin typeface="Arial"/>
                <a:ea typeface="Arial"/>
                <a:cs typeface="Arial"/>
                <a:sym typeface="Arial"/>
              </a:rPr>
              <a:t>注意</a:t>
            </a:r>
            <a:endParaRPr sz="1100"/>
          </a:p>
        </p:txBody>
      </p:sp>
      <p:sp>
        <p:nvSpPr>
          <p:cNvPr id="350" name="Google Shape;350;p35"/>
          <p:cNvSpPr txBox="1"/>
          <p:nvPr/>
        </p:nvSpPr>
        <p:spPr>
          <a:xfrm>
            <a:off x="5006473" y="1783080"/>
            <a:ext cx="336051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  <a:t>口座名義と登記上の会社名が</a:t>
            </a:r>
            <a:br>
              <a:rPr b="0" i="0" lang="ja" sz="12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2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  <a:t>完全に一致している必要があります!</a:t>
            </a:r>
            <a:br>
              <a:rPr b="0" i="0" lang="ja" sz="12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ja" sz="12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2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  <a:t>不一致の場合、口座連携が</a:t>
            </a:r>
            <a:br>
              <a:rPr b="0" i="0" lang="ja" sz="12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200" u="none" cap="none" strike="noStrike">
                <a:solidFill>
                  <a:srgbClr val="8B6E00"/>
                </a:solidFill>
                <a:latin typeface="Arial"/>
                <a:ea typeface="Arial"/>
                <a:cs typeface="Arial"/>
                <a:sym typeface="Arial"/>
              </a:rPr>
              <a:t>拒否されます。</a:t>
            </a:r>
            <a:endParaRPr sz="1100"/>
          </a:p>
        </p:txBody>
      </p:sp>
      <p:sp>
        <p:nvSpPr>
          <p:cNvPr id="351" name="Google Shape;351;p35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5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 / 14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9</a:t>
            </a:r>
            <a:endParaRPr sz="1100"/>
          </a:p>
        </p:txBody>
      </p:sp>
      <p:sp>
        <p:nvSpPr>
          <p:cNvPr id="359" name="Google Shape;359;p36"/>
          <p:cNvSpPr txBox="1"/>
          <p:nvPr/>
        </p:nvSpPr>
        <p:spPr>
          <a:xfrm>
            <a:off x="1920291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商品登録</a:t>
            </a:r>
            <a:endParaRPr sz="1100"/>
          </a:p>
        </p:txBody>
      </p:sp>
      <p:sp>
        <p:nvSpPr>
          <p:cNvPr id="360" name="Google Shape;360;p36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548655" y="89154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25D366"/>
                </a:solidFill>
                <a:latin typeface="Arial"/>
                <a:ea typeface="Arial"/>
                <a:cs typeface="Arial"/>
                <a:sym typeface="Arial"/>
              </a:rPr>
              <a:t>「最初の商品を追加」をクリック</a:t>
            </a:r>
            <a:endParaRPr sz="1100"/>
          </a:p>
        </p:txBody>
      </p:sp>
      <p:sp>
        <p:nvSpPr>
          <p:cNvPr id="362" name="Google Shape;362;p36"/>
          <p:cNvSpPr/>
          <p:nvPr/>
        </p:nvSpPr>
        <p:spPr>
          <a:xfrm>
            <a:off x="548655" y="1371600"/>
            <a:ext cx="1851709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685818" y="1474470"/>
            <a:ext cx="3429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📝</a:t>
            </a:r>
            <a:endParaRPr sz="1100"/>
          </a:p>
        </p:txBody>
      </p:sp>
      <p:sp>
        <p:nvSpPr>
          <p:cNvPr id="364" name="Google Shape;364;p36"/>
          <p:cNvSpPr txBox="1"/>
          <p:nvPr/>
        </p:nvSpPr>
        <p:spPr>
          <a:xfrm>
            <a:off x="1028727" y="1543050"/>
            <a:ext cx="12344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商品名</a:t>
            </a:r>
            <a:endParaRPr sz="1100"/>
          </a:p>
        </p:txBody>
      </p:sp>
      <p:sp>
        <p:nvSpPr>
          <p:cNvPr id="365" name="Google Shape;365;p36"/>
          <p:cNvSpPr/>
          <p:nvPr/>
        </p:nvSpPr>
        <p:spPr>
          <a:xfrm>
            <a:off x="2674691" y="1371600"/>
            <a:ext cx="1851709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2811855" y="1474470"/>
            <a:ext cx="3429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📄</a:t>
            </a:r>
            <a:endParaRPr sz="1100"/>
          </a:p>
        </p:txBody>
      </p:sp>
      <p:sp>
        <p:nvSpPr>
          <p:cNvPr id="367" name="Google Shape;367;p36"/>
          <p:cNvSpPr txBox="1"/>
          <p:nvPr/>
        </p:nvSpPr>
        <p:spPr>
          <a:xfrm>
            <a:off x="3154764" y="1543050"/>
            <a:ext cx="12344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商品説明</a:t>
            </a:r>
            <a:endParaRPr sz="1100"/>
          </a:p>
        </p:txBody>
      </p:sp>
      <p:sp>
        <p:nvSpPr>
          <p:cNvPr id="368" name="Google Shape;368;p36"/>
          <p:cNvSpPr/>
          <p:nvPr/>
        </p:nvSpPr>
        <p:spPr>
          <a:xfrm>
            <a:off x="4800728" y="1371600"/>
            <a:ext cx="1851709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6"/>
          <p:cNvSpPr txBox="1"/>
          <p:nvPr/>
        </p:nvSpPr>
        <p:spPr>
          <a:xfrm>
            <a:off x="4937892" y="1474470"/>
            <a:ext cx="3429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💰</a:t>
            </a:r>
            <a:endParaRPr sz="1100"/>
          </a:p>
        </p:txBody>
      </p:sp>
      <p:sp>
        <p:nvSpPr>
          <p:cNvPr id="370" name="Google Shape;370;p36"/>
          <p:cNvSpPr txBox="1"/>
          <p:nvPr/>
        </p:nvSpPr>
        <p:spPr>
          <a:xfrm>
            <a:off x="5280801" y="1543050"/>
            <a:ext cx="12344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価格</a:t>
            </a:r>
            <a:endParaRPr sz="1100"/>
          </a:p>
        </p:txBody>
      </p:sp>
      <p:sp>
        <p:nvSpPr>
          <p:cNvPr id="371" name="Google Shape;371;p36"/>
          <p:cNvSpPr/>
          <p:nvPr/>
        </p:nvSpPr>
        <p:spPr>
          <a:xfrm>
            <a:off x="6926765" y="1371600"/>
            <a:ext cx="1851709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7063928" y="1474470"/>
            <a:ext cx="3429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 sz="1100"/>
          </a:p>
        </p:txBody>
      </p:sp>
      <p:sp>
        <p:nvSpPr>
          <p:cNvPr id="373" name="Google Shape;373;p36"/>
          <p:cNvSpPr txBox="1"/>
          <p:nvPr/>
        </p:nvSpPr>
        <p:spPr>
          <a:xfrm>
            <a:off x="7406837" y="1543050"/>
            <a:ext cx="12344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在庫数</a:t>
            </a:r>
            <a:endParaRPr sz="1100"/>
          </a:p>
        </p:txBody>
      </p:sp>
      <p:sp>
        <p:nvSpPr>
          <p:cNvPr id="374" name="Google Shape;374;p36"/>
          <p:cNvSpPr/>
          <p:nvPr/>
        </p:nvSpPr>
        <p:spPr>
          <a:xfrm>
            <a:off x="548655" y="2331720"/>
            <a:ext cx="1851709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6"/>
          <p:cNvSpPr txBox="1"/>
          <p:nvPr/>
        </p:nvSpPr>
        <p:spPr>
          <a:xfrm>
            <a:off x="685818" y="2434590"/>
            <a:ext cx="3429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🏷</a:t>
            </a:r>
            <a:endParaRPr sz="1100"/>
          </a:p>
        </p:txBody>
      </p:sp>
      <p:sp>
        <p:nvSpPr>
          <p:cNvPr id="376" name="Google Shape;376;p36"/>
          <p:cNvSpPr txBox="1"/>
          <p:nvPr/>
        </p:nvSpPr>
        <p:spPr>
          <a:xfrm>
            <a:off x="1028727" y="2503170"/>
            <a:ext cx="12344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SKU</a:t>
            </a:r>
            <a:endParaRPr sz="1100"/>
          </a:p>
        </p:txBody>
      </p:sp>
      <p:sp>
        <p:nvSpPr>
          <p:cNvPr id="377" name="Google Shape;377;p36"/>
          <p:cNvSpPr/>
          <p:nvPr/>
        </p:nvSpPr>
        <p:spPr>
          <a:xfrm>
            <a:off x="2674691" y="2331720"/>
            <a:ext cx="1851709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2811855" y="2434590"/>
            <a:ext cx="3429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🖼</a:t>
            </a:r>
            <a:endParaRPr sz="1100"/>
          </a:p>
        </p:txBody>
      </p:sp>
      <p:sp>
        <p:nvSpPr>
          <p:cNvPr id="379" name="Google Shape;379;p36"/>
          <p:cNvSpPr txBox="1"/>
          <p:nvPr/>
        </p:nvSpPr>
        <p:spPr>
          <a:xfrm>
            <a:off x="3154764" y="2503170"/>
            <a:ext cx="12344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画像</a:t>
            </a:r>
            <a:endParaRPr sz="1100"/>
          </a:p>
        </p:txBody>
      </p:sp>
      <p:sp>
        <p:nvSpPr>
          <p:cNvPr id="380" name="Google Shape;380;p36"/>
          <p:cNvSpPr/>
          <p:nvPr/>
        </p:nvSpPr>
        <p:spPr>
          <a:xfrm>
            <a:off x="4800728" y="2331720"/>
            <a:ext cx="1851709" cy="7543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4937892" y="2434590"/>
            <a:ext cx="3429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🎬</a:t>
            </a:r>
            <a:endParaRPr sz="1100"/>
          </a:p>
        </p:txBody>
      </p:sp>
      <p:sp>
        <p:nvSpPr>
          <p:cNvPr id="382" name="Google Shape;382;p36"/>
          <p:cNvSpPr txBox="1"/>
          <p:nvPr/>
        </p:nvSpPr>
        <p:spPr>
          <a:xfrm>
            <a:off x="5280801" y="2503170"/>
            <a:ext cx="12344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動画</a:t>
            </a:r>
            <a:endParaRPr sz="1100"/>
          </a:p>
        </p:txBody>
      </p:sp>
      <p:sp>
        <p:nvSpPr>
          <p:cNvPr id="383" name="Google Shape;383;p36"/>
          <p:cNvSpPr txBox="1"/>
          <p:nvPr/>
        </p:nvSpPr>
        <p:spPr>
          <a:xfrm>
            <a:off x="548655" y="3360420"/>
            <a:ext cx="802407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* 商品ごとにTikTok側で審査があります</a:t>
            </a:r>
            <a:endParaRPr sz="1100"/>
          </a:p>
        </p:txBody>
      </p:sp>
      <p:sp>
        <p:nvSpPr>
          <p:cNvPr id="384" name="Google Shape;384;p36"/>
          <p:cNvSpPr/>
          <p:nvPr/>
        </p:nvSpPr>
        <p:spPr>
          <a:xfrm>
            <a:off x="1028727" y="3771900"/>
            <a:ext cx="7063928" cy="822960"/>
          </a:xfrm>
          <a:prstGeom prst="roundRect">
            <a:avLst>
              <a:gd fmla="val 16667" name="adj"/>
            </a:avLst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6"/>
          <p:cNvSpPr txBox="1"/>
          <p:nvPr/>
        </p:nvSpPr>
        <p:spPr>
          <a:xfrm>
            <a:off x="1234473" y="3840480"/>
            <a:ext cx="6652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45日以内に3商品登録すると90日間手数料3%に!</a:t>
            </a:r>
            <a:endParaRPr sz="1100"/>
          </a:p>
        </p:txBody>
      </p:sp>
      <p:sp>
        <p:nvSpPr>
          <p:cNvPr id="386" name="Google Shape;386;p36"/>
          <p:cNvSpPr txBox="1"/>
          <p:nvPr/>
        </p:nvSpPr>
        <p:spPr>
          <a:xfrm>
            <a:off x="1234473" y="4183380"/>
            <a:ext cx="66524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FFCCCC"/>
                </a:solidFill>
                <a:latin typeface="Arial"/>
                <a:ea typeface="Arial"/>
                <a:cs typeface="Arial"/>
                <a:sym typeface="Arial"/>
              </a:rPr>
              <a:t>早めに3つは登録しましょう!</a:t>
            </a:r>
            <a:endParaRPr sz="1100"/>
          </a:p>
        </p:txBody>
      </p:sp>
      <p:sp>
        <p:nvSpPr>
          <p:cNvPr id="387" name="Google Shape;387;p36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6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11 / 14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548655" y="240030"/>
            <a:ext cx="1234473" cy="342900"/>
          </a:xfrm>
          <a:prstGeom prst="roundRect">
            <a:avLst>
              <a:gd fmla="val 16667" name="adj"/>
            </a:avLst>
          </a:prstGeom>
          <a:solidFill>
            <a:srgbClr val="FF9F4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10</a:t>
            </a:r>
            <a:endParaRPr sz="1100"/>
          </a:p>
        </p:txBody>
      </p:sp>
      <p:sp>
        <p:nvSpPr>
          <p:cNvPr id="395" name="Google Shape;395;p37"/>
          <p:cNvSpPr txBox="1"/>
          <p:nvPr/>
        </p:nvSpPr>
        <p:spPr>
          <a:xfrm>
            <a:off x="1920291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初期設定</a:t>
            </a:r>
            <a:endParaRPr sz="1100"/>
          </a:p>
        </p:txBody>
      </p:sp>
      <p:sp>
        <p:nvSpPr>
          <p:cNvPr id="396" name="Google Shape;396;p37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7"/>
          <p:cNvSpPr/>
          <p:nvPr/>
        </p:nvSpPr>
        <p:spPr>
          <a:xfrm>
            <a:off x="548655" y="1028700"/>
            <a:ext cx="2468946" cy="308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548655" y="1028700"/>
            <a:ext cx="2468946" cy="61722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685818" y="1097280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2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🚚</a:t>
            </a:r>
            <a:endParaRPr sz="1100"/>
          </a:p>
        </p:txBody>
      </p:sp>
      <p:sp>
        <p:nvSpPr>
          <p:cNvPr id="400" name="Google Shape;400;p37"/>
          <p:cNvSpPr txBox="1"/>
          <p:nvPr/>
        </p:nvSpPr>
        <p:spPr>
          <a:xfrm>
            <a:off x="1097309" y="1131570"/>
            <a:ext cx="17145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配送設定</a:t>
            </a:r>
            <a:endParaRPr sz="1100"/>
          </a:p>
        </p:txBody>
      </p:sp>
      <p:sp>
        <p:nvSpPr>
          <p:cNvPr id="401" name="Google Shape;401;p37"/>
          <p:cNvSpPr txBox="1"/>
          <p:nvPr/>
        </p:nvSpPr>
        <p:spPr>
          <a:xfrm>
            <a:off x="754400" y="1783080"/>
            <a:ext cx="205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発送元・返品先を登録</a:t>
            </a:r>
            <a:endParaRPr sz="12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受注から3営業日後の</a:t>
            </a:r>
            <a:b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23:59までに発送（必須）</a:t>
            </a:r>
            <a:endParaRPr sz="1200"/>
          </a:p>
        </p:txBody>
      </p:sp>
      <p:sp>
        <p:nvSpPr>
          <p:cNvPr id="402" name="Google Shape;402;p37"/>
          <p:cNvSpPr/>
          <p:nvPr/>
        </p:nvSpPr>
        <p:spPr>
          <a:xfrm>
            <a:off x="3291928" y="1028700"/>
            <a:ext cx="2468946" cy="308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7"/>
          <p:cNvSpPr/>
          <p:nvPr/>
        </p:nvSpPr>
        <p:spPr>
          <a:xfrm>
            <a:off x="3291928" y="1028700"/>
            <a:ext cx="2468946" cy="61722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7"/>
          <p:cNvSpPr txBox="1"/>
          <p:nvPr/>
        </p:nvSpPr>
        <p:spPr>
          <a:xfrm>
            <a:off x="3429091" y="1097280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2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🔔</a:t>
            </a:r>
            <a:endParaRPr sz="1100"/>
          </a:p>
        </p:txBody>
      </p:sp>
      <p:sp>
        <p:nvSpPr>
          <p:cNvPr id="405" name="Google Shape;405;p37"/>
          <p:cNvSpPr txBox="1"/>
          <p:nvPr/>
        </p:nvSpPr>
        <p:spPr>
          <a:xfrm>
            <a:off x="3840582" y="1131570"/>
            <a:ext cx="17145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通知設定</a:t>
            </a:r>
            <a:endParaRPr sz="1100"/>
          </a:p>
        </p:txBody>
      </p:sp>
      <p:sp>
        <p:nvSpPr>
          <p:cNvPr id="406" name="Google Shape;406;p37"/>
          <p:cNvSpPr txBox="1"/>
          <p:nvPr/>
        </p:nvSpPr>
        <p:spPr>
          <a:xfrm>
            <a:off x="3497673" y="1783080"/>
            <a:ext cx="205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メール・SMSをON</a:t>
            </a:r>
            <a:endParaRPr sz="12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TikTok Sellerアプリも</a:t>
            </a:r>
            <a:b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スマホにインストール</a:t>
            </a:r>
            <a:endParaRPr sz="1200"/>
          </a:p>
        </p:txBody>
      </p:sp>
      <p:sp>
        <p:nvSpPr>
          <p:cNvPr id="407" name="Google Shape;407;p37"/>
          <p:cNvSpPr/>
          <p:nvPr/>
        </p:nvSpPr>
        <p:spPr>
          <a:xfrm>
            <a:off x="6035201" y="1028700"/>
            <a:ext cx="2468946" cy="308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FE2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7"/>
          <p:cNvSpPr/>
          <p:nvPr/>
        </p:nvSpPr>
        <p:spPr>
          <a:xfrm>
            <a:off x="6035201" y="1028700"/>
            <a:ext cx="2468946" cy="617220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7"/>
          <p:cNvSpPr txBox="1"/>
          <p:nvPr/>
        </p:nvSpPr>
        <p:spPr>
          <a:xfrm>
            <a:off x="6172365" y="1097280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2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📨</a:t>
            </a:r>
            <a:endParaRPr sz="1100"/>
          </a:p>
        </p:txBody>
      </p:sp>
      <p:sp>
        <p:nvSpPr>
          <p:cNvPr id="410" name="Google Shape;410;p37"/>
          <p:cNvSpPr txBox="1"/>
          <p:nvPr/>
        </p:nvSpPr>
        <p:spPr>
          <a:xfrm>
            <a:off x="6583856" y="1131570"/>
            <a:ext cx="17145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返品対応</a:t>
            </a:r>
            <a:endParaRPr sz="1100"/>
          </a:p>
        </p:txBody>
      </p:sp>
      <p:sp>
        <p:nvSpPr>
          <p:cNvPr id="411" name="Google Shape;411;p37"/>
          <p:cNvSpPr txBox="1"/>
          <p:nvPr/>
        </p:nvSpPr>
        <p:spPr>
          <a:xfrm>
            <a:off x="6240946" y="1783080"/>
            <a:ext cx="205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リクエストには</a:t>
            </a:r>
            <a:b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ja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2営業日以内に返信が必要</a:t>
            </a:r>
            <a:endParaRPr sz="1200"/>
          </a:p>
        </p:txBody>
      </p:sp>
      <p:sp>
        <p:nvSpPr>
          <p:cNvPr id="412" name="Google Shape;412;p37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7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12 / 14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00F2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8"/>
          <p:cNvSpPr txBox="1"/>
          <p:nvPr/>
        </p:nvSpPr>
        <p:spPr>
          <a:xfrm>
            <a:off x="548655" y="205740"/>
            <a:ext cx="54865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開設チェックリスト</a:t>
            </a:r>
            <a:endParaRPr sz="1100"/>
          </a:p>
        </p:txBody>
      </p:sp>
      <p:sp>
        <p:nvSpPr>
          <p:cNvPr id="420" name="Google Shape;420;p38"/>
          <p:cNvSpPr/>
          <p:nvPr/>
        </p:nvSpPr>
        <p:spPr>
          <a:xfrm>
            <a:off x="548655" y="685800"/>
            <a:ext cx="8024074" cy="27432"/>
          </a:xfrm>
          <a:prstGeom prst="rect">
            <a:avLst/>
          </a:prstGeom>
          <a:solidFill>
            <a:srgbClr val="00F2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548655" y="891540"/>
            <a:ext cx="3977746" cy="36347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8"/>
          <p:cNvSpPr txBox="1"/>
          <p:nvPr/>
        </p:nvSpPr>
        <p:spPr>
          <a:xfrm>
            <a:off x="754400" y="960120"/>
            <a:ext cx="3634837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履歴事項全部証明書を取得（3ヶ月以内）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代表者の身分証明書を準備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会社情報証明書を準備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法人の銀行口座情報を確認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TikTokビジネスアカウントを準備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Seller Center でアカウント登録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コーポレートセラーを選択</a:t>
            </a:r>
            <a:endParaRPr sz="1100"/>
          </a:p>
        </p:txBody>
      </p:sp>
      <p:sp>
        <p:nvSpPr>
          <p:cNvPr id="423" name="Google Shape;423;p38"/>
          <p:cNvSpPr/>
          <p:nvPr/>
        </p:nvSpPr>
        <p:spPr>
          <a:xfrm>
            <a:off x="4732146" y="891540"/>
            <a:ext cx="3977746" cy="36347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 txBox="1"/>
          <p:nvPr/>
        </p:nvSpPr>
        <p:spPr>
          <a:xfrm>
            <a:off x="4937892" y="960120"/>
            <a:ext cx="3634837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身分証のカメラ認証完了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法人情報・書類をアップロード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ショップ名・住所を入力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申請を送信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審査通過後、銀行口座を連携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3商品を登録（手数料割引!）</a:t>
            </a:r>
            <a:endParaRPr sz="11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☐  配送・通知設定を完了</a:t>
            </a:r>
            <a:endParaRPr sz="1100"/>
          </a:p>
        </p:txBody>
      </p:sp>
      <p:sp>
        <p:nvSpPr>
          <p:cNvPr id="425" name="Google Shape;425;p38"/>
          <p:cNvSpPr/>
          <p:nvPr/>
        </p:nvSpPr>
        <p:spPr>
          <a:xfrm>
            <a:off x="342909" y="4766310"/>
            <a:ext cx="8458197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8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13 / 14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/>
          <p:nvPr/>
        </p:nvSpPr>
        <p:spPr>
          <a:xfrm>
            <a:off x="0" y="0"/>
            <a:ext cx="9144015" cy="41148"/>
          </a:xfrm>
          <a:prstGeom prst="rect">
            <a:avLst/>
          </a:prstGeom>
          <a:solidFill>
            <a:srgbClr val="00F2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9"/>
          <p:cNvSpPr/>
          <p:nvPr/>
        </p:nvSpPr>
        <p:spPr>
          <a:xfrm>
            <a:off x="0" y="41148"/>
            <a:ext cx="9144015" cy="41148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9"/>
          <p:cNvSpPr txBox="1"/>
          <p:nvPr/>
        </p:nvSpPr>
        <p:spPr>
          <a:xfrm>
            <a:off x="685818" y="822960"/>
            <a:ext cx="77497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まとめ</a:t>
            </a:r>
            <a:endParaRPr sz="1100"/>
          </a:p>
        </p:txBody>
      </p:sp>
      <p:sp>
        <p:nvSpPr>
          <p:cNvPr id="434" name="Google Shape;434;p39"/>
          <p:cNvSpPr/>
          <p:nvPr/>
        </p:nvSpPr>
        <p:spPr>
          <a:xfrm>
            <a:off x="548655" y="1577340"/>
            <a:ext cx="1851709" cy="1234440"/>
          </a:xfrm>
          <a:prstGeom prst="roundRect">
            <a:avLst>
              <a:gd fmla="val 16667" name="adj"/>
            </a:avLst>
          </a:prstGeom>
          <a:solidFill>
            <a:srgbClr val="25253A"/>
          </a:solidFill>
          <a:ln cap="flat" cmpd="sng" w="254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9"/>
          <p:cNvSpPr txBox="1"/>
          <p:nvPr/>
        </p:nvSpPr>
        <p:spPr>
          <a:xfrm>
            <a:off x="685818" y="1714500"/>
            <a:ext cx="1577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初期費用・月額</a:t>
            </a:r>
            <a:endParaRPr sz="1100"/>
          </a:p>
        </p:txBody>
      </p:sp>
      <p:sp>
        <p:nvSpPr>
          <p:cNvPr id="436" name="Google Shape;436;p39"/>
          <p:cNvSpPr txBox="1"/>
          <p:nvPr/>
        </p:nvSpPr>
        <p:spPr>
          <a:xfrm>
            <a:off x="685818" y="2057400"/>
            <a:ext cx="157738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25D366"/>
                </a:solidFill>
                <a:latin typeface="Arial"/>
                <a:ea typeface="Arial"/>
                <a:cs typeface="Arial"/>
                <a:sym typeface="Arial"/>
              </a:rPr>
              <a:t>無料</a:t>
            </a:r>
            <a:endParaRPr sz="1100"/>
          </a:p>
        </p:txBody>
      </p:sp>
      <p:sp>
        <p:nvSpPr>
          <p:cNvPr id="437" name="Google Shape;437;p39"/>
          <p:cNvSpPr/>
          <p:nvPr/>
        </p:nvSpPr>
        <p:spPr>
          <a:xfrm>
            <a:off x="2674691" y="1577340"/>
            <a:ext cx="1851709" cy="1234440"/>
          </a:xfrm>
          <a:prstGeom prst="roundRect">
            <a:avLst>
              <a:gd fmla="val 16667" name="adj"/>
            </a:avLst>
          </a:prstGeom>
          <a:solidFill>
            <a:srgbClr val="25253A"/>
          </a:solidFill>
          <a:ln cap="flat" cmpd="sng" w="25400">
            <a:solidFill>
              <a:srgbClr val="FE2C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9"/>
          <p:cNvSpPr txBox="1"/>
          <p:nvPr/>
        </p:nvSpPr>
        <p:spPr>
          <a:xfrm>
            <a:off x="2811855" y="1714500"/>
            <a:ext cx="1577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販売手数料</a:t>
            </a:r>
            <a:endParaRPr sz="1100"/>
          </a:p>
        </p:txBody>
      </p:sp>
      <p:sp>
        <p:nvSpPr>
          <p:cNvPr id="439" name="Google Shape;439;p39"/>
          <p:cNvSpPr txBox="1"/>
          <p:nvPr/>
        </p:nvSpPr>
        <p:spPr>
          <a:xfrm>
            <a:off x="2880442" y="2206725"/>
            <a:ext cx="157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600" u="none" cap="none" strike="noStrike">
                <a:solidFill>
                  <a:srgbClr val="FE2C55"/>
                </a:solidFill>
                <a:latin typeface="Arial"/>
                <a:ea typeface="Arial"/>
                <a:cs typeface="Arial"/>
                <a:sym typeface="Arial"/>
              </a:rPr>
              <a:t>7%（新規3%）</a:t>
            </a:r>
            <a:endParaRPr sz="1600"/>
          </a:p>
        </p:txBody>
      </p:sp>
      <p:sp>
        <p:nvSpPr>
          <p:cNvPr id="440" name="Google Shape;440;p39"/>
          <p:cNvSpPr/>
          <p:nvPr/>
        </p:nvSpPr>
        <p:spPr>
          <a:xfrm>
            <a:off x="4800728" y="1577340"/>
            <a:ext cx="1851709" cy="1234440"/>
          </a:xfrm>
          <a:prstGeom prst="roundRect">
            <a:avLst>
              <a:gd fmla="val 16667" name="adj"/>
            </a:avLst>
          </a:prstGeom>
          <a:solidFill>
            <a:srgbClr val="25253A"/>
          </a:solidFill>
          <a:ln cap="flat" cmpd="sng" w="25400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9"/>
          <p:cNvSpPr txBox="1"/>
          <p:nvPr/>
        </p:nvSpPr>
        <p:spPr>
          <a:xfrm>
            <a:off x="4937892" y="1714500"/>
            <a:ext cx="1577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審査期間</a:t>
            </a:r>
            <a:endParaRPr sz="1100"/>
          </a:p>
        </p:txBody>
      </p:sp>
      <p:sp>
        <p:nvSpPr>
          <p:cNvPr id="442" name="Google Shape;442;p39"/>
          <p:cNvSpPr txBox="1"/>
          <p:nvPr/>
        </p:nvSpPr>
        <p:spPr>
          <a:xfrm>
            <a:off x="4937892" y="2057400"/>
            <a:ext cx="157738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1〜5営業日</a:t>
            </a:r>
            <a:endParaRPr sz="1100"/>
          </a:p>
        </p:txBody>
      </p:sp>
      <p:sp>
        <p:nvSpPr>
          <p:cNvPr id="443" name="Google Shape;443;p39"/>
          <p:cNvSpPr/>
          <p:nvPr/>
        </p:nvSpPr>
        <p:spPr>
          <a:xfrm>
            <a:off x="6926765" y="1577340"/>
            <a:ext cx="1851709" cy="1234440"/>
          </a:xfrm>
          <a:prstGeom prst="roundRect">
            <a:avLst>
              <a:gd fmla="val 16667" name="adj"/>
            </a:avLst>
          </a:prstGeom>
          <a:solidFill>
            <a:srgbClr val="25253A"/>
          </a:solidFill>
          <a:ln cap="flat" cmpd="sng" w="25400">
            <a:solidFill>
              <a:srgbClr val="A55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9"/>
          <p:cNvSpPr txBox="1"/>
          <p:nvPr/>
        </p:nvSpPr>
        <p:spPr>
          <a:xfrm>
            <a:off x="7063928" y="1714500"/>
            <a:ext cx="1577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ショップ上限</a:t>
            </a:r>
            <a:endParaRPr sz="1100"/>
          </a:p>
        </p:txBody>
      </p:sp>
      <p:sp>
        <p:nvSpPr>
          <p:cNvPr id="445" name="Google Shape;445;p39"/>
          <p:cNvSpPr txBox="1"/>
          <p:nvPr/>
        </p:nvSpPr>
        <p:spPr>
          <a:xfrm>
            <a:off x="7063928" y="2057400"/>
            <a:ext cx="157738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2100" u="none" cap="none" strike="noStrike">
                <a:solidFill>
                  <a:srgbClr val="A55EEA"/>
                </a:solidFill>
                <a:latin typeface="Arial"/>
                <a:ea typeface="Arial"/>
                <a:cs typeface="Arial"/>
                <a:sym typeface="Arial"/>
              </a:rPr>
              <a:t>最大5つ</a:t>
            </a:r>
            <a:endParaRPr sz="1100"/>
          </a:p>
        </p:txBody>
      </p:sp>
      <p:sp>
        <p:nvSpPr>
          <p:cNvPr id="446" name="Google Shape;446;p39"/>
          <p:cNvSpPr txBox="1"/>
          <p:nvPr/>
        </p:nvSpPr>
        <p:spPr>
          <a:xfrm>
            <a:off x="725368" y="3657878"/>
            <a:ext cx="7749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書類を事前に準備すれば、30分〜1時間で申請完了</a:t>
            </a:r>
            <a:endParaRPr sz="1100"/>
          </a:p>
        </p:txBody>
      </p:sp>
      <p:sp>
        <p:nvSpPr>
          <p:cNvPr id="447" name="Google Shape;447;p39"/>
          <p:cNvSpPr txBox="1"/>
          <p:nvPr/>
        </p:nvSpPr>
        <p:spPr>
          <a:xfrm>
            <a:off x="8115288" y="4834890"/>
            <a:ext cx="891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14 / 14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