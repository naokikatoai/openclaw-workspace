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54" r:id="rId1"/>
  </p:sldMasterIdLst>
  <p:notesMasterIdLst>
    <p:notesMasterId r:id="rId20"/>
  </p:notesMasterIdLst>
  <p:handoutMasterIdLst>
    <p:handoutMasterId r:id="rId21"/>
  </p:handoutMasterIdLst>
  <p:sldIdLst>
    <p:sldId id="256" r:id="rId2"/>
    <p:sldId id="257" r:id="rId3"/>
    <p:sldId id="281" r:id="rId4"/>
    <p:sldId id="280" r:id="rId5"/>
    <p:sldId id="264" r:id="rId6"/>
    <p:sldId id="283" r:id="rId7"/>
    <p:sldId id="266" r:id="rId8"/>
    <p:sldId id="282" r:id="rId9"/>
    <p:sldId id="284" r:id="rId10"/>
    <p:sldId id="267" r:id="rId11"/>
    <p:sldId id="276" r:id="rId12"/>
    <p:sldId id="279" r:id="rId13"/>
    <p:sldId id="285" r:id="rId14"/>
    <p:sldId id="277" r:id="rId15"/>
    <p:sldId id="278" r:id="rId16"/>
    <p:sldId id="286" r:id="rId17"/>
    <p:sldId id="287" r:id="rId18"/>
    <p:sldId id="263" r:id="rId19"/>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2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373737"/>
    <a:srgbClr val="EEEEEE"/>
    <a:srgbClr val="FFE100"/>
    <a:srgbClr val="0071BC"/>
    <a:srgbClr val="FFFFFF"/>
    <a:srgbClr val="E53760"/>
    <a:srgbClr val="6E5A40"/>
    <a:srgbClr val="F0569B"/>
    <a:srgbClr val="0089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99" autoAdjust="0"/>
    <p:restoredTop sz="93557" autoAdjust="0"/>
  </p:normalViewPr>
  <p:slideViewPr>
    <p:cSldViewPr>
      <p:cViewPr varScale="1">
        <p:scale>
          <a:sx n="100" d="100"/>
          <a:sy n="100" d="100"/>
        </p:scale>
        <p:origin x="2160" y="78"/>
      </p:cViewPr>
      <p:guideLst>
        <p:guide pos="312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6" d="100"/>
          <a:sy n="76" d="100"/>
        </p:scale>
        <p:origin x="3600"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F11644-3F8E-43AB-BB12-D58015582779}"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kumimoji="1" lang="ja-JP" altLang="en-US"/>
        </a:p>
      </dgm:t>
    </dgm:pt>
    <dgm:pt modelId="{26ADC6B5-4737-43F2-9D1C-0DFDD76F51DE}">
      <dgm:prSet phldrT="[テキスト]"/>
      <dgm:spPr/>
      <dgm:t>
        <a:bodyPr/>
        <a:lstStyle/>
        <a:p>
          <a:r>
            <a:rPr kumimoji="1" lang="ja-JP" altLang="en-US" dirty="0"/>
            <a:t>　</a:t>
          </a:r>
        </a:p>
      </dgm:t>
    </dgm:pt>
    <dgm:pt modelId="{6B5DD155-88F6-46D5-A456-48B22A1F1BF7}" type="parTrans" cxnId="{3B1E38E6-4540-4875-89CD-045D2045EC08}">
      <dgm:prSet/>
      <dgm:spPr/>
      <dgm:t>
        <a:bodyPr/>
        <a:lstStyle/>
        <a:p>
          <a:endParaRPr kumimoji="1" lang="ja-JP" altLang="en-US"/>
        </a:p>
      </dgm:t>
    </dgm:pt>
    <dgm:pt modelId="{4511029E-25EE-4B15-9D07-529A9356BFE5}" type="sibTrans" cxnId="{3B1E38E6-4540-4875-89CD-045D2045EC08}">
      <dgm:prSet/>
      <dgm:spPr/>
      <dgm:t>
        <a:bodyPr/>
        <a:lstStyle/>
        <a:p>
          <a:endParaRPr kumimoji="1" lang="ja-JP" altLang="en-US"/>
        </a:p>
      </dgm:t>
    </dgm:pt>
    <dgm:pt modelId="{BBDC1F64-1169-460F-9549-BB5F5F515DB6}">
      <dgm:prSet phldrT="[テキスト]"/>
      <dgm:spPr/>
      <dgm:t>
        <a:bodyPr/>
        <a:lstStyle/>
        <a:p>
          <a:r>
            <a:rPr kumimoji="1" lang="ja-JP" altLang="en-US" dirty="0"/>
            <a:t>　</a:t>
          </a:r>
        </a:p>
      </dgm:t>
    </dgm:pt>
    <dgm:pt modelId="{1E9C484D-4B9A-46DD-B921-3BDB9FC9262E}" type="parTrans" cxnId="{C7921899-D02A-40AA-AE20-B1921E2510EF}">
      <dgm:prSet/>
      <dgm:spPr/>
      <dgm:t>
        <a:bodyPr/>
        <a:lstStyle/>
        <a:p>
          <a:endParaRPr kumimoji="1" lang="ja-JP" altLang="en-US"/>
        </a:p>
      </dgm:t>
    </dgm:pt>
    <dgm:pt modelId="{0C9D610C-F066-4008-8CFC-192E6F304631}" type="sibTrans" cxnId="{C7921899-D02A-40AA-AE20-B1921E2510EF}">
      <dgm:prSet/>
      <dgm:spPr/>
      <dgm:t>
        <a:bodyPr/>
        <a:lstStyle/>
        <a:p>
          <a:endParaRPr kumimoji="1" lang="ja-JP" altLang="en-US"/>
        </a:p>
      </dgm:t>
    </dgm:pt>
    <dgm:pt modelId="{0FA9990F-833D-4B64-870D-99A7DA2058EA}">
      <dgm:prSet phldrT="[テキスト]"/>
      <dgm:spPr/>
      <dgm:t>
        <a:bodyPr/>
        <a:lstStyle/>
        <a:p>
          <a:endParaRPr kumimoji="1" lang="ja-JP" altLang="en-US" dirty="0"/>
        </a:p>
      </dgm:t>
    </dgm:pt>
    <dgm:pt modelId="{6F0D84CB-BB5D-4ACA-B4C6-DD36C2C0020A}" type="sibTrans" cxnId="{4F9428DD-7103-4C9B-B683-8DD73F1000A6}">
      <dgm:prSet/>
      <dgm:spPr/>
      <dgm:t>
        <a:bodyPr/>
        <a:lstStyle/>
        <a:p>
          <a:endParaRPr kumimoji="1" lang="ja-JP" altLang="en-US"/>
        </a:p>
      </dgm:t>
    </dgm:pt>
    <dgm:pt modelId="{8C7CDFBA-809D-46C4-BE67-8E883059D523}" type="parTrans" cxnId="{4F9428DD-7103-4C9B-B683-8DD73F1000A6}">
      <dgm:prSet/>
      <dgm:spPr/>
      <dgm:t>
        <a:bodyPr/>
        <a:lstStyle/>
        <a:p>
          <a:endParaRPr kumimoji="1" lang="ja-JP" altLang="en-US"/>
        </a:p>
      </dgm:t>
    </dgm:pt>
    <dgm:pt modelId="{DF582A32-64ED-4E4A-BE33-1BCECA45A34D}" type="pres">
      <dgm:prSet presAssocID="{9AF11644-3F8E-43AB-BB12-D58015582779}" presName="Name0" presStyleCnt="0">
        <dgm:presLayoutVars>
          <dgm:dir/>
          <dgm:animLvl val="lvl"/>
          <dgm:resizeHandles val="exact"/>
        </dgm:presLayoutVars>
      </dgm:prSet>
      <dgm:spPr/>
    </dgm:pt>
    <dgm:pt modelId="{A4D9E81D-BCCD-46A6-B908-43C86D1388BB}" type="pres">
      <dgm:prSet presAssocID="{0FA9990F-833D-4B64-870D-99A7DA2058EA}" presName="compositeNode" presStyleCnt="0">
        <dgm:presLayoutVars>
          <dgm:bulletEnabled val="1"/>
        </dgm:presLayoutVars>
      </dgm:prSet>
      <dgm:spPr/>
    </dgm:pt>
    <dgm:pt modelId="{6960D32E-8EAB-4215-AA9E-6D604615CA86}" type="pres">
      <dgm:prSet presAssocID="{0FA9990F-833D-4B64-870D-99A7DA2058EA}" presName="bgRect" presStyleLbl="node1" presStyleIdx="0" presStyleCnt="3" custScaleY="89451" custLinFactNeighborY="22883"/>
      <dgm:spPr/>
    </dgm:pt>
    <dgm:pt modelId="{D784923B-72AD-4DBA-9547-F1892AB08711}" type="pres">
      <dgm:prSet presAssocID="{0FA9990F-833D-4B64-870D-99A7DA2058EA}" presName="parentNode" presStyleLbl="node1" presStyleIdx="0" presStyleCnt="3">
        <dgm:presLayoutVars>
          <dgm:chMax val="0"/>
          <dgm:bulletEnabled val="1"/>
        </dgm:presLayoutVars>
      </dgm:prSet>
      <dgm:spPr/>
    </dgm:pt>
    <dgm:pt modelId="{F558CFEF-FB1B-4496-8B6F-74A625F9D73E}" type="pres">
      <dgm:prSet presAssocID="{6F0D84CB-BB5D-4ACA-B4C6-DD36C2C0020A}" presName="hSp" presStyleCnt="0"/>
      <dgm:spPr/>
    </dgm:pt>
    <dgm:pt modelId="{3D88CFDA-9FFF-451F-85E6-750F656F2039}" type="pres">
      <dgm:prSet presAssocID="{6F0D84CB-BB5D-4ACA-B4C6-DD36C2C0020A}" presName="vProcSp" presStyleCnt="0"/>
      <dgm:spPr/>
    </dgm:pt>
    <dgm:pt modelId="{7B694DAA-6023-4827-960F-80BC811C1C10}" type="pres">
      <dgm:prSet presAssocID="{6F0D84CB-BB5D-4ACA-B4C6-DD36C2C0020A}" presName="vSp1" presStyleCnt="0"/>
      <dgm:spPr/>
    </dgm:pt>
    <dgm:pt modelId="{1629DE02-3D3D-4D0A-B138-22C7AC9EFD2A}" type="pres">
      <dgm:prSet presAssocID="{6F0D84CB-BB5D-4ACA-B4C6-DD36C2C0020A}" presName="simulatedConn" presStyleLbl="solidFgAcc1" presStyleIdx="0" presStyleCnt="2" custLinFactY="-163229" custLinFactNeighborX="5553" custLinFactNeighborY="-200000"/>
      <dgm:spPr/>
    </dgm:pt>
    <dgm:pt modelId="{DBE1B40D-7B1A-4567-A6BA-BD0FDA758282}" type="pres">
      <dgm:prSet presAssocID="{6F0D84CB-BB5D-4ACA-B4C6-DD36C2C0020A}" presName="vSp2" presStyleCnt="0"/>
      <dgm:spPr/>
    </dgm:pt>
    <dgm:pt modelId="{D47AE8CA-5D4D-46BE-8FA4-E66400FE0373}" type="pres">
      <dgm:prSet presAssocID="{6F0D84CB-BB5D-4ACA-B4C6-DD36C2C0020A}" presName="sibTrans" presStyleCnt="0"/>
      <dgm:spPr/>
    </dgm:pt>
    <dgm:pt modelId="{EDC7C70C-6213-45AB-BC01-FE7C4355675C}" type="pres">
      <dgm:prSet presAssocID="{26ADC6B5-4737-43F2-9D1C-0DFDD76F51DE}" presName="compositeNode" presStyleCnt="0">
        <dgm:presLayoutVars>
          <dgm:bulletEnabled val="1"/>
        </dgm:presLayoutVars>
      </dgm:prSet>
      <dgm:spPr/>
    </dgm:pt>
    <dgm:pt modelId="{036EE253-269A-4E2F-92A1-90EBBEE6A751}" type="pres">
      <dgm:prSet presAssocID="{26ADC6B5-4737-43F2-9D1C-0DFDD76F51DE}" presName="bgRect" presStyleLbl="node1" presStyleIdx="1" presStyleCnt="3" custScaleY="89451" custLinFactNeighborY="22883"/>
      <dgm:spPr/>
    </dgm:pt>
    <dgm:pt modelId="{FBC2D03B-980A-46D9-A2AD-A7EC0D7B155A}" type="pres">
      <dgm:prSet presAssocID="{26ADC6B5-4737-43F2-9D1C-0DFDD76F51DE}" presName="parentNode" presStyleLbl="node1" presStyleIdx="1" presStyleCnt="3">
        <dgm:presLayoutVars>
          <dgm:chMax val="0"/>
          <dgm:bulletEnabled val="1"/>
        </dgm:presLayoutVars>
      </dgm:prSet>
      <dgm:spPr/>
    </dgm:pt>
    <dgm:pt modelId="{6D23C2B0-2A90-4FDE-AEB3-9D862AAF2D2C}" type="pres">
      <dgm:prSet presAssocID="{4511029E-25EE-4B15-9D07-529A9356BFE5}" presName="hSp" presStyleCnt="0"/>
      <dgm:spPr/>
    </dgm:pt>
    <dgm:pt modelId="{E55D3836-6441-41F8-A997-C01DD4FAAA2A}" type="pres">
      <dgm:prSet presAssocID="{4511029E-25EE-4B15-9D07-529A9356BFE5}" presName="vProcSp" presStyleCnt="0"/>
      <dgm:spPr/>
    </dgm:pt>
    <dgm:pt modelId="{81FC2156-880B-4955-A43B-04B83B993332}" type="pres">
      <dgm:prSet presAssocID="{4511029E-25EE-4B15-9D07-529A9356BFE5}" presName="vSp1" presStyleCnt="0"/>
      <dgm:spPr/>
    </dgm:pt>
    <dgm:pt modelId="{C9C19796-0926-46E2-B13A-4C58237E5B5D}" type="pres">
      <dgm:prSet presAssocID="{4511029E-25EE-4B15-9D07-529A9356BFE5}" presName="simulatedConn" presStyleLbl="solidFgAcc1" presStyleIdx="1" presStyleCnt="2" custLinFactY="-163754" custLinFactNeighborX="690" custLinFactNeighborY="-200000"/>
      <dgm:spPr/>
    </dgm:pt>
    <dgm:pt modelId="{FAE42BDB-50B7-4B5D-AC17-32F99A5AFEB6}" type="pres">
      <dgm:prSet presAssocID="{4511029E-25EE-4B15-9D07-529A9356BFE5}" presName="vSp2" presStyleCnt="0"/>
      <dgm:spPr/>
    </dgm:pt>
    <dgm:pt modelId="{02D1B08F-3864-4A32-959F-7CF5EF7DD2B9}" type="pres">
      <dgm:prSet presAssocID="{4511029E-25EE-4B15-9D07-529A9356BFE5}" presName="sibTrans" presStyleCnt="0"/>
      <dgm:spPr/>
    </dgm:pt>
    <dgm:pt modelId="{D04ED859-48AD-47DA-8F3B-6A5D15769D56}" type="pres">
      <dgm:prSet presAssocID="{BBDC1F64-1169-460F-9549-BB5F5F515DB6}" presName="compositeNode" presStyleCnt="0">
        <dgm:presLayoutVars>
          <dgm:bulletEnabled val="1"/>
        </dgm:presLayoutVars>
      </dgm:prSet>
      <dgm:spPr/>
    </dgm:pt>
    <dgm:pt modelId="{7A2E765C-31FA-441E-8357-64AE5381250E}" type="pres">
      <dgm:prSet presAssocID="{BBDC1F64-1169-460F-9549-BB5F5F515DB6}" presName="bgRect" presStyleLbl="node1" presStyleIdx="2" presStyleCnt="3" custScaleY="89451" custLinFactNeighborY="22883"/>
      <dgm:spPr/>
    </dgm:pt>
    <dgm:pt modelId="{5662D38C-A61E-493E-8965-878EAAA41385}" type="pres">
      <dgm:prSet presAssocID="{BBDC1F64-1169-460F-9549-BB5F5F515DB6}" presName="parentNode" presStyleLbl="node1" presStyleIdx="2" presStyleCnt="3">
        <dgm:presLayoutVars>
          <dgm:chMax val="0"/>
          <dgm:bulletEnabled val="1"/>
        </dgm:presLayoutVars>
      </dgm:prSet>
      <dgm:spPr/>
    </dgm:pt>
  </dgm:ptLst>
  <dgm:cxnLst>
    <dgm:cxn modelId="{F89E891E-6948-4207-9625-EB07AF9D9F0E}" type="presOf" srcId="{26ADC6B5-4737-43F2-9D1C-0DFDD76F51DE}" destId="{036EE253-269A-4E2F-92A1-90EBBEE6A751}" srcOrd="0" destOrd="0" presId="urn:microsoft.com/office/officeart/2005/8/layout/hProcess7"/>
    <dgm:cxn modelId="{690E7F20-73BA-4486-A4B5-076A3E360D1E}" type="presOf" srcId="{0FA9990F-833D-4B64-870D-99A7DA2058EA}" destId="{D784923B-72AD-4DBA-9547-F1892AB08711}" srcOrd="1" destOrd="0" presId="urn:microsoft.com/office/officeart/2005/8/layout/hProcess7"/>
    <dgm:cxn modelId="{34779361-F4EC-4C5B-BA53-FE456A419D09}" type="presOf" srcId="{9AF11644-3F8E-43AB-BB12-D58015582779}" destId="{DF582A32-64ED-4E4A-BE33-1BCECA45A34D}" srcOrd="0" destOrd="0" presId="urn:microsoft.com/office/officeart/2005/8/layout/hProcess7"/>
    <dgm:cxn modelId="{F6E2748C-1947-4D96-81E2-3CAA3FDEAB37}" type="presOf" srcId="{BBDC1F64-1169-460F-9549-BB5F5F515DB6}" destId="{7A2E765C-31FA-441E-8357-64AE5381250E}" srcOrd="0" destOrd="0" presId="urn:microsoft.com/office/officeart/2005/8/layout/hProcess7"/>
    <dgm:cxn modelId="{C7921899-D02A-40AA-AE20-B1921E2510EF}" srcId="{9AF11644-3F8E-43AB-BB12-D58015582779}" destId="{BBDC1F64-1169-460F-9549-BB5F5F515DB6}" srcOrd="2" destOrd="0" parTransId="{1E9C484D-4B9A-46DD-B921-3BDB9FC9262E}" sibTransId="{0C9D610C-F066-4008-8CFC-192E6F304631}"/>
    <dgm:cxn modelId="{1DF31CAC-6321-4043-A568-5FD9B524D071}" type="presOf" srcId="{26ADC6B5-4737-43F2-9D1C-0DFDD76F51DE}" destId="{FBC2D03B-980A-46D9-A2AD-A7EC0D7B155A}" srcOrd="1" destOrd="0" presId="urn:microsoft.com/office/officeart/2005/8/layout/hProcess7"/>
    <dgm:cxn modelId="{09CBCEC8-C069-4ABE-9AEE-59F24263E3FD}" type="presOf" srcId="{0FA9990F-833D-4B64-870D-99A7DA2058EA}" destId="{6960D32E-8EAB-4215-AA9E-6D604615CA86}" srcOrd="0" destOrd="0" presId="urn:microsoft.com/office/officeart/2005/8/layout/hProcess7"/>
    <dgm:cxn modelId="{4F9428DD-7103-4C9B-B683-8DD73F1000A6}" srcId="{9AF11644-3F8E-43AB-BB12-D58015582779}" destId="{0FA9990F-833D-4B64-870D-99A7DA2058EA}" srcOrd="0" destOrd="0" parTransId="{8C7CDFBA-809D-46C4-BE67-8E883059D523}" sibTransId="{6F0D84CB-BB5D-4ACA-B4C6-DD36C2C0020A}"/>
    <dgm:cxn modelId="{5E78E9E1-26AF-4761-BAE0-B1E01C3BA059}" type="presOf" srcId="{BBDC1F64-1169-460F-9549-BB5F5F515DB6}" destId="{5662D38C-A61E-493E-8965-878EAAA41385}" srcOrd="1" destOrd="0" presId="urn:microsoft.com/office/officeart/2005/8/layout/hProcess7"/>
    <dgm:cxn modelId="{3B1E38E6-4540-4875-89CD-045D2045EC08}" srcId="{9AF11644-3F8E-43AB-BB12-D58015582779}" destId="{26ADC6B5-4737-43F2-9D1C-0DFDD76F51DE}" srcOrd="1" destOrd="0" parTransId="{6B5DD155-88F6-46D5-A456-48B22A1F1BF7}" sibTransId="{4511029E-25EE-4B15-9D07-529A9356BFE5}"/>
    <dgm:cxn modelId="{A192EA65-F388-4FB4-9C16-914971FDBC7B}" type="presParOf" srcId="{DF582A32-64ED-4E4A-BE33-1BCECA45A34D}" destId="{A4D9E81D-BCCD-46A6-B908-43C86D1388BB}" srcOrd="0" destOrd="0" presId="urn:microsoft.com/office/officeart/2005/8/layout/hProcess7"/>
    <dgm:cxn modelId="{B4DB91D9-FB61-4714-A083-42CF82BABF40}" type="presParOf" srcId="{A4D9E81D-BCCD-46A6-B908-43C86D1388BB}" destId="{6960D32E-8EAB-4215-AA9E-6D604615CA86}" srcOrd="0" destOrd="0" presId="urn:microsoft.com/office/officeart/2005/8/layout/hProcess7"/>
    <dgm:cxn modelId="{49E63CCF-2E39-482A-BC00-247FC7F4EFD1}" type="presParOf" srcId="{A4D9E81D-BCCD-46A6-B908-43C86D1388BB}" destId="{D784923B-72AD-4DBA-9547-F1892AB08711}" srcOrd="1" destOrd="0" presId="urn:microsoft.com/office/officeart/2005/8/layout/hProcess7"/>
    <dgm:cxn modelId="{263F8A0C-8861-40BA-BBAF-89A34512A781}" type="presParOf" srcId="{DF582A32-64ED-4E4A-BE33-1BCECA45A34D}" destId="{F558CFEF-FB1B-4496-8B6F-74A625F9D73E}" srcOrd="1" destOrd="0" presId="urn:microsoft.com/office/officeart/2005/8/layout/hProcess7"/>
    <dgm:cxn modelId="{E8434595-D95B-4868-B686-0C3317621D4D}" type="presParOf" srcId="{DF582A32-64ED-4E4A-BE33-1BCECA45A34D}" destId="{3D88CFDA-9FFF-451F-85E6-750F656F2039}" srcOrd="2" destOrd="0" presId="urn:microsoft.com/office/officeart/2005/8/layout/hProcess7"/>
    <dgm:cxn modelId="{AF7FC80C-4471-4EF8-B44A-43BE9A142163}" type="presParOf" srcId="{3D88CFDA-9FFF-451F-85E6-750F656F2039}" destId="{7B694DAA-6023-4827-960F-80BC811C1C10}" srcOrd="0" destOrd="0" presId="urn:microsoft.com/office/officeart/2005/8/layout/hProcess7"/>
    <dgm:cxn modelId="{A59F6567-1DD6-4B0E-A4E9-9A4ECF049A96}" type="presParOf" srcId="{3D88CFDA-9FFF-451F-85E6-750F656F2039}" destId="{1629DE02-3D3D-4D0A-B138-22C7AC9EFD2A}" srcOrd="1" destOrd="0" presId="urn:microsoft.com/office/officeart/2005/8/layout/hProcess7"/>
    <dgm:cxn modelId="{EA4E2CEE-2517-4864-B667-551C8CA45BD0}" type="presParOf" srcId="{3D88CFDA-9FFF-451F-85E6-750F656F2039}" destId="{DBE1B40D-7B1A-4567-A6BA-BD0FDA758282}" srcOrd="2" destOrd="0" presId="urn:microsoft.com/office/officeart/2005/8/layout/hProcess7"/>
    <dgm:cxn modelId="{BBD57B65-8782-402E-8575-038E80818932}" type="presParOf" srcId="{DF582A32-64ED-4E4A-BE33-1BCECA45A34D}" destId="{D47AE8CA-5D4D-46BE-8FA4-E66400FE0373}" srcOrd="3" destOrd="0" presId="urn:microsoft.com/office/officeart/2005/8/layout/hProcess7"/>
    <dgm:cxn modelId="{CAD724E9-0974-43A7-B73B-7FFF48297463}" type="presParOf" srcId="{DF582A32-64ED-4E4A-BE33-1BCECA45A34D}" destId="{EDC7C70C-6213-45AB-BC01-FE7C4355675C}" srcOrd="4" destOrd="0" presId="urn:microsoft.com/office/officeart/2005/8/layout/hProcess7"/>
    <dgm:cxn modelId="{8D632D07-DCCC-46AB-B154-9929EE6D92EE}" type="presParOf" srcId="{EDC7C70C-6213-45AB-BC01-FE7C4355675C}" destId="{036EE253-269A-4E2F-92A1-90EBBEE6A751}" srcOrd="0" destOrd="0" presId="urn:microsoft.com/office/officeart/2005/8/layout/hProcess7"/>
    <dgm:cxn modelId="{1F00A7A3-60A4-4A23-A435-EEE01FC617C4}" type="presParOf" srcId="{EDC7C70C-6213-45AB-BC01-FE7C4355675C}" destId="{FBC2D03B-980A-46D9-A2AD-A7EC0D7B155A}" srcOrd="1" destOrd="0" presId="urn:microsoft.com/office/officeart/2005/8/layout/hProcess7"/>
    <dgm:cxn modelId="{D3232825-4DB2-465A-ACF1-CF4436D3BDAD}" type="presParOf" srcId="{DF582A32-64ED-4E4A-BE33-1BCECA45A34D}" destId="{6D23C2B0-2A90-4FDE-AEB3-9D862AAF2D2C}" srcOrd="5" destOrd="0" presId="urn:microsoft.com/office/officeart/2005/8/layout/hProcess7"/>
    <dgm:cxn modelId="{CBCE6B33-227F-41A2-9E68-8E16AA8B48CA}" type="presParOf" srcId="{DF582A32-64ED-4E4A-BE33-1BCECA45A34D}" destId="{E55D3836-6441-41F8-A997-C01DD4FAAA2A}" srcOrd="6" destOrd="0" presId="urn:microsoft.com/office/officeart/2005/8/layout/hProcess7"/>
    <dgm:cxn modelId="{D60D7BD1-D9C8-452A-B555-D9421072C38E}" type="presParOf" srcId="{E55D3836-6441-41F8-A997-C01DD4FAAA2A}" destId="{81FC2156-880B-4955-A43B-04B83B993332}" srcOrd="0" destOrd="0" presId="urn:microsoft.com/office/officeart/2005/8/layout/hProcess7"/>
    <dgm:cxn modelId="{2297518F-2414-4AF3-B1CD-A30F711BFC55}" type="presParOf" srcId="{E55D3836-6441-41F8-A997-C01DD4FAAA2A}" destId="{C9C19796-0926-46E2-B13A-4C58237E5B5D}" srcOrd="1" destOrd="0" presId="urn:microsoft.com/office/officeart/2005/8/layout/hProcess7"/>
    <dgm:cxn modelId="{66937CF5-1BCA-453E-8589-2A40096110C9}" type="presParOf" srcId="{E55D3836-6441-41F8-A997-C01DD4FAAA2A}" destId="{FAE42BDB-50B7-4B5D-AC17-32F99A5AFEB6}" srcOrd="2" destOrd="0" presId="urn:microsoft.com/office/officeart/2005/8/layout/hProcess7"/>
    <dgm:cxn modelId="{B01E91AC-D471-4F6C-9793-ECB162C268B2}" type="presParOf" srcId="{DF582A32-64ED-4E4A-BE33-1BCECA45A34D}" destId="{02D1B08F-3864-4A32-959F-7CF5EF7DD2B9}" srcOrd="7" destOrd="0" presId="urn:microsoft.com/office/officeart/2005/8/layout/hProcess7"/>
    <dgm:cxn modelId="{95938652-0067-4625-9427-40298A5B3632}" type="presParOf" srcId="{DF582A32-64ED-4E4A-BE33-1BCECA45A34D}" destId="{D04ED859-48AD-47DA-8F3B-6A5D15769D56}" srcOrd="8" destOrd="0" presId="urn:microsoft.com/office/officeart/2005/8/layout/hProcess7"/>
    <dgm:cxn modelId="{AFF9D504-8B2C-49C1-B7F0-A6B26655FF54}" type="presParOf" srcId="{D04ED859-48AD-47DA-8F3B-6A5D15769D56}" destId="{7A2E765C-31FA-441E-8357-64AE5381250E}" srcOrd="0" destOrd="0" presId="urn:microsoft.com/office/officeart/2005/8/layout/hProcess7"/>
    <dgm:cxn modelId="{8AE068C3-535A-41D4-9EBD-25C905181530}" type="presParOf" srcId="{D04ED859-48AD-47DA-8F3B-6A5D15769D56}" destId="{5662D38C-A61E-493E-8965-878EAAA41385}" srcOrd="1"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0D32E-8EAB-4215-AA9E-6D604615CA86}">
      <dsp:nvSpPr>
        <dsp:cNvPr id="0" name=""/>
        <dsp:cNvSpPr/>
      </dsp:nvSpPr>
      <dsp:spPr>
        <a:xfrm>
          <a:off x="670"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endParaRPr kumimoji="1" lang="ja-JP" altLang="en-US" sz="2100" kern="1200" dirty="0"/>
        </a:p>
      </dsp:txBody>
      <dsp:txXfrm rot="16200000">
        <a:off x="-980370" y="3177404"/>
        <a:ext cx="2538996" cy="576914"/>
      </dsp:txXfrm>
    </dsp:sp>
    <dsp:sp modelId="{036EE253-269A-4E2F-92A1-90EBBEE6A751}">
      <dsp:nvSpPr>
        <dsp:cNvPr id="0" name=""/>
        <dsp:cNvSpPr/>
      </dsp:nvSpPr>
      <dsp:spPr>
        <a:xfrm>
          <a:off x="2986204"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kumimoji="1" lang="ja-JP" altLang="en-US" sz="2100" kern="1200" dirty="0"/>
            <a:t>　</a:t>
          </a:r>
        </a:p>
      </dsp:txBody>
      <dsp:txXfrm rot="16200000">
        <a:off x="2005164" y="3177404"/>
        <a:ext cx="2538996" cy="576914"/>
      </dsp:txXfrm>
    </dsp:sp>
    <dsp:sp modelId="{1629DE02-3D3D-4D0A-B138-22C7AC9EFD2A}">
      <dsp:nvSpPr>
        <dsp:cNvPr id="0" name=""/>
        <dsp:cNvSpPr/>
      </dsp:nvSpPr>
      <dsp:spPr>
        <a:xfrm rot="5400000">
          <a:off x="2770525" y="2848767"/>
          <a:ext cx="508257" cy="432686"/>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2E765C-31FA-441E-8357-64AE5381250E}">
      <dsp:nvSpPr>
        <dsp:cNvPr id="0" name=""/>
        <dsp:cNvSpPr/>
      </dsp:nvSpPr>
      <dsp:spPr>
        <a:xfrm>
          <a:off x="5971739" y="2196364"/>
          <a:ext cx="2884574" cy="3096336"/>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2009" rIns="93345" bIns="0" numCol="1" spcCol="1270" anchor="t" anchorCtr="0">
          <a:noAutofit/>
        </a:bodyPr>
        <a:lstStyle/>
        <a:p>
          <a:pPr marL="0" lvl="0" indent="0" algn="r" defTabSz="933450">
            <a:lnSpc>
              <a:spcPct val="90000"/>
            </a:lnSpc>
            <a:spcBef>
              <a:spcPct val="0"/>
            </a:spcBef>
            <a:spcAft>
              <a:spcPct val="35000"/>
            </a:spcAft>
            <a:buNone/>
          </a:pPr>
          <a:r>
            <a:rPr kumimoji="1" lang="ja-JP" altLang="en-US" sz="2100" kern="1200" dirty="0"/>
            <a:t>　</a:t>
          </a:r>
        </a:p>
      </dsp:txBody>
      <dsp:txXfrm rot="16200000">
        <a:off x="4990698" y="3177404"/>
        <a:ext cx="2538996" cy="576914"/>
      </dsp:txXfrm>
    </dsp:sp>
    <dsp:sp modelId="{C9C19796-0926-46E2-B13A-4C58237E5B5D}">
      <dsp:nvSpPr>
        <dsp:cNvPr id="0" name=""/>
        <dsp:cNvSpPr/>
      </dsp:nvSpPr>
      <dsp:spPr>
        <a:xfrm rot="5400000">
          <a:off x="5735018" y="2846099"/>
          <a:ext cx="508257" cy="432686"/>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2025/1/23</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2025/1/23</a:t>
            </a:fld>
            <a:endParaRPr kumimoji="1" lang="ja-JP" altLang="en-US"/>
          </a:p>
        </p:txBody>
      </p:sp>
      <p:sp>
        <p:nvSpPr>
          <p:cNvPr id="4" name="スライド イメージ プレースホルダー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2459562"/>
            <a:ext cx="8280400" cy="609398"/>
          </a:xfrm>
        </p:spPr>
        <p:txBody>
          <a:bodyPr wrap="square" anchor="t" anchorCtr="0">
            <a:spAutoFit/>
          </a:bodyPr>
          <a:lstStyle>
            <a:lvl1pPr algn="r">
              <a:lnSpc>
                <a:spcPct val="110000"/>
              </a:lnSpc>
              <a:defRPr sz="3600" b="1"/>
            </a:lvl1pPr>
          </a:lstStyle>
          <a:p>
            <a:r>
              <a:rPr kumimoji="1" lang="ja-JP" altLang="en-US"/>
              <a:t>マスター タイトルの書式設定</a:t>
            </a:r>
            <a:endParaRPr kumimoji="1" lang="ja-JP" altLang="en-US" dirty="0"/>
          </a:p>
        </p:txBody>
      </p:sp>
      <p:sp>
        <p:nvSpPr>
          <p:cNvPr id="3" name="フッター プレースホルダー 2">
            <a:extLst>
              <a:ext uri="{FF2B5EF4-FFF2-40B4-BE49-F238E27FC236}">
                <a16:creationId xmlns:a16="http://schemas.microsoft.com/office/drawing/2014/main" id="{8AA800E9-9428-491D-A5F9-A9F2C743960D}"/>
              </a:ext>
            </a:extLst>
          </p:cNvPr>
          <p:cNvSpPr>
            <a:spLocks noGrp="1"/>
          </p:cNvSpPr>
          <p:nvPr>
            <p:ph type="ftr" sz="quarter" idx="10"/>
          </p:nvPr>
        </p:nvSpPr>
        <p:spPr/>
        <p:txBody>
          <a:bodyPr/>
          <a:lstStyle>
            <a:lvl1pPr>
              <a:defRPr>
                <a:solidFill>
                  <a:schemeClr val="tx1">
                    <a:alpha val="0"/>
                  </a:schemeClr>
                </a:solidFill>
              </a:defRPr>
            </a:lvl1pPr>
          </a:lstStyle>
          <a:p>
            <a:r>
              <a:rPr lang="en-US" altLang="ja-JP"/>
              <a:t>© Presentation Design</a:t>
            </a:r>
            <a:endParaRPr lang="ja-JP" altLang="en-US" dirty="0"/>
          </a:p>
        </p:txBody>
      </p:sp>
      <p:sp>
        <p:nvSpPr>
          <p:cNvPr id="5" name="スライド番号プレースホルダー 4">
            <a:extLst>
              <a:ext uri="{FF2B5EF4-FFF2-40B4-BE49-F238E27FC236}">
                <a16:creationId xmlns:a16="http://schemas.microsoft.com/office/drawing/2014/main" id="{D038D84B-9105-4F73-AE15-C61E4E73D234}"/>
              </a:ext>
            </a:extLst>
          </p:cNvPr>
          <p:cNvSpPr>
            <a:spLocks noGrp="1"/>
          </p:cNvSpPr>
          <p:nvPr>
            <p:ph type="sldNum" sz="quarter" idx="11"/>
          </p:nvPr>
        </p:nvSpPr>
        <p:spPr/>
        <p:txBody>
          <a:bodyPr/>
          <a:lstStyle>
            <a:lvl1pPr>
              <a:defRPr>
                <a:solidFill>
                  <a:schemeClr val="tx1">
                    <a:alpha val="0"/>
                  </a:schemeClr>
                </a:solidFill>
              </a:defRPr>
            </a:lvl1pPr>
          </a:lstStyle>
          <a:p>
            <a:fld id="{FB3508C7-2FE0-4945-9CBD-863E05F850D2}" type="slidenum">
              <a:rPr lang="ja-JP" altLang="en-US" smtClean="0"/>
              <a:pPr/>
              <a:t>‹#›</a:t>
            </a:fld>
            <a:endParaRPr lang="ja-JP" altLang="en-US" dirty="0"/>
          </a:p>
        </p:txBody>
      </p:sp>
      <p:sp>
        <p:nvSpPr>
          <p:cNvPr id="6" name="直角三角形 5">
            <a:extLst>
              <a:ext uri="{FF2B5EF4-FFF2-40B4-BE49-F238E27FC236}">
                <a16:creationId xmlns:a16="http://schemas.microsoft.com/office/drawing/2014/main" id="{FC4B5ABB-B10F-46C3-9A25-6DCF41106058}"/>
              </a:ext>
            </a:extLst>
          </p:cNvPr>
          <p:cNvSpPr>
            <a:spLocks noChangeAspect="1"/>
          </p:cNvSpPr>
          <p:nvPr userDrawn="1"/>
        </p:nvSpPr>
        <p:spPr bwMode="auto">
          <a:xfrm flipV="1">
            <a:off x="0" y="0"/>
            <a:ext cx="956556" cy="5517232"/>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9" name="正方形/長方形 8">
            <a:extLst>
              <a:ext uri="{FF2B5EF4-FFF2-40B4-BE49-F238E27FC236}">
                <a16:creationId xmlns:a16="http://schemas.microsoft.com/office/drawing/2014/main" id="{73202AF2-E14C-7C59-9954-9F75D2A4F5A0}"/>
              </a:ext>
            </a:extLst>
          </p:cNvPr>
          <p:cNvSpPr/>
          <p:nvPr userDrawn="1"/>
        </p:nvSpPr>
        <p:spPr bwMode="auto">
          <a:xfrm rot="21170942">
            <a:off x="1814660" y="-171399"/>
            <a:ext cx="1044116" cy="7488832"/>
          </a:xfrm>
          <a:prstGeom prst="rect">
            <a:avLst/>
          </a:prstGeom>
          <a:solidFill>
            <a:schemeClr val="accent5"/>
          </a:solid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2" name="正方形/長方形 11">
            <a:extLst>
              <a:ext uri="{FF2B5EF4-FFF2-40B4-BE49-F238E27FC236}">
                <a16:creationId xmlns:a16="http://schemas.microsoft.com/office/drawing/2014/main" id="{A2ED17CC-9BF6-70A1-3266-ED9E37808464}"/>
              </a:ext>
            </a:extLst>
          </p:cNvPr>
          <p:cNvSpPr/>
          <p:nvPr userDrawn="1"/>
        </p:nvSpPr>
        <p:spPr bwMode="auto">
          <a:xfrm rot="21170942">
            <a:off x="1827617" y="35963"/>
            <a:ext cx="1032778" cy="7281367"/>
          </a:xfrm>
          <a:prstGeom prst="rect">
            <a:avLst/>
          </a:prstGeom>
          <a:solidFill>
            <a:schemeClr val="accent5"/>
          </a:solid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8" name="フリーフォーム: 図形 17">
            <a:extLst>
              <a:ext uri="{FF2B5EF4-FFF2-40B4-BE49-F238E27FC236}">
                <a16:creationId xmlns:a16="http://schemas.microsoft.com/office/drawing/2014/main" id="{C88DECCF-7077-7E0B-113C-75ACF7B3EC02}"/>
              </a:ext>
            </a:extLst>
          </p:cNvPr>
          <p:cNvSpPr/>
          <p:nvPr userDrawn="1"/>
        </p:nvSpPr>
        <p:spPr bwMode="auto">
          <a:xfrm rot="571955">
            <a:off x="155373" y="-187781"/>
            <a:ext cx="1664036" cy="7188649"/>
          </a:xfrm>
          <a:custGeom>
            <a:avLst/>
            <a:gdLst>
              <a:gd name="connsiteX0" fmla="*/ 0 w 1664036"/>
              <a:gd name="connsiteY0" fmla="*/ 279437 h 7188649"/>
              <a:gd name="connsiteX1" fmla="*/ 1664036 w 1664036"/>
              <a:gd name="connsiteY1" fmla="*/ 0 h 7188649"/>
              <a:gd name="connsiteX2" fmla="*/ 1664036 w 1664036"/>
              <a:gd name="connsiteY2" fmla="*/ 6982157 h 7188649"/>
              <a:gd name="connsiteX3" fmla="*/ 434387 w 1664036"/>
              <a:gd name="connsiteY3" fmla="*/ 7188649 h 7188649"/>
              <a:gd name="connsiteX4" fmla="*/ 0 w 1664036"/>
              <a:gd name="connsiteY4" fmla="*/ 4601893 h 7188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036" h="7188649">
                <a:moveTo>
                  <a:pt x="0" y="279437"/>
                </a:moveTo>
                <a:lnTo>
                  <a:pt x="1664036" y="0"/>
                </a:lnTo>
                <a:lnTo>
                  <a:pt x="1664036" y="6982157"/>
                </a:lnTo>
                <a:lnTo>
                  <a:pt x="434387" y="7188649"/>
                </a:lnTo>
                <a:lnTo>
                  <a:pt x="0" y="4601893"/>
                </a:lnTo>
                <a:close/>
              </a:path>
            </a:pathLst>
          </a:custGeom>
          <a:blipFill dpi="0" rotWithShape="0">
            <a:blip r:embed="rId2"/>
            <a:srcRect/>
            <a:stretch>
              <a:fillRect/>
            </a:stretch>
          </a:blip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8" name="字幕 2">
            <a:extLst>
              <a:ext uri="{FF2B5EF4-FFF2-40B4-BE49-F238E27FC236}">
                <a16:creationId xmlns:a16="http://schemas.microsoft.com/office/drawing/2014/main" id="{BB3B72FB-FACC-43CF-B0E6-5414783CA1DA}"/>
              </a:ext>
            </a:extLst>
          </p:cNvPr>
          <p:cNvSpPr>
            <a:spLocks noGrp="1"/>
          </p:cNvSpPr>
          <p:nvPr>
            <p:ph type="subTitle" idx="1"/>
          </p:nvPr>
        </p:nvSpPr>
        <p:spPr>
          <a:xfrm>
            <a:off x="812800" y="1959543"/>
            <a:ext cx="8280400" cy="389337"/>
          </a:xfrm>
          <a:prstGeom prst="rect">
            <a:avLst/>
          </a:prstGeom>
        </p:spPr>
        <p:txBody>
          <a:bodyPr wrap="square" lIns="0" tIns="0" rIns="0" bIns="0" anchor="b" anchorCtr="0">
            <a:spAutoFit/>
          </a:bodyPr>
          <a:lstStyle>
            <a:lvl1pPr marL="0" indent="0" algn="r">
              <a:lnSpc>
                <a:spcPct val="120000"/>
              </a:lnSpc>
              <a:spcBef>
                <a:spcPts val="0"/>
              </a:spcBef>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9" name="図 18">
            <a:extLst>
              <a:ext uri="{FF2B5EF4-FFF2-40B4-BE49-F238E27FC236}">
                <a16:creationId xmlns:a16="http://schemas.microsoft.com/office/drawing/2014/main" id="{EAA0A825-3353-295E-5894-9D8DEF30FDC3}"/>
              </a:ext>
            </a:extLst>
          </p:cNvPr>
          <p:cNvPicPr>
            <a:picLocks noChangeAspect="1"/>
          </p:cNvPicPr>
          <p:nvPr userDrawn="1"/>
        </p:nvPicPr>
        <p:blipFill>
          <a:blip r:embed="rId3"/>
          <a:stretch>
            <a:fillRect/>
          </a:stretch>
        </p:blipFill>
        <p:spPr>
          <a:xfrm>
            <a:off x="7054675" y="5632192"/>
            <a:ext cx="456437" cy="425100"/>
          </a:xfrm>
          <a:prstGeom prst="rect">
            <a:avLst/>
          </a:prstGeom>
        </p:spPr>
      </p:pic>
      <p:sp>
        <p:nvSpPr>
          <p:cNvPr id="20" name="テキスト ボックス 19">
            <a:extLst>
              <a:ext uri="{FF2B5EF4-FFF2-40B4-BE49-F238E27FC236}">
                <a16:creationId xmlns:a16="http://schemas.microsoft.com/office/drawing/2014/main" id="{D98EE15D-32EE-BDDB-9C22-58A662B22E6D}"/>
              </a:ext>
            </a:extLst>
          </p:cNvPr>
          <p:cNvSpPr txBox="1"/>
          <p:nvPr userDrawn="1"/>
        </p:nvSpPr>
        <p:spPr>
          <a:xfrm>
            <a:off x="7522102" y="5687960"/>
            <a:ext cx="1679370" cy="369332"/>
          </a:xfrm>
          <a:prstGeom prst="rect">
            <a:avLst/>
          </a:prstGeom>
          <a:noFill/>
        </p:spPr>
        <p:txBody>
          <a:bodyPr wrap="none" rtlCol="0">
            <a:spAutoFit/>
          </a:bodyPr>
          <a:lstStyle/>
          <a:p>
            <a:r>
              <a:rPr kumimoji="1" lang="ja-JP" altLang="en-US" b="1" dirty="0">
                <a:solidFill>
                  <a:schemeClr val="tx2"/>
                </a:solidFill>
              </a:rPr>
              <a:t>株式会社</a:t>
            </a:r>
            <a:r>
              <a:rPr kumimoji="1" lang="en-US" altLang="ja-JP" b="1" dirty="0">
                <a:solidFill>
                  <a:schemeClr val="tx2"/>
                </a:solidFill>
              </a:rPr>
              <a:t>WCA</a:t>
            </a:r>
            <a:endParaRPr kumimoji="1" lang="ja-JP" altLang="en-US" b="1" dirty="0">
              <a:solidFill>
                <a:schemeClr val="tx2"/>
              </a:solidFill>
            </a:endParaRPr>
          </a:p>
        </p:txBody>
      </p:sp>
      <p:sp>
        <p:nvSpPr>
          <p:cNvPr id="22" name="テキスト ボックス 21">
            <a:extLst>
              <a:ext uri="{FF2B5EF4-FFF2-40B4-BE49-F238E27FC236}">
                <a16:creationId xmlns:a16="http://schemas.microsoft.com/office/drawing/2014/main" id="{024AEA00-EE62-3A26-08F7-0239F72CE62C}"/>
              </a:ext>
            </a:extLst>
          </p:cNvPr>
          <p:cNvSpPr txBox="1"/>
          <p:nvPr userDrawn="1"/>
        </p:nvSpPr>
        <p:spPr>
          <a:xfrm>
            <a:off x="5781092" y="6035536"/>
            <a:ext cx="3420380" cy="230832"/>
          </a:xfrm>
          <a:prstGeom prst="rect">
            <a:avLst/>
          </a:prstGeom>
          <a:noFill/>
        </p:spPr>
        <p:txBody>
          <a:bodyPr wrap="square">
            <a:spAutoFit/>
          </a:bodyPr>
          <a:lstStyle/>
          <a:p>
            <a:pPr algn="r"/>
            <a:r>
              <a:rPr lang="en-US" altLang="ja-JP" sz="900" b="0" dirty="0">
                <a:solidFill>
                  <a:schemeClr val="bg1">
                    <a:lumMod val="65000"/>
                  </a:schemeClr>
                </a:solidFill>
              </a:rPr>
              <a:t>Copyright © WCA</a:t>
            </a:r>
            <a:r>
              <a:rPr lang="ja-JP" altLang="en-US" sz="900" b="0" dirty="0">
                <a:solidFill>
                  <a:schemeClr val="bg1">
                    <a:lumMod val="65000"/>
                  </a:schemeClr>
                </a:solidFill>
              </a:rPr>
              <a:t> </a:t>
            </a:r>
            <a:r>
              <a:rPr lang="en-US" altLang="ja-JP" sz="900" b="0" dirty="0">
                <a:solidFill>
                  <a:schemeClr val="bg1">
                    <a:lumMod val="65000"/>
                  </a:schemeClr>
                </a:solidFill>
              </a:rPr>
              <a:t>INC. All Rights Reserved.</a:t>
            </a:r>
            <a:endParaRPr lang="ja-JP" altLang="en-US" sz="900" b="0" dirty="0">
              <a:solidFill>
                <a:schemeClr val="bg1">
                  <a:lumMod val="65000"/>
                </a:schemeClr>
              </a:solidFill>
            </a:endParaRPr>
          </a:p>
        </p:txBody>
      </p:sp>
      <p:sp>
        <p:nvSpPr>
          <p:cNvPr id="10" name="コンテンツ プレースホルダー 9">
            <a:extLst>
              <a:ext uri="{FF2B5EF4-FFF2-40B4-BE49-F238E27FC236}">
                <a16:creationId xmlns:a16="http://schemas.microsoft.com/office/drawing/2014/main" id="{D585FDC2-449F-F322-9F42-CB8E126A78FB}"/>
              </a:ext>
            </a:extLst>
          </p:cNvPr>
          <p:cNvSpPr>
            <a:spLocks noGrp="1"/>
          </p:cNvSpPr>
          <p:nvPr>
            <p:ph sz="quarter" idx="12" hasCustomPrompt="1"/>
          </p:nvPr>
        </p:nvSpPr>
        <p:spPr>
          <a:xfrm>
            <a:off x="2516767" y="657225"/>
            <a:ext cx="4164425" cy="323850"/>
          </a:xfrm>
          <a:prstGeom prst="rect">
            <a:avLst/>
          </a:prstGeom>
        </p:spPr>
        <p:txBody>
          <a:bodyPr/>
          <a:lstStyle>
            <a:lvl1pPr marL="0" indent="0">
              <a:buNone/>
              <a:defRPr sz="1400"/>
            </a:lvl1pPr>
          </a:lstStyle>
          <a:p>
            <a:pPr lvl="0"/>
            <a:r>
              <a:rPr kumimoji="1" lang="ja-JP" altLang="en-US" sz="1400" dirty="0"/>
              <a:t>株式会社○○御中</a:t>
            </a:r>
            <a:endParaRPr kumimoji="1" lang="ja-JP" altLang="en-US" dirty="0"/>
          </a:p>
        </p:txBody>
      </p:sp>
      <p:sp>
        <p:nvSpPr>
          <p:cNvPr id="24" name="コンテンツ プレースホルダー 23">
            <a:extLst>
              <a:ext uri="{FF2B5EF4-FFF2-40B4-BE49-F238E27FC236}">
                <a16:creationId xmlns:a16="http://schemas.microsoft.com/office/drawing/2014/main" id="{26DEDD0B-3C6A-611D-6667-32248E6723BB}"/>
              </a:ext>
            </a:extLst>
          </p:cNvPr>
          <p:cNvSpPr>
            <a:spLocks noGrp="1"/>
          </p:cNvSpPr>
          <p:nvPr>
            <p:ph sz="quarter" idx="13" hasCustomPrompt="1"/>
          </p:nvPr>
        </p:nvSpPr>
        <p:spPr>
          <a:xfrm>
            <a:off x="4844988" y="3284984"/>
            <a:ext cx="4248472" cy="377825"/>
          </a:xfrm>
          <a:prstGeom prst="rect">
            <a:avLst/>
          </a:prstGeom>
        </p:spPr>
        <p:txBody>
          <a:bodyPr lIns="0" tIns="0" rIns="0" bIns="0"/>
          <a:lstStyle>
            <a:lvl1pPr marL="0" indent="0" algn="r">
              <a:buNone/>
              <a:defRPr sz="2000">
                <a:solidFill>
                  <a:schemeClr val="tx1"/>
                </a:solidFill>
              </a:defRPr>
            </a:lvl1pPr>
          </a:lstStyle>
          <a:p>
            <a:pPr lvl="0"/>
            <a:r>
              <a:rPr kumimoji="1" lang="en-US" altLang="ja-JP" dirty="0"/>
              <a:t>[2023</a:t>
            </a:r>
            <a:r>
              <a:rPr kumimoji="1" lang="ja-JP" altLang="en-US" dirty="0"/>
              <a:t>年</a:t>
            </a:r>
            <a:r>
              <a:rPr kumimoji="1" lang="en-US" altLang="ja-JP" dirty="0"/>
              <a:t>1</a:t>
            </a:r>
            <a:r>
              <a:rPr kumimoji="1" lang="ja-JP" altLang="en-US" dirty="0"/>
              <a:t>月</a:t>
            </a:r>
            <a:r>
              <a:rPr kumimoji="1" lang="en-US" altLang="ja-JP" dirty="0"/>
              <a:t>|</a:t>
            </a:r>
            <a:r>
              <a:rPr kumimoji="1" lang="ja-JP" altLang="en-US" dirty="0"/>
              <a:t>●●</a:t>
            </a:r>
            <a:r>
              <a:rPr kumimoji="1" lang="en-US" altLang="ja-JP" dirty="0"/>
              <a:t>]</a:t>
            </a:r>
            <a:endParaRPr kumimoji="1" lang="ja-JP" altLang="en-US" dirty="0"/>
          </a:p>
        </p:txBody>
      </p:sp>
      <p:sp>
        <p:nvSpPr>
          <p:cNvPr id="25" name="直角三角形 24">
            <a:extLst>
              <a:ext uri="{FF2B5EF4-FFF2-40B4-BE49-F238E27FC236}">
                <a16:creationId xmlns:a16="http://schemas.microsoft.com/office/drawing/2014/main" id="{C07DCF6E-80BB-A3B1-EFFC-0A5E523D816D}"/>
              </a:ext>
            </a:extLst>
          </p:cNvPr>
          <p:cNvSpPr>
            <a:spLocks noChangeAspect="1"/>
          </p:cNvSpPr>
          <p:nvPr userDrawn="1"/>
        </p:nvSpPr>
        <p:spPr bwMode="auto">
          <a:xfrm flipV="1">
            <a:off x="1" y="-38100"/>
            <a:ext cx="956556" cy="5517232"/>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6" name="フリーフォーム: 図形 25">
            <a:extLst>
              <a:ext uri="{FF2B5EF4-FFF2-40B4-BE49-F238E27FC236}">
                <a16:creationId xmlns:a16="http://schemas.microsoft.com/office/drawing/2014/main" id="{679AA8B4-49AB-2B0D-D6CA-7F1CA67F3082}"/>
              </a:ext>
            </a:extLst>
          </p:cNvPr>
          <p:cNvSpPr/>
          <p:nvPr userDrawn="1"/>
        </p:nvSpPr>
        <p:spPr bwMode="auto">
          <a:xfrm rot="571955">
            <a:off x="155374" y="-225881"/>
            <a:ext cx="1664036" cy="7188649"/>
          </a:xfrm>
          <a:custGeom>
            <a:avLst/>
            <a:gdLst>
              <a:gd name="connsiteX0" fmla="*/ 0 w 1664036"/>
              <a:gd name="connsiteY0" fmla="*/ 279437 h 7188649"/>
              <a:gd name="connsiteX1" fmla="*/ 1664036 w 1664036"/>
              <a:gd name="connsiteY1" fmla="*/ 0 h 7188649"/>
              <a:gd name="connsiteX2" fmla="*/ 1664036 w 1664036"/>
              <a:gd name="connsiteY2" fmla="*/ 6982157 h 7188649"/>
              <a:gd name="connsiteX3" fmla="*/ 434387 w 1664036"/>
              <a:gd name="connsiteY3" fmla="*/ 7188649 h 7188649"/>
              <a:gd name="connsiteX4" fmla="*/ 0 w 1664036"/>
              <a:gd name="connsiteY4" fmla="*/ 4601893 h 7188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036" h="7188649">
                <a:moveTo>
                  <a:pt x="0" y="279437"/>
                </a:moveTo>
                <a:lnTo>
                  <a:pt x="1664036" y="0"/>
                </a:lnTo>
                <a:lnTo>
                  <a:pt x="1664036" y="6982157"/>
                </a:lnTo>
                <a:lnTo>
                  <a:pt x="434387" y="7188649"/>
                </a:lnTo>
                <a:lnTo>
                  <a:pt x="0" y="4601893"/>
                </a:lnTo>
                <a:close/>
              </a:path>
            </a:pathLst>
          </a:custGeom>
          <a:blipFill dpi="0" rotWithShape="0">
            <a:blip r:embed="rId2"/>
            <a:srcRect/>
            <a:stretch>
              <a:fillRect/>
            </a:stretch>
          </a:blipFill>
          <a:ln w="6350">
            <a:no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4247044785"/>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260648"/>
            <a:ext cx="6731600" cy="396044"/>
          </a:xfrm>
        </p:spPr>
        <p:txBody>
          <a:bodyPr/>
          <a:lstStyle>
            <a:lvl1pPr>
              <a:defRPr>
                <a:solidFill>
                  <a:schemeClr val="tx2"/>
                </a:solidFill>
              </a:defRPr>
            </a:lvl1pPr>
          </a:lstStyle>
          <a:p>
            <a:r>
              <a:rPr kumimoji="1" lang="ja-JP" altLang="en-US"/>
              <a:t>マスター タイトルの書式設定</a:t>
            </a:r>
            <a:endParaRPr kumimoji="1" lang="ja-JP" altLang="en-US" dirty="0"/>
          </a:p>
        </p:txBody>
      </p:sp>
      <p:sp>
        <p:nvSpPr>
          <p:cNvPr id="9" name="スライド番号プレースホルダー 8">
            <a:extLst>
              <a:ext uri="{FF2B5EF4-FFF2-40B4-BE49-F238E27FC236}">
                <a16:creationId xmlns:a16="http://schemas.microsoft.com/office/drawing/2014/main" id="{3C115E19-4A06-4168-9085-83E789D1633F}"/>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4C117104-2FFB-CFFC-EF91-AE84C26F84D3}"/>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4" name="コンテンツ プレースホルダー 3">
            <a:extLst>
              <a:ext uri="{FF2B5EF4-FFF2-40B4-BE49-F238E27FC236}">
                <a16:creationId xmlns:a16="http://schemas.microsoft.com/office/drawing/2014/main" id="{B8BF0775-25BA-AF6C-65EE-6968A56690FB}"/>
              </a:ext>
            </a:extLst>
          </p:cNvPr>
          <p:cNvSpPr>
            <a:spLocks noGrp="1"/>
          </p:cNvSpPr>
          <p:nvPr>
            <p:ph sz="quarter" idx="12"/>
          </p:nvPr>
        </p:nvSpPr>
        <p:spPr>
          <a:xfrm>
            <a:off x="2361600" y="980728"/>
            <a:ext cx="6731600" cy="5220047"/>
          </a:xfrm>
          <a:prstGeom prst="rect">
            <a:avLst/>
          </a:prstGeom>
        </p:spPr>
        <p:txBody>
          <a:bodyPr lIns="0" tIns="0" rIns="0" bIns="0"/>
          <a:lstStyle>
            <a:lvl1pPr>
              <a:defRPr sz="2400"/>
            </a:lvl1pPr>
            <a:lvl2pPr>
              <a:defRPr sz="2000"/>
            </a:lvl2pPr>
            <a:lvl3pPr>
              <a:defRPr sz="16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879169399"/>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6917F67-28C0-48E8-BB7F-49080353AEF9}"/>
              </a:ext>
            </a:extLst>
          </p:cNvPr>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solidFill>
                <a:schemeClr val="tx2"/>
              </a:solidFill>
            </a:endParaRPr>
          </a:p>
        </p:txBody>
      </p:sp>
      <p:sp>
        <p:nvSpPr>
          <p:cNvPr id="2" name="タイトル 1"/>
          <p:cNvSpPr>
            <a:spLocks noGrp="1"/>
          </p:cNvSpPr>
          <p:nvPr>
            <p:ph type="title"/>
          </p:nvPr>
        </p:nvSpPr>
        <p:spPr>
          <a:xfrm>
            <a:off x="632520" y="2945131"/>
            <a:ext cx="8640960" cy="931738"/>
          </a:xfrm>
          <a:ln w="6350">
            <a:solidFill>
              <a:schemeClr val="tx2"/>
            </a:solidFill>
          </a:ln>
        </p:spPr>
        <p:txBody>
          <a:bodyPr wrap="square" lIns="251999" tIns="251999" rIns="251999" bIns="180000">
            <a:spAutoFit/>
          </a:bodyPr>
          <a:lstStyle>
            <a:lvl1pPr algn="ctr">
              <a:lnSpc>
                <a:spcPct val="120000"/>
              </a:lnSpc>
              <a:defRPr sz="2800" b="0">
                <a:solidFill>
                  <a:schemeClr val="tx2"/>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9FE23E56-ECA0-480D-A109-CBCB7B732C53}"/>
              </a:ext>
            </a:extLst>
          </p:cNvPr>
          <p:cNvSpPr>
            <a:spLocks noGrp="1"/>
          </p:cNvSpPr>
          <p:nvPr>
            <p:ph type="sldNum" sz="quarter" idx="11"/>
          </p:nvPr>
        </p:nvSpPr>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BB87108B-D713-A570-203D-E78C5EEEA99E}"/>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37380658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コンテンツ｜2分割">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4F14F26-7E76-4A9F-8E87-6231A2C21342}"/>
              </a:ext>
            </a:extLst>
          </p:cNvPr>
          <p:cNvSpPr>
            <a:spLocks noGrp="1"/>
          </p:cNvSpPr>
          <p:nvPr>
            <p:ph type="title"/>
          </p:nvPr>
        </p:nvSpPr>
        <p:spPr/>
        <p:txBody>
          <a:bodyPr/>
          <a:lstStyle/>
          <a:p>
            <a:r>
              <a:rPr kumimoji="1" lang="ja-JP" altLang="en-US"/>
              <a:t>マスター タイトルの書式設定</a:t>
            </a:r>
            <a:endParaRPr kumimoji="1" lang="ja-JP" altLang="en-US" dirty="0"/>
          </a:p>
        </p:txBody>
      </p:sp>
      <p:pic>
        <p:nvPicPr>
          <p:cNvPr id="6" name="図 5">
            <a:extLst>
              <a:ext uri="{FF2B5EF4-FFF2-40B4-BE49-F238E27FC236}">
                <a16:creationId xmlns:a16="http://schemas.microsoft.com/office/drawing/2014/main" id="{20CB0AD7-42CB-11AC-1CD0-769B754833F8}"/>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2" name="Rectangle 10">
            <a:extLst>
              <a:ext uri="{FF2B5EF4-FFF2-40B4-BE49-F238E27FC236}">
                <a16:creationId xmlns:a16="http://schemas.microsoft.com/office/drawing/2014/main" id="{EF705E79-4199-09BE-1672-B2D5E16F2DD5}"/>
              </a:ext>
            </a:extLst>
          </p:cNvPr>
          <p:cNvSpPr>
            <a:spLocks noChangeArrowheads="1"/>
          </p:cNvSpPr>
          <p:nvPr userDrawn="1"/>
        </p:nvSpPr>
        <p:spPr bwMode="auto">
          <a:xfrm>
            <a:off x="0" y="637200"/>
            <a:ext cx="9906000" cy="36512"/>
          </a:xfrm>
          <a:prstGeom prst="rect">
            <a:avLst/>
          </a:prstGeom>
          <a:gradFill flip="none" rotWithShape="1">
            <a:gsLst>
              <a:gs pos="0">
                <a:schemeClr val="bg1"/>
              </a:gs>
              <a:gs pos="100000">
                <a:schemeClr val="tx1">
                  <a:lumMod val="20000"/>
                  <a:lumOff val="80000"/>
                </a:schemeClr>
              </a:gs>
            </a:gsLst>
            <a:lin ang="10800000" scaled="1"/>
            <a:tileRect/>
          </a:gradFill>
          <a:ln>
            <a:noFill/>
          </a:ln>
          <a:effectLst/>
        </p:spPr>
        <p:txBody>
          <a:bodyPr wrap="none" lIns="0" tIns="0" rIns="0" bIns="0" anchor="ctr">
            <a:noAutofit/>
          </a:bodyPr>
          <a:lstStyle/>
          <a:p>
            <a:endParaRPr lang="ja-JP" altLang="en-US"/>
          </a:p>
        </p:txBody>
      </p:sp>
      <p:sp>
        <p:nvSpPr>
          <p:cNvPr id="13" name="スライド番号プレースホルダー 3">
            <a:extLst>
              <a:ext uri="{FF2B5EF4-FFF2-40B4-BE49-F238E27FC236}">
                <a16:creationId xmlns:a16="http://schemas.microsoft.com/office/drawing/2014/main" id="{FD0A9110-E32A-9AB7-79B7-D56A1F779EF2}"/>
              </a:ext>
            </a:extLst>
          </p:cNvPr>
          <p:cNvSpPr>
            <a:spLocks noGrp="1"/>
          </p:cNvSpPr>
          <p:nvPr>
            <p:ph type="sldNum" sz="quarter" idx="11"/>
          </p:nvPr>
        </p:nvSpPr>
        <p:spPr>
          <a:xfrm>
            <a:off x="9273480" y="6592267"/>
            <a:ext cx="475196" cy="257113"/>
          </a:xfrm>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sp>
        <p:nvSpPr>
          <p:cNvPr id="3" name="コンテンツ プレースホルダー 2">
            <a:extLst>
              <a:ext uri="{FF2B5EF4-FFF2-40B4-BE49-F238E27FC236}">
                <a16:creationId xmlns:a16="http://schemas.microsoft.com/office/drawing/2014/main" id="{46C14D5C-85CB-0582-4269-F4DC1DA5DB76}"/>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4" name="コンテンツ プレースホルダー 2">
            <a:extLst>
              <a:ext uri="{FF2B5EF4-FFF2-40B4-BE49-F238E27FC236}">
                <a16:creationId xmlns:a16="http://schemas.microsoft.com/office/drawing/2014/main" id="{86C182F9-F470-1D04-8D24-4E8D0EE721A1}"/>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7" name="コンテンツ プレースホルダー 2">
            <a:extLst>
              <a:ext uri="{FF2B5EF4-FFF2-40B4-BE49-F238E27FC236}">
                <a16:creationId xmlns:a16="http://schemas.microsoft.com/office/drawing/2014/main" id="{695EDDA9-59FF-5620-B880-3C7EE9607AC2}"/>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303344744"/>
      </p:ext>
    </p:extLst>
  </p:cSld>
  <p:clrMapOvr>
    <a:masterClrMapping/>
  </p:clrMapOvr>
  <p:extLst>
    <p:ext uri="{DCECCB84-F9BA-43D5-87BE-67443E8EF086}">
      <p15:sldGuideLst xmlns:p15="http://schemas.microsoft.com/office/powerpoint/2012/main">
        <p15:guide id="1" pos="2939" userDrawn="1">
          <p15:clr>
            <a:srgbClr val="FBAE40"/>
          </p15:clr>
        </p15:guide>
        <p15:guide id="3" pos="330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コンテンツ｜3分割">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b="0"/>
            </a:lvl1pPr>
          </a:lstStyle>
          <a:p>
            <a:r>
              <a:rPr kumimoji="1" lang="ja-JP" altLang="en-US"/>
              <a:t>マスター タイトルの書式設定</a:t>
            </a:r>
            <a:endParaRPr kumimoji="1" lang="ja-JP" altLang="en-US" dirty="0"/>
          </a:p>
        </p:txBody>
      </p:sp>
      <p:sp>
        <p:nvSpPr>
          <p:cNvPr id="7" name="Rectangle 10"/>
          <p:cNvSpPr>
            <a:spLocks noChangeArrowheads="1"/>
          </p:cNvSpPr>
          <p:nvPr userDrawn="1"/>
        </p:nvSpPr>
        <p:spPr bwMode="auto">
          <a:xfrm>
            <a:off x="0" y="637200"/>
            <a:ext cx="9906000" cy="36512"/>
          </a:xfrm>
          <a:prstGeom prst="rect">
            <a:avLst/>
          </a:prstGeom>
          <a:gradFill flip="none" rotWithShape="1">
            <a:gsLst>
              <a:gs pos="0">
                <a:schemeClr val="bg1"/>
              </a:gs>
              <a:gs pos="100000">
                <a:schemeClr val="tx1">
                  <a:lumMod val="20000"/>
                  <a:lumOff val="80000"/>
                </a:schemeClr>
              </a:gs>
            </a:gsLst>
            <a:lin ang="10800000" scaled="1"/>
            <a:tileRect/>
          </a:gradFill>
          <a:ln>
            <a:noFill/>
          </a:ln>
          <a:effectLst/>
        </p:spPr>
        <p:txBody>
          <a:bodyPr wrap="none" lIns="0" tIns="0" rIns="0" bIns="0" anchor="ctr">
            <a:noAutofit/>
          </a:bodyPr>
          <a:lstStyle/>
          <a:p>
            <a:endParaRPr lang="ja-JP" altLang="en-US"/>
          </a:p>
        </p:txBody>
      </p:sp>
      <p:pic>
        <p:nvPicPr>
          <p:cNvPr id="5" name="図 4">
            <a:extLst>
              <a:ext uri="{FF2B5EF4-FFF2-40B4-BE49-F238E27FC236}">
                <a16:creationId xmlns:a16="http://schemas.microsoft.com/office/drawing/2014/main" id="{630A8EA5-2247-B4E6-3B8E-EBD21739794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6" name="スライド番号プレースホルダー 3">
            <a:extLst>
              <a:ext uri="{FF2B5EF4-FFF2-40B4-BE49-F238E27FC236}">
                <a16:creationId xmlns:a16="http://schemas.microsoft.com/office/drawing/2014/main" id="{4C15BCFE-0A21-10C1-B481-C3D8B9C605BE}"/>
              </a:ext>
            </a:extLst>
          </p:cNvPr>
          <p:cNvSpPr>
            <a:spLocks noGrp="1"/>
          </p:cNvSpPr>
          <p:nvPr>
            <p:ph type="sldNum" sz="quarter" idx="11"/>
          </p:nvPr>
        </p:nvSpPr>
        <p:spPr>
          <a:xfrm>
            <a:off x="9273480" y="6592267"/>
            <a:ext cx="475196" cy="257113"/>
          </a:xfrm>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sp>
        <p:nvSpPr>
          <p:cNvPr id="3" name="コンテンツ プレースホルダー 2">
            <a:extLst>
              <a:ext uri="{FF2B5EF4-FFF2-40B4-BE49-F238E27FC236}">
                <a16:creationId xmlns:a16="http://schemas.microsoft.com/office/drawing/2014/main" id="{15E600E0-667B-20D9-8D2C-3FE58D3A0D5E}"/>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4" name="コンテンツ プレースホルダー 2">
            <a:extLst>
              <a:ext uri="{FF2B5EF4-FFF2-40B4-BE49-F238E27FC236}">
                <a16:creationId xmlns:a16="http://schemas.microsoft.com/office/drawing/2014/main" id="{86432583-3816-E00D-5890-3F595C563C1A}"/>
              </a:ext>
            </a:extLst>
          </p:cNvPr>
          <p:cNvSpPr>
            <a:spLocks noGrp="1"/>
          </p:cNvSpPr>
          <p:nvPr>
            <p:ph sz="quarter" idx="13" hasCustomPrompt="1"/>
          </p:nvPr>
        </p:nvSpPr>
        <p:spPr>
          <a:xfrm>
            <a:off x="812800" y="2090941"/>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8" name="コンテンツ プレースホルダー 2">
            <a:extLst>
              <a:ext uri="{FF2B5EF4-FFF2-40B4-BE49-F238E27FC236}">
                <a16:creationId xmlns:a16="http://schemas.microsoft.com/office/drawing/2014/main" id="{294A5976-A62C-5732-87D3-323401BD62B7}"/>
              </a:ext>
            </a:extLst>
          </p:cNvPr>
          <p:cNvSpPr>
            <a:spLocks noGrp="1"/>
          </p:cNvSpPr>
          <p:nvPr>
            <p:ph sz="quarter" idx="14" hasCustomPrompt="1"/>
          </p:nvPr>
        </p:nvSpPr>
        <p:spPr>
          <a:xfrm>
            <a:off x="3692861" y="2087671"/>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9" name="コンテンツ プレースホルダー 2">
            <a:extLst>
              <a:ext uri="{FF2B5EF4-FFF2-40B4-BE49-F238E27FC236}">
                <a16:creationId xmlns:a16="http://schemas.microsoft.com/office/drawing/2014/main" id="{FBD0BABB-9E9C-2284-63D6-81E85622DE9B}"/>
              </a:ext>
            </a:extLst>
          </p:cNvPr>
          <p:cNvSpPr>
            <a:spLocks noGrp="1"/>
          </p:cNvSpPr>
          <p:nvPr>
            <p:ph sz="quarter" idx="15" hasCustomPrompt="1"/>
          </p:nvPr>
        </p:nvSpPr>
        <p:spPr>
          <a:xfrm>
            <a:off x="6572922" y="2091475"/>
            <a:ext cx="2519364" cy="4109833"/>
          </a:xfrm>
          <a:prstGeom prst="rect">
            <a:avLst/>
          </a:prstGeom>
        </p:spPr>
        <p:txBody>
          <a:bodyPr lIns="0" tIns="0" rIns="0" bIns="0"/>
          <a:lstStyle>
            <a:lvl1pPr marL="0" indent="0" algn="just">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1834514597"/>
      </p:ext>
    </p:extLst>
  </p:cSld>
  <p:clrMapOvr>
    <a:masterClrMapping/>
  </p:clrMapOvr>
  <p:extLst>
    <p:ext uri="{DCECCB84-F9BA-43D5-87BE-67443E8EF086}">
      <p15:sldGuideLst xmlns:p15="http://schemas.microsoft.com/office/powerpoint/2012/main">
        <p15:guide id="1" pos="2099" userDrawn="1">
          <p15:clr>
            <a:srgbClr val="FBAE40"/>
          </p15:clr>
        </p15:guide>
        <p15:guide id="2" pos="4141" userDrawn="1">
          <p15:clr>
            <a:srgbClr val="FBAE40"/>
          </p15:clr>
        </p15:guide>
        <p15:guide id="3" pos="2326" userDrawn="1">
          <p15:clr>
            <a:srgbClr val="FBAE40"/>
          </p15:clr>
        </p15:guide>
        <p15:guide id="4" pos="391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情報#1">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8" name="角丸四角形 7"/>
          <p:cNvSpPr/>
          <p:nvPr userDrawn="1"/>
        </p:nvSpPr>
        <p:spPr bwMode="auto">
          <a:xfrm>
            <a:off x="-1091" y="533"/>
            <a:ext cx="9906000" cy="656692"/>
          </a:xfrm>
          <a:prstGeom prst="roundRect">
            <a:avLst>
              <a:gd name="adj" fmla="val 0"/>
            </a:avLst>
          </a:prstGeom>
          <a:solidFill>
            <a:schemeClr val="tx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chemeClr val="bg1"/>
              </a:solidFill>
              <a:latin typeface="メイリオ" pitchFamily="50" charset="-128"/>
              <a:ea typeface="メイリオ" pitchFamily="50" charset="-128"/>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bg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1" name="コンテンツ プレースホルダー 2">
            <a:extLst>
              <a:ext uri="{FF2B5EF4-FFF2-40B4-BE49-F238E27FC236}">
                <a16:creationId xmlns:a16="http://schemas.microsoft.com/office/drawing/2014/main" id="{DFCA3C18-AD90-1714-5A87-994592D87959}"/>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2" name="コンテンツ プレースホルダー 2">
            <a:extLst>
              <a:ext uri="{FF2B5EF4-FFF2-40B4-BE49-F238E27FC236}">
                <a16:creationId xmlns:a16="http://schemas.microsoft.com/office/drawing/2014/main" id="{BE49BCD3-173B-6AF4-ED19-7C3E0B611710}"/>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3" name="コンテンツ プレースホルダー 2">
            <a:extLst>
              <a:ext uri="{FF2B5EF4-FFF2-40B4-BE49-F238E27FC236}">
                <a16:creationId xmlns:a16="http://schemas.microsoft.com/office/drawing/2014/main" id="{5147BF5B-0834-8563-9727-C3B989AC1C4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239422761"/>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補足情報#2">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8" name="角丸四角形 7"/>
          <p:cNvSpPr/>
          <p:nvPr userDrawn="1"/>
        </p:nvSpPr>
        <p:spPr bwMode="auto">
          <a:xfrm>
            <a:off x="-1091" y="533"/>
            <a:ext cx="9906000" cy="656692"/>
          </a:xfrm>
          <a:prstGeom prst="roundRect">
            <a:avLst>
              <a:gd name="adj" fmla="val 0"/>
            </a:avLst>
          </a:prstGeom>
          <a:gradFill>
            <a:gsLst>
              <a:gs pos="58000">
                <a:srgbClr val="939393"/>
              </a:gs>
              <a:gs pos="0">
                <a:schemeClr val="tx1"/>
              </a:gs>
              <a:gs pos="84000">
                <a:schemeClr val="bg1">
                  <a:lumMod val="95000"/>
                </a:schemeClr>
              </a:gs>
            </a:gsLst>
            <a:lin ang="0" scaled="0"/>
          </a:gra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chemeClr val="bg1"/>
              </a:solidFill>
              <a:latin typeface="メイリオ" pitchFamily="50" charset="-128"/>
              <a:ea typeface="メイリオ" pitchFamily="50" charset="-128"/>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bg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sp>
        <p:nvSpPr>
          <p:cNvPr id="10" name="コンテンツ プレースホルダー 2">
            <a:extLst>
              <a:ext uri="{FF2B5EF4-FFF2-40B4-BE49-F238E27FC236}">
                <a16:creationId xmlns:a16="http://schemas.microsoft.com/office/drawing/2014/main" id="{C6243A7B-24CB-AA6A-B191-FC092E9896AC}"/>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1" name="コンテンツ プレースホルダー 2">
            <a:extLst>
              <a:ext uri="{FF2B5EF4-FFF2-40B4-BE49-F238E27FC236}">
                <a16:creationId xmlns:a16="http://schemas.microsoft.com/office/drawing/2014/main" id="{58C297C7-6D2B-EC32-37F8-32B8B042D574}"/>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2" name="コンテンツ プレースホルダー 2">
            <a:extLst>
              <a:ext uri="{FF2B5EF4-FFF2-40B4-BE49-F238E27FC236}">
                <a16:creationId xmlns:a16="http://schemas.microsoft.com/office/drawing/2014/main" id="{8CC88F29-ABF7-657C-AEF4-963FCBCF486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2143997885"/>
      </p:ext>
    </p:extLst>
  </p:cSld>
  <p:clrMapOvr>
    <a:masterClrMapping/>
  </p:clrMapOvr>
  <p:extLst>
    <p:ext uri="{DCECCB84-F9BA-43D5-87BE-67443E8EF086}">
      <p15:sldGuideLst xmlns:p15="http://schemas.microsoft.com/office/powerpoint/2012/main">
        <p15:guide id="1" pos="2939">
          <p15:clr>
            <a:srgbClr val="FBAE40"/>
          </p15:clr>
        </p15:guide>
        <p15:guide id="2" pos="330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補足情報#3">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C64FBF5E-C770-46F9-8FA5-93B1BC7527FB}"/>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3" name="スライド番号プレースホルダー 2">
            <a:extLst>
              <a:ext uri="{FF2B5EF4-FFF2-40B4-BE49-F238E27FC236}">
                <a16:creationId xmlns:a16="http://schemas.microsoft.com/office/drawing/2014/main" id="{9F1C951F-BA74-48A8-9AB1-3CCF4BE05828}"/>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sp>
        <p:nvSpPr>
          <p:cNvPr id="5" name="タイトル 4">
            <a:extLst>
              <a:ext uri="{FF2B5EF4-FFF2-40B4-BE49-F238E27FC236}">
                <a16:creationId xmlns:a16="http://schemas.microsoft.com/office/drawing/2014/main" id="{8FAE7443-55FC-4497-A461-3BAFA4281456}"/>
              </a:ext>
            </a:extLst>
          </p:cNvPr>
          <p:cNvSpPr>
            <a:spLocks noGrp="1"/>
          </p:cNvSpPr>
          <p:nvPr>
            <p:ph type="title"/>
          </p:nvPr>
        </p:nvSpPr>
        <p:spPr bwMode="gray"/>
        <p:txBody>
          <a:bodyPr/>
          <a:lstStyle>
            <a:lvl1pPr>
              <a:defRPr>
                <a:solidFill>
                  <a:schemeClr val="tx1"/>
                </a:solidFill>
              </a:defRPr>
            </a:lvl1pPr>
          </a:lstStyle>
          <a:p>
            <a:r>
              <a:rPr kumimoji="1" lang="ja-JP" altLang="en-US"/>
              <a:t>マスター タイトルの書式設定</a:t>
            </a:r>
            <a:endParaRPr kumimoji="1" lang="ja-JP" altLang="en-US" dirty="0"/>
          </a:p>
        </p:txBody>
      </p:sp>
      <p:pic>
        <p:nvPicPr>
          <p:cNvPr id="4" name="図 3">
            <a:extLst>
              <a:ext uri="{FF2B5EF4-FFF2-40B4-BE49-F238E27FC236}">
                <a16:creationId xmlns:a16="http://schemas.microsoft.com/office/drawing/2014/main" id="{8429BAD1-8518-E73B-8973-32BDC01BCDF9}"/>
              </a:ext>
            </a:extLst>
          </p:cNvPr>
          <p:cNvPicPr>
            <a:picLocks noChangeAspect="1"/>
          </p:cNvPicPr>
          <p:nvPr userDrawn="1"/>
        </p:nvPicPr>
        <p:blipFill>
          <a:blip r:embed="rId2"/>
          <a:stretch>
            <a:fillRect/>
          </a:stretch>
        </p:blipFill>
        <p:spPr>
          <a:xfrm>
            <a:off x="9002448" y="6656400"/>
            <a:ext cx="470055" cy="97928"/>
          </a:xfrm>
          <a:prstGeom prst="rect">
            <a:avLst/>
          </a:prstGeom>
        </p:spPr>
      </p:pic>
      <p:cxnSp>
        <p:nvCxnSpPr>
          <p:cNvPr id="7" name="直線コネクタ 6">
            <a:extLst>
              <a:ext uri="{FF2B5EF4-FFF2-40B4-BE49-F238E27FC236}">
                <a16:creationId xmlns:a16="http://schemas.microsoft.com/office/drawing/2014/main" id="{CFAC4EFF-9D0F-FD31-4B10-9C8A000FAD71}"/>
              </a:ext>
            </a:extLst>
          </p:cNvPr>
          <p:cNvCxnSpPr/>
          <p:nvPr userDrawn="1"/>
        </p:nvCxnSpPr>
        <p:spPr>
          <a:xfrm>
            <a:off x="0" y="657225"/>
            <a:ext cx="9906000" cy="0"/>
          </a:xfrm>
          <a:prstGeom prst="line">
            <a:avLst/>
          </a:prstGeom>
          <a:ln w="38100">
            <a:gradFill>
              <a:gsLst>
                <a:gs pos="0">
                  <a:schemeClr val="tx1">
                    <a:lumMod val="60000"/>
                    <a:lumOff val="40000"/>
                  </a:schemeClr>
                </a:gs>
                <a:gs pos="100000">
                  <a:schemeClr val="bg1">
                    <a:lumMod val="9500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2">
            <a:extLst>
              <a:ext uri="{FF2B5EF4-FFF2-40B4-BE49-F238E27FC236}">
                <a16:creationId xmlns:a16="http://schemas.microsoft.com/office/drawing/2014/main" id="{15CDF62D-5C95-F973-46B6-CBD323A426CC}"/>
              </a:ext>
            </a:extLst>
          </p:cNvPr>
          <p:cNvSpPr>
            <a:spLocks noGrp="1"/>
          </p:cNvSpPr>
          <p:nvPr>
            <p:ph sz="quarter" idx="12" hasCustomPrompt="1"/>
          </p:nvPr>
        </p:nvSpPr>
        <p:spPr>
          <a:xfrm>
            <a:off x="812800" y="944724"/>
            <a:ext cx="8280400" cy="647700"/>
          </a:xfrm>
          <a:prstGeom prst="rect">
            <a:avLst/>
          </a:prstGeom>
        </p:spPr>
        <p:txBody>
          <a:bodyPr lIns="0" tIns="0" rIns="0" bIns="0"/>
          <a:lstStyle>
            <a:lvl1pPr marL="0" indent="0" algn="just">
              <a:lnSpc>
                <a:spcPct val="130000"/>
              </a:lnSpc>
              <a:spcBef>
                <a:spcPts val="0"/>
              </a:spcBef>
              <a:spcAft>
                <a:spcPts val="600"/>
              </a:spcAft>
              <a:buNone/>
              <a:defRPr sz="1600" b="1"/>
            </a:lvl1pPr>
          </a:lstStyle>
          <a:p>
            <a:pPr lvl="0"/>
            <a:r>
              <a:rPr kumimoji="1" lang="ja-JP" altLang="en-US" dirty="0"/>
              <a:t>要旨要旨要旨要旨要旨要旨要旨要旨要旨要旨要旨要旨要旨要旨要旨要旨要旨要旨要旨要旨要旨要旨要旨要旨要旨要旨要旨要旨要旨要旨要旨要旨要旨要旨要旨要旨要旨要旨要旨要旨</a:t>
            </a:r>
          </a:p>
        </p:txBody>
      </p:sp>
      <p:sp>
        <p:nvSpPr>
          <p:cNvPr id="11" name="コンテンツ プレースホルダー 2">
            <a:extLst>
              <a:ext uri="{FF2B5EF4-FFF2-40B4-BE49-F238E27FC236}">
                <a16:creationId xmlns:a16="http://schemas.microsoft.com/office/drawing/2014/main" id="{584E1274-5227-3DE2-8A82-45D3814DABB6}"/>
              </a:ext>
            </a:extLst>
          </p:cNvPr>
          <p:cNvSpPr>
            <a:spLocks noGrp="1"/>
          </p:cNvSpPr>
          <p:nvPr>
            <p:ph sz="quarter" idx="13" hasCustomPrompt="1"/>
          </p:nvPr>
        </p:nvSpPr>
        <p:spPr>
          <a:xfrm>
            <a:off x="812799" y="209094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
        <p:nvSpPr>
          <p:cNvPr id="12" name="コンテンツ プレースホルダー 2">
            <a:extLst>
              <a:ext uri="{FF2B5EF4-FFF2-40B4-BE49-F238E27FC236}">
                <a16:creationId xmlns:a16="http://schemas.microsoft.com/office/drawing/2014/main" id="{F7D0B81A-0F5A-DBD2-B496-0A7EDD3EB998}"/>
              </a:ext>
            </a:extLst>
          </p:cNvPr>
          <p:cNvSpPr>
            <a:spLocks noGrp="1"/>
          </p:cNvSpPr>
          <p:nvPr>
            <p:ph sz="quarter" idx="14" hasCustomPrompt="1"/>
          </p:nvPr>
        </p:nvSpPr>
        <p:spPr>
          <a:xfrm>
            <a:off x="5240340" y="2087671"/>
            <a:ext cx="3852863" cy="4109833"/>
          </a:xfrm>
          <a:prstGeom prst="rect">
            <a:avLst/>
          </a:prstGeom>
        </p:spPr>
        <p:txBody>
          <a:bodyPr lIns="0" tIns="0" rIns="0" bIns="0"/>
          <a:lstStyle>
            <a:lvl1pPr marL="0" indent="0">
              <a:lnSpc>
                <a:spcPct val="130000"/>
              </a:lnSpc>
              <a:spcBef>
                <a:spcPts val="0"/>
              </a:spcBef>
              <a:spcAft>
                <a:spcPts val="600"/>
              </a:spcAft>
              <a:buNone/>
              <a:defRPr sz="1200" b="0"/>
            </a:lvl1pPr>
          </a:lstStyle>
          <a:p>
            <a:pPr lvl="0"/>
            <a:r>
              <a:rPr kumimoji="1" lang="ja-JP" altLang="en-US" dirty="0"/>
              <a:t>本文</a:t>
            </a:r>
            <a:endParaRPr kumimoji="1" lang="en-US" altLang="ja-JP" dirty="0"/>
          </a:p>
          <a:p>
            <a:pPr lvl="0"/>
            <a:r>
              <a:rPr kumimoji="1" lang="ja-JP" altLang="en-US" dirty="0"/>
              <a:t>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本文</a:t>
            </a:r>
            <a:endParaRPr kumimoji="1" lang="en-US" altLang="ja-JP" dirty="0"/>
          </a:p>
        </p:txBody>
      </p:sp>
    </p:spTree>
    <p:extLst>
      <p:ext uri="{BB962C8B-B14F-4D97-AF65-F5344CB8AC3E}">
        <p14:creationId xmlns:p14="http://schemas.microsoft.com/office/powerpoint/2010/main" val="715220738"/>
      </p:ext>
    </p:extLst>
  </p:cSld>
  <p:clrMapOvr>
    <a:masterClrMapping/>
  </p:clrMapOvr>
  <p:extLst>
    <p:ext uri="{DCECCB84-F9BA-43D5-87BE-67443E8EF086}">
      <p15:sldGuideLst xmlns:p15="http://schemas.microsoft.com/office/powerpoint/2012/main">
        <p15:guide id="1" pos="2939">
          <p15:clr>
            <a:srgbClr val="FBAE40"/>
          </p15:clr>
        </p15:guide>
        <p15:guide id="2" pos="33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補足情報#4">
    <p:spTree>
      <p:nvGrpSpPr>
        <p:cNvPr id="1" name=""/>
        <p:cNvGrpSpPr/>
        <p:nvPr/>
      </p:nvGrpSpPr>
      <p:grpSpPr>
        <a:xfrm>
          <a:off x="0" y="0"/>
          <a:ext cx="0" cy="0"/>
          <a:chOff x="0" y="0"/>
          <a:chExt cx="0" cy="0"/>
        </a:xfrm>
      </p:grpSpPr>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dirty="0">
              <a:solidFill>
                <a:srgbClr val="4D4D4D"/>
              </a:solidFill>
              <a:latin typeface="メイリオ" pitchFamily="50" charset="-128"/>
              <a:ea typeface="メイリオ" pitchFamily="50" charset="-128"/>
              <a:cs typeface="メイリオ" pitchFamily="50" charset="-128"/>
            </a:endParaRPr>
          </a:p>
        </p:txBody>
      </p:sp>
      <p:sp>
        <p:nvSpPr>
          <p:cNvPr id="3" name="タイトル 2">
            <a:extLst>
              <a:ext uri="{FF2B5EF4-FFF2-40B4-BE49-F238E27FC236}">
                <a16:creationId xmlns:a16="http://schemas.microsoft.com/office/drawing/2014/main" id="{460E26FE-8640-42D6-9E30-14F39D2A7C5F}"/>
              </a:ext>
            </a:extLst>
          </p:cNvPr>
          <p:cNvSpPr>
            <a:spLocks noGrp="1"/>
          </p:cNvSpPr>
          <p:nvPr>
            <p:ph type="title"/>
          </p:nvPr>
        </p:nvSpPr>
        <p:spPr>
          <a:xfrm>
            <a:off x="272480" y="476672"/>
            <a:ext cx="9361040" cy="396044"/>
          </a:xfrm>
        </p:spPr>
        <p:txBody>
          <a:bodyPr/>
          <a:lstStyle>
            <a:lvl1pPr algn="ctr">
              <a:defRPr b="1">
                <a:solidFill>
                  <a:schemeClr val="tx2"/>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5DB1CC17-1C27-D468-648B-12E03683B98F}"/>
              </a:ext>
            </a:extLst>
          </p:cNvPr>
          <p:cNvSpPr>
            <a:spLocks noGrp="1"/>
          </p:cNvSpPr>
          <p:nvPr>
            <p:ph type="sldNum" sz="quarter" idx="11"/>
          </p:nvPr>
        </p:nvSpPr>
        <p:spPr>
          <a:xfrm>
            <a:off x="9220476" y="6525344"/>
            <a:ext cx="475196" cy="257113"/>
          </a:xfrm>
        </p:spPr>
        <p:txBody>
          <a:bodyPr/>
          <a:lstStyle/>
          <a:p>
            <a:fld id="{FB3508C7-2FE0-4945-9CBD-863E05F850D2}" type="slidenum">
              <a:rPr lang="ja-JP" altLang="en-US" smtClean="0"/>
              <a:pPr/>
              <a:t>‹#›</a:t>
            </a:fld>
            <a:endParaRPr lang="ja-JP" altLang="en-US" dirty="0"/>
          </a:p>
        </p:txBody>
      </p:sp>
      <p:pic>
        <p:nvPicPr>
          <p:cNvPr id="7" name="図 6">
            <a:extLst>
              <a:ext uri="{FF2B5EF4-FFF2-40B4-BE49-F238E27FC236}">
                <a16:creationId xmlns:a16="http://schemas.microsoft.com/office/drawing/2014/main" id="{F94982DD-6B1E-F424-D6A1-408432A2AFBE}"/>
              </a:ext>
            </a:extLst>
          </p:cNvPr>
          <p:cNvPicPr>
            <a:picLocks noChangeAspect="1"/>
          </p:cNvPicPr>
          <p:nvPr userDrawn="1"/>
        </p:nvPicPr>
        <p:blipFill>
          <a:blip r:embed="rId2"/>
          <a:stretch>
            <a:fillRect/>
          </a:stretch>
        </p:blipFill>
        <p:spPr>
          <a:xfrm>
            <a:off x="8949444" y="6589477"/>
            <a:ext cx="470055" cy="97928"/>
          </a:xfrm>
          <a:prstGeom prst="rect">
            <a:avLst/>
          </a:prstGeom>
        </p:spPr>
      </p:pic>
      <p:sp>
        <p:nvSpPr>
          <p:cNvPr id="4" name="コンテンツ プレースホルダー 3">
            <a:extLst>
              <a:ext uri="{FF2B5EF4-FFF2-40B4-BE49-F238E27FC236}">
                <a16:creationId xmlns:a16="http://schemas.microsoft.com/office/drawing/2014/main" id="{FF7E9C67-DCF8-A08B-C4AC-D6AC9BB00876}"/>
              </a:ext>
            </a:extLst>
          </p:cNvPr>
          <p:cNvSpPr>
            <a:spLocks noGrp="1"/>
          </p:cNvSpPr>
          <p:nvPr>
            <p:ph sz="quarter" idx="12"/>
          </p:nvPr>
        </p:nvSpPr>
        <p:spPr>
          <a:xfrm>
            <a:off x="812800" y="1268412"/>
            <a:ext cx="8280400" cy="4932363"/>
          </a:xfrm>
          <a:prstGeom prst="rect">
            <a:avLst/>
          </a:prstGeom>
        </p:spPr>
        <p:txBody>
          <a:bodyPr lIns="0" tIns="0" rIns="0" bIns="0"/>
          <a:lstStyle>
            <a:lvl1pPr>
              <a:defRPr sz="1600"/>
            </a:lvl1pPr>
            <a:lvl2pPr>
              <a:defRPr sz="1600"/>
            </a:lvl2pPr>
            <a:lvl3pPr>
              <a:defRPr sz="16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746566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b="0">
                <a:solidFill>
                  <a:schemeClr val="tx1"/>
                </a:solidFill>
              </a:defRPr>
            </a:lvl1pPr>
          </a:lstStyle>
          <a:p>
            <a:r>
              <a:rPr kumimoji="1" lang="ja-JP" altLang="en-US"/>
              <a:t>マスター タイトルの書式設定</a:t>
            </a:r>
            <a:endParaRPr kumimoji="1" lang="ja-JP" altLang="en-US" dirty="0"/>
          </a:p>
        </p:txBody>
      </p:sp>
      <p:sp>
        <p:nvSpPr>
          <p:cNvPr id="6" name="スライド番号プレースホルダー 5">
            <a:extLst>
              <a:ext uri="{FF2B5EF4-FFF2-40B4-BE49-F238E27FC236}">
                <a16:creationId xmlns:a16="http://schemas.microsoft.com/office/drawing/2014/main" id="{32F09B78-2169-4AE6-A062-67BD4752F7B1}"/>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4" name="図 3">
            <a:extLst>
              <a:ext uri="{FF2B5EF4-FFF2-40B4-BE49-F238E27FC236}">
                <a16:creationId xmlns:a16="http://schemas.microsoft.com/office/drawing/2014/main" id="{AC06F8A4-CD0F-A10A-D63F-A8BE7F2BB162}"/>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882502721"/>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ブランク（サブカラー｜無彩色）">
    <p:bg bwMode="gray">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679291F2-06DE-4B18-8093-3A036929E75E}"/>
              </a:ext>
            </a:extLst>
          </p:cNvPr>
          <p:cNvSpPr>
            <a:spLocks noChangeArrowheads="1"/>
          </p:cNvSpPr>
          <p:nvPr userDrawn="1"/>
        </p:nvSpPr>
        <p:spPr bwMode="auto">
          <a:xfrm>
            <a:off x="0" y="0"/>
            <a:ext cx="9906000" cy="6858000"/>
          </a:xfrm>
          <a:prstGeom prst="roundRect">
            <a:avLst>
              <a:gd name="adj" fmla="val 0"/>
            </a:avLst>
          </a:prstGeom>
          <a:solidFill>
            <a:schemeClr val="accent6">
              <a:lumMod val="20000"/>
              <a:lumOff val="80000"/>
            </a:schemeClr>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gray"/>
        <p:txBody>
          <a:bodyPr/>
          <a:lstStyle>
            <a:lvl1pPr>
              <a:lnSpc>
                <a:spcPct val="110000"/>
              </a:lnSpc>
              <a:defRPr b="0">
                <a:solidFill>
                  <a:schemeClr val="tx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F1DB4D35-5440-422D-AEF8-67A843BCE3D2}"/>
              </a:ext>
            </a:extLst>
          </p:cNvPr>
          <p:cNvSpPr>
            <a:spLocks noGrp="1"/>
          </p:cNvSpPr>
          <p:nvPr>
            <p:ph type="sldNum" sz="quarter" idx="11"/>
          </p:nvPr>
        </p:nvSpPr>
        <p:spPr/>
        <p:txBody>
          <a:body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6C171542-B6AD-E87F-2AFE-AA65899BF5EA}"/>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7612003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ブランク（サブカラー｜メイン）">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C0BF4B38-E87B-445A-B4E3-34B6A3FC93AE}"/>
              </a:ext>
            </a:extLst>
          </p:cNvPr>
          <p:cNvSpPr>
            <a:spLocks noChangeArrowheads="1"/>
          </p:cNvSpPr>
          <p:nvPr userDrawn="1"/>
        </p:nvSpPr>
        <p:spPr bwMode="auto">
          <a:xfrm>
            <a:off x="0" y="0"/>
            <a:ext cx="9906000" cy="6858000"/>
          </a:xfrm>
          <a:prstGeom prst="roundRect">
            <a:avLst>
              <a:gd name="adj" fmla="val 0"/>
            </a:avLst>
          </a:prstGeom>
          <a:solidFill>
            <a:schemeClr val="bg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gray"/>
        <p:txBody>
          <a:bodyPr/>
          <a:lstStyle>
            <a:lvl1pPr>
              <a:lnSpc>
                <a:spcPct val="110000"/>
              </a:lnSpc>
              <a:defRPr b="0">
                <a:solidFill>
                  <a:schemeClr val="tx2"/>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9C904497-A7C3-4557-AF5C-60A15B67CA45}"/>
              </a:ext>
            </a:extLst>
          </p:cNvPr>
          <p:cNvSpPr>
            <a:spLocks noGrp="1"/>
          </p:cNvSpPr>
          <p:nvPr>
            <p:ph type="sldNum" sz="quarter" idx="11"/>
          </p:nvPr>
        </p:nvSpPr>
        <p:spPr/>
        <p:txBody>
          <a:bodyPr/>
          <a:lstStyle>
            <a:lvl1pPr>
              <a:defRPr>
                <a:solidFill>
                  <a:schemeClr val="tx2"/>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915F810F-982A-605C-D1E7-8335DE0074B2}"/>
              </a:ext>
            </a:extLst>
          </p:cNvPr>
          <p:cNvPicPr>
            <a:picLocks noChangeAspect="1"/>
          </p:cNvPicPr>
          <p:nvPr userDrawn="1"/>
        </p:nvPicPr>
        <p:blipFill>
          <a:blip r:embed="rId2"/>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205488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ブランク（メインカラー）">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255A006D-B326-46ED-A96C-37080030A215}"/>
              </a:ext>
            </a:extLst>
          </p:cNvPr>
          <p:cNvSpPr>
            <a:spLocks noChangeArrowheads="1"/>
          </p:cNvSpPr>
          <p:nvPr userDrawn="1"/>
        </p:nvSpPr>
        <p:spPr bwMode="auto">
          <a:xfrm>
            <a:off x="0" y="0"/>
            <a:ext cx="9906000" cy="6858000"/>
          </a:xfrm>
          <a:prstGeom prst="roundRect">
            <a:avLst>
              <a:gd name="adj" fmla="val 0"/>
            </a:avLst>
          </a:prstGeom>
          <a:solidFill>
            <a:schemeClr val="tx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EAFA7581-92BD-4129-919D-1C9DD5FA6A1D}"/>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408F6119-7D0F-70A0-03E2-DEFD400DD1D4}"/>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31651364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ブランク（無彩色）">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96A19C9E-39F5-449D-834B-06E292BEE7BA}"/>
              </a:ext>
            </a:extLst>
          </p:cNvPr>
          <p:cNvSpPr>
            <a:spLocks noChangeArrowheads="1"/>
          </p:cNvSpPr>
          <p:nvPr userDrawn="1"/>
        </p:nvSpPr>
        <p:spPr bwMode="auto">
          <a:xfrm>
            <a:off x="0" y="0"/>
            <a:ext cx="9906000" cy="6858000"/>
          </a:xfrm>
          <a:prstGeom prst="roundRect">
            <a:avLst>
              <a:gd name="adj" fmla="val 0"/>
            </a:avLst>
          </a:prstGeom>
          <a:solidFill>
            <a:schemeClr val="tx1"/>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FEE7954D-86AC-47FC-B2DA-8E3331DD553E}"/>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EAF1403C-8939-B785-BDD0-1F16A77122D5}"/>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7849946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ブランク（ブラック）">
    <p:bg>
      <p:bgRef idx="1001">
        <a:schemeClr val="bg1"/>
      </p:bgRef>
    </p:bg>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C631CA94-E670-4184-8DEE-97DE5B8D7154}"/>
              </a:ext>
            </a:extLst>
          </p:cNvPr>
          <p:cNvSpPr>
            <a:spLocks noChangeArrowheads="1"/>
          </p:cNvSpPr>
          <p:nvPr userDrawn="1"/>
        </p:nvSpPr>
        <p:spPr bwMode="auto">
          <a:xfrm>
            <a:off x="0" y="0"/>
            <a:ext cx="9906000" cy="6858000"/>
          </a:xfrm>
          <a:prstGeom prst="roundRect">
            <a:avLst>
              <a:gd name="adj" fmla="val 0"/>
            </a:avLst>
          </a:prstGeom>
          <a:solidFill>
            <a:srgbClr val="000000"/>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title"/>
          </p:nvPr>
        </p:nvSpPr>
        <p:spPr bwMode="white"/>
        <p:txBody>
          <a:bodyPr/>
          <a:lstStyle>
            <a:lvl1pPr>
              <a:lnSpc>
                <a:spcPct val="110000"/>
              </a:lnSpc>
              <a:defRPr b="0">
                <a:solidFill>
                  <a:schemeClr val="bg1"/>
                </a:solidFill>
              </a:defRPr>
            </a:lvl1pPr>
          </a:lstStyle>
          <a:p>
            <a:r>
              <a:rPr kumimoji="1" lang="ja-JP" altLang="en-US"/>
              <a:t>マスター タイトルの書式設定</a:t>
            </a:r>
            <a:endParaRPr kumimoji="1" lang="ja-JP" altLang="en-US" dirty="0"/>
          </a:p>
        </p:txBody>
      </p:sp>
      <p:sp>
        <p:nvSpPr>
          <p:cNvPr id="4" name="スライド番号プレースホルダー 3">
            <a:extLst>
              <a:ext uri="{FF2B5EF4-FFF2-40B4-BE49-F238E27FC236}">
                <a16:creationId xmlns:a16="http://schemas.microsoft.com/office/drawing/2014/main" id="{A9AE46FF-BFA3-4608-8645-0CFDB75A921B}"/>
              </a:ext>
            </a:extLst>
          </p:cNvPr>
          <p:cNvSpPr>
            <a:spLocks noGrp="1"/>
          </p:cNvSpPr>
          <p:nvPr>
            <p:ph type="sldNum" sz="quarter" idx="11"/>
          </p:nvPr>
        </p:nvSpPr>
        <p:spPr bwMode="gray"/>
        <p:txBody>
          <a:bodyPr/>
          <a:lstStyle>
            <a:lvl1pPr>
              <a:defRPr>
                <a:solidFill>
                  <a:schemeClr val="bg1"/>
                </a:solidFill>
              </a:defRPr>
            </a:lvl1pPr>
          </a:lstStyle>
          <a:p>
            <a:fld id="{FB3508C7-2FE0-4945-9CBD-863E05F850D2}" type="slidenum">
              <a:rPr lang="ja-JP" altLang="en-US" smtClean="0"/>
              <a:pPr/>
              <a:t>‹#›</a:t>
            </a:fld>
            <a:endParaRPr lang="ja-JP" altLang="en-US" dirty="0"/>
          </a:p>
        </p:txBody>
      </p:sp>
      <p:pic>
        <p:nvPicPr>
          <p:cNvPr id="5" name="図 4">
            <a:extLst>
              <a:ext uri="{FF2B5EF4-FFF2-40B4-BE49-F238E27FC236}">
                <a16:creationId xmlns:a16="http://schemas.microsoft.com/office/drawing/2014/main" id="{3EC127F0-D8F0-F6E2-D89B-7B05817DC552}"/>
              </a:ext>
            </a:extLst>
          </p:cNvPr>
          <p:cNvPicPr>
            <a:picLocks noChangeAspect="1"/>
          </p:cNvPicPr>
          <p:nvPr userDrawn="1"/>
        </p:nvPicPr>
        <p:blipFill>
          <a:blip r:embed="rId2">
            <a:lum bright="70000" contrast="-70000"/>
          </a:blip>
          <a:stretch>
            <a:fillRect/>
          </a:stretch>
        </p:blipFill>
        <p:spPr>
          <a:xfrm>
            <a:off x="9002448" y="6656400"/>
            <a:ext cx="470055" cy="97928"/>
          </a:xfrm>
          <a:prstGeom prst="rect">
            <a:avLst/>
          </a:prstGeom>
        </p:spPr>
      </p:pic>
    </p:spTree>
    <p:extLst>
      <p:ext uri="{BB962C8B-B14F-4D97-AF65-F5344CB8AC3E}">
        <p14:creationId xmlns:p14="http://schemas.microsoft.com/office/powerpoint/2010/main" val="16859025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裏表紙">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A084C3FB-3B69-4A3B-812C-A06519C2DE4B}"/>
              </a:ext>
            </a:extLst>
          </p:cNvPr>
          <p:cNvSpPr>
            <a:spLocks noChangeArrowheads="1"/>
          </p:cNvSpPr>
          <p:nvPr userDrawn="1"/>
        </p:nvSpPr>
        <p:spPr bwMode="auto">
          <a:xfrm>
            <a:off x="0" y="0"/>
            <a:ext cx="9906000" cy="6858000"/>
          </a:xfrm>
          <a:prstGeom prst="roundRect">
            <a:avLst>
              <a:gd name="adj" fmla="val 0"/>
            </a:avLst>
          </a:prstGeom>
          <a:solidFill>
            <a:schemeClr val="tx2"/>
          </a:solidFill>
          <a:ln>
            <a:noFill/>
          </a:ln>
          <a:effectLst/>
        </p:spPr>
        <p:txBody>
          <a:bodyPr wrap="square" lIns="0" tIns="0" rIns="0" bIns="0" anchor="ctr" anchorCtr="0">
            <a:noAutofit/>
          </a:bodyPr>
          <a:lstStyle/>
          <a:p>
            <a:pPr lvl="0" algn="ctr">
              <a:lnSpc>
                <a:spcPct val="110000"/>
              </a:lnSpc>
              <a:spcBef>
                <a:spcPct val="0"/>
              </a:spcBef>
              <a:spcAft>
                <a:spcPts val="600"/>
              </a:spcAft>
            </a:pPr>
            <a:endParaRPr lang="ja-JP" altLang="en-US" sz="1600" dirty="0">
              <a:solidFill>
                <a:srgbClr val="FFFFFF"/>
              </a:solidFill>
              <a:cs typeface="メイリオ" pitchFamily="50" charset="-128"/>
            </a:endParaRPr>
          </a:p>
        </p:txBody>
      </p:sp>
      <p:sp>
        <p:nvSpPr>
          <p:cNvPr id="2" name="タイトル 1"/>
          <p:cNvSpPr>
            <a:spLocks noGrp="1"/>
          </p:cNvSpPr>
          <p:nvPr>
            <p:ph type="ctrTitle"/>
          </p:nvPr>
        </p:nvSpPr>
        <p:spPr bwMode="gray">
          <a:xfrm>
            <a:off x="812800" y="3104964"/>
            <a:ext cx="8280400" cy="609398"/>
          </a:xfrm>
        </p:spPr>
        <p:txBody>
          <a:bodyPr wrap="square">
            <a:spAutoFit/>
          </a:bodyPr>
          <a:lstStyle>
            <a:lvl1pPr algn="ctr">
              <a:lnSpc>
                <a:spcPct val="110000"/>
              </a:lnSpc>
              <a:defRPr sz="3600" b="1">
                <a:solidFill>
                  <a:schemeClr val="bg1"/>
                </a:solidFill>
              </a:defRPr>
            </a:lvl1pPr>
          </a:lstStyle>
          <a:p>
            <a:r>
              <a:rPr kumimoji="1" lang="ja-JP" altLang="en-US"/>
              <a:t>マスター タイトルの書式設定</a:t>
            </a:r>
            <a:endParaRPr kumimoji="1" lang="ja-JP" altLang="en-US" dirty="0"/>
          </a:p>
        </p:txBody>
      </p:sp>
      <p:sp>
        <p:nvSpPr>
          <p:cNvPr id="3" name="フッター プレースホルダー 2">
            <a:extLst>
              <a:ext uri="{FF2B5EF4-FFF2-40B4-BE49-F238E27FC236}">
                <a16:creationId xmlns:a16="http://schemas.microsoft.com/office/drawing/2014/main" id="{8AA800E9-9428-491D-A5F9-A9F2C743960D}"/>
              </a:ext>
            </a:extLst>
          </p:cNvPr>
          <p:cNvSpPr>
            <a:spLocks noGrp="1"/>
          </p:cNvSpPr>
          <p:nvPr>
            <p:ph type="ftr" sz="quarter" idx="10"/>
          </p:nvPr>
        </p:nvSpPr>
        <p:spPr bwMode="gray"/>
        <p:txBody>
          <a:bodyPr/>
          <a:lstStyle>
            <a:lvl1pPr>
              <a:defRPr>
                <a:solidFill>
                  <a:schemeClr val="bg1">
                    <a:alpha val="0"/>
                  </a:schemeClr>
                </a:solidFill>
              </a:defRPr>
            </a:lvl1pPr>
          </a:lstStyle>
          <a:p>
            <a:r>
              <a:rPr lang="en-US" altLang="ja-JP"/>
              <a:t>© Presentation Design</a:t>
            </a:r>
            <a:endParaRPr lang="ja-JP" altLang="en-US" dirty="0"/>
          </a:p>
        </p:txBody>
      </p:sp>
      <p:sp>
        <p:nvSpPr>
          <p:cNvPr id="5" name="スライド番号プレースホルダー 4">
            <a:extLst>
              <a:ext uri="{FF2B5EF4-FFF2-40B4-BE49-F238E27FC236}">
                <a16:creationId xmlns:a16="http://schemas.microsoft.com/office/drawing/2014/main" id="{D038D84B-9105-4F73-AE15-C61E4E73D234}"/>
              </a:ext>
            </a:extLst>
          </p:cNvPr>
          <p:cNvSpPr>
            <a:spLocks noGrp="1"/>
          </p:cNvSpPr>
          <p:nvPr>
            <p:ph type="sldNum" sz="quarter" idx="11"/>
          </p:nvPr>
        </p:nvSpPr>
        <p:spPr bwMode="gray"/>
        <p:txBody>
          <a:bodyPr/>
          <a:lstStyle>
            <a:lvl1pPr>
              <a:defRPr>
                <a:solidFill>
                  <a:schemeClr val="tx1">
                    <a:alpha val="0"/>
                  </a:schemeClr>
                </a:solidFill>
              </a:defRPr>
            </a:lvl1pPr>
          </a:lstStyle>
          <a:p>
            <a:fld id="{FB3508C7-2FE0-4945-9CBD-863E05F850D2}" type="slidenum">
              <a:rPr lang="ja-JP" altLang="en-US" smtClean="0"/>
              <a:pPr/>
              <a:t>‹#›</a:t>
            </a:fld>
            <a:endParaRPr lang="ja-JP" altLang="en-US" dirty="0"/>
          </a:p>
        </p:txBody>
      </p:sp>
      <p:sp>
        <p:nvSpPr>
          <p:cNvPr id="6" name="直角三角形 5">
            <a:extLst>
              <a:ext uri="{FF2B5EF4-FFF2-40B4-BE49-F238E27FC236}">
                <a16:creationId xmlns:a16="http://schemas.microsoft.com/office/drawing/2014/main" id="{FC4B5ABB-B10F-46C3-9A25-6DCF41106058}"/>
              </a:ext>
            </a:extLst>
          </p:cNvPr>
          <p:cNvSpPr>
            <a:spLocks noChangeAspect="1"/>
          </p:cNvSpPr>
          <p:nvPr userDrawn="1"/>
        </p:nvSpPr>
        <p:spPr bwMode="gray">
          <a:xfrm flipV="1">
            <a:off x="0" y="0"/>
            <a:ext cx="828000" cy="828000"/>
          </a:xfrm>
          <a:prstGeom prst="rtTriangle">
            <a:avLst/>
          </a:prstGeom>
          <a:solidFill>
            <a:schemeClr val="bg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7" name="直角三角形 6">
            <a:extLst>
              <a:ext uri="{FF2B5EF4-FFF2-40B4-BE49-F238E27FC236}">
                <a16:creationId xmlns:a16="http://schemas.microsoft.com/office/drawing/2014/main" id="{4F7DC0A5-82BC-4211-B66A-E9CC83685CDD}"/>
              </a:ext>
            </a:extLst>
          </p:cNvPr>
          <p:cNvSpPr>
            <a:spLocks noChangeAspect="1"/>
          </p:cNvSpPr>
          <p:nvPr userDrawn="1"/>
        </p:nvSpPr>
        <p:spPr bwMode="gray">
          <a:xfrm flipH="1">
            <a:off x="9078000" y="6030000"/>
            <a:ext cx="828000" cy="828000"/>
          </a:xfrm>
          <a:prstGeom prst="rtTriangle">
            <a:avLst/>
          </a:prstGeom>
          <a:solidFill>
            <a:schemeClr val="bg1"/>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264794279"/>
      </p:ext>
    </p:extLst>
  </p:cSld>
  <p:clrMapOvr>
    <a:masterClrMapping/>
  </p:clrMapOvr>
  <p:extLst>
    <p:ext uri="{DCECCB84-F9BA-43D5-87BE-67443E8EF086}">
      <p15:sldGuideLst xmlns:p15="http://schemas.microsoft.com/office/powerpoint/2012/main">
        <p15:guide id="1" pos="2939" userDrawn="1">
          <p15:clr>
            <a:srgbClr val="FBAE40"/>
          </p15:clr>
        </p15:guide>
        <p15:guide id="2" pos="330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CA_お問い合わせ">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824579D-60BA-4112-BF42-441CF0770DA7}"/>
              </a:ext>
            </a:extLst>
          </p:cNvPr>
          <p:cNvSpPr txBox="1"/>
          <p:nvPr userDrawn="1"/>
        </p:nvSpPr>
        <p:spPr>
          <a:xfrm>
            <a:off x="1229246" y="1287194"/>
            <a:ext cx="7863954" cy="2822719"/>
          </a:xfrm>
          <a:prstGeom prst="rect">
            <a:avLst/>
          </a:prstGeom>
        </p:spPr>
        <p:txBody>
          <a:bodyPr vert="horz" wrap="square" lIns="0" tIns="11516" rIns="0" bIns="0" rtlCol="0">
            <a:spAutoFit/>
          </a:bodyPr>
          <a:lstStyle/>
          <a:p>
            <a:pPr marL="16699">
              <a:lnSpc>
                <a:spcPct val="150000"/>
              </a:lnSpc>
              <a:spcBef>
                <a:spcPts val="91"/>
              </a:spcBef>
              <a:tabLst>
                <a:tab pos="8029782" algn="l"/>
              </a:tabLst>
            </a:pPr>
            <a:r>
              <a:rPr lang="ja-JP" altLang="en-US" sz="1179" b="0" u="none" dirty="0">
                <a:solidFill>
                  <a:schemeClr val="tx1">
                    <a:lumMod val="75000"/>
                    <a:lumOff val="25000"/>
                  </a:schemeClr>
                </a:solidFill>
                <a:uFill>
                  <a:solidFill>
                    <a:srgbClr val="295CAA"/>
                  </a:solidFill>
                </a:uFill>
                <a:latin typeface="+mj-ea"/>
                <a:ea typeface="+mj-ea"/>
                <a:cs typeface="Microsoft YaHei"/>
              </a:rPr>
              <a:t>最後に</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この度はご提案の機会を頂きまして、誠にありがとうございました。</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貴社売上げ拡⼤に向け尽⼒させて頂きますので是⾮ご検討頂けますと幸いです。　</a:t>
            </a:r>
          </a:p>
          <a:p>
            <a:pPr marL="16699">
              <a:lnSpc>
                <a:spcPct val="150000"/>
              </a:lnSpc>
              <a:spcBef>
                <a:spcPts val="91"/>
              </a:spcBef>
              <a:tabLst>
                <a:tab pos="8029782" algn="l"/>
              </a:tabLst>
            </a:pPr>
            <a:r>
              <a:rPr lang="ja-JP" altLang="en-US" sz="1088" dirty="0">
                <a:solidFill>
                  <a:schemeClr val="tx1">
                    <a:lumMod val="75000"/>
                    <a:lumOff val="25000"/>
                  </a:schemeClr>
                </a:solidFill>
                <a:latin typeface="+mj-ea"/>
                <a:ea typeface="+mj-ea"/>
                <a:cs typeface="Yu Gothic"/>
              </a:rPr>
              <a:t>今後ともどうぞよろしくお願い致します。</a:t>
            </a:r>
          </a:p>
          <a:p>
            <a:pPr>
              <a:lnSpc>
                <a:spcPct val="150000"/>
              </a:lnSpc>
              <a:spcBef>
                <a:spcPts val="50"/>
              </a:spcBef>
            </a:pPr>
            <a:endParaRPr lang="ja-JP" altLang="en-US" sz="1088" b="1" dirty="0">
              <a:solidFill>
                <a:schemeClr val="tx1">
                  <a:lumMod val="75000"/>
                  <a:lumOff val="25000"/>
                </a:schemeClr>
              </a:solidFill>
              <a:latin typeface="+mj-ea"/>
              <a:ea typeface="+mj-ea"/>
              <a:cs typeface="Microsoft YaHei"/>
            </a:endParaRPr>
          </a:p>
          <a:p>
            <a:pPr>
              <a:lnSpc>
                <a:spcPct val="150000"/>
              </a:lnSpc>
              <a:spcBef>
                <a:spcPts val="50"/>
              </a:spcBef>
            </a:pPr>
            <a:r>
              <a:rPr lang="ja-JP" altLang="en-US" sz="1088" b="1" dirty="0">
                <a:solidFill>
                  <a:srgbClr val="1D2D53"/>
                </a:solidFill>
                <a:latin typeface="+mj-ea"/>
                <a:ea typeface="+mj-ea"/>
                <a:cs typeface="Microsoft YaHei"/>
              </a:rPr>
              <a:t>ひとりひとりがビジネスプロデューサー</a:t>
            </a:r>
            <a:endParaRPr lang="ja-JP" altLang="en-US" sz="1088" b="0" dirty="0">
              <a:solidFill>
                <a:srgbClr val="1D2D53"/>
              </a:solidFill>
              <a:latin typeface="+mj-ea"/>
              <a:ea typeface="+mj-ea"/>
              <a:cs typeface="Times New Roman"/>
            </a:endParaRPr>
          </a:p>
          <a:p>
            <a:pPr>
              <a:lnSpc>
                <a:spcPct val="150000"/>
              </a:lnSpc>
              <a:spcBef>
                <a:spcPts val="50"/>
              </a:spcBef>
            </a:pPr>
            <a:r>
              <a:rPr lang="ja-JP" altLang="en-US" sz="1088" b="1" dirty="0">
                <a:solidFill>
                  <a:srgbClr val="1D2D53"/>
                </a:solidFill>
                <a:latin typeface="+mj-ea"/>
                <a:ea typeface="+mj-ea"/>
                <a:cs typeface="Microsoft YaHei"/>
              </a:rPr>
              <a:t>クライアントとともに、社会に感動を。</a:t>
            </a:r>
          </a:p>
          <a:p>
            <a:pPr>
              <a:lnSpc>
                <a:spcPct val="150000"/>
              </a:lnSpc>
              <a:spcBef>
                <a:spcPts val="50"/>
              </a:spcBef>
            </a:pPr>
            <a:endParaRPr lang="ja-JP" altLang="en-US" sz="1088" b="0" dirty="0">
              <a:solidFill>
                <a:schemeClr val="tx1">
                  <a:lumMod val="75000"/>
                  <a:lumOff val="25000"/>
                </a:schemeClr>
              </a:solidFill>
              <a:latin typeface="+mj-ea"/>
              <a:ea typeface="+mj-ea"/>
              <a:cs typeface="Microsoft YaHei"/>
            </a:endParaRPr>
          </a:p>
          <a:p>
            <a:pPr>
              <a:lnSpc>
                <a:spcPct val="150000"/>
              </a:lnSpc>
              <a:spcBef>
                <a:spcPts val="50"/>
              </a:spcBef>
            </a:pPr>
            <a:r>
              <a:rPr lang="ja-JP" altLang="en-US" sz="1088" b="0" dirty="0">
                <a:solidFill>
                  <a:schemeClr val="tx1">
                    <a:lumMod val="75000"/>
                    <a:lumOff val="25000"/>
                  </a:schemeClr>
                </a:solidFill>
                <a:latin typeface="+mj-ea"/>
                <a:ea typeface="+mj-ea"/>
                <a:cs typeface="Microsoft YaHei"/>
              </a:rPr>
              <a:t>株式会社 ＷＣＡ</a:t>
            </a:r>
            <a:endParaRPr lang="ja-JP" altLang="en-US" sz="1088" b="0" spc="0" dirty="0">
              <a:solidFill>
                <a:schemeClr val="tx1">
                  <a:lumMod val="75000"/>
                  <a:lumOff val="25000"/>
                </a:schemeClr>
              </a:solidFill>
              <a:latin typeface="+mj-ea"/>
              <a:ea typeface="+mj-ea"/>
              <a:cs typeface="Microsoft YaHei"/>
            </a:endParaRPr>
          </a:p>
          <a:p>
            <a:pPr>
              <a:lnSpc>
                <a:spcPct val="150000"/>
              </a:lnSpc>
              <a:spcBef>
                <a:spcPts val="50"/>
              </a:spcBef>
            </a:pPr>
            <a:r>
              <a:rPr lang="ja-JP" altLang="en-US" sz="907" spc="23" dirty="0">
                <a:solidFill>
                  <a:schemeClr val="tx1">
                    <a:lumMod val="75000"/>
                    <a:lumOff val="25000"/>
                  </a:schemeClr>
                </a:solidFill>
                <a:latin typeface="+mj-ea"/>
                <a:ea typeface="+mj-ea"/>
                <a:cs typeface="Yu Gothic"/>
              </a:rPr>
              <a:t>〒</a:t>
            </a:r>
            <a:r>
              <a:rPr lang="en-US" altLang="ja-JP" sz="907" spc="9" dirty="0">
                <a:solidFill>
                  <a:schemeClr val="tx1">
                    <a:lumMod val="75000"/>
                    <a:lumOff val="25000"/>
                  </a:schemeClr>
                </a:solidFill>
                <a:latin typeface="+mj-ea"/>
                <a:ea typeface="+mj-ea"/>
                <a:cs typeface="Yu Gothic"/>
              </a:rPr>
              <a:t>105-0001</a:t>
            </a:r>
            <a:r>
              <a:rPr lang="ja-JP" altLang="en-US" sz="907" spc="9" dirty="0">
                <a:solidFill>
                  <a:schemeClr val="tx1">
                    <a:lumMod val="75000"/>
                    <a:lumOff val="25000"/>
                  </a:schemeClr>
                </a:solidFill>
                <a:latin typeface="+mj-ea"/>
                <a:ea typeface="+mj-ea"/>
                <a:cs typeface="Yu Gothic"/>
              </a:rPr>
              <a:t>　</a:t>
            </a:r>
            <a:r>
              <a:rPr lang="ja-JP" altLang="en-US" sz="907" spc="23" dirty="0">
                <a:solidFill>
                  <a:schemeClr val="tx1">
                    <a:lumMod val="75000"/>
                    <a:lumOff val="25000"/>
                  </a:schemeClr>
                </a:solidFill>
                <a:latin typeface="+mj-ea"/>
                <a:ea typeface="+mj-ea"/>
                <a:cs typeface="Yu Gothic"/>
              </a:rPr>
              <a:t>東京都港区虎ノ門一丁目１４番１号郵政琴平ビル４階</a:t>
            </a:r>
            <a:br>
              <a:rPr lang="en-US" altLang="ja-JP" sz="907" spc="23" dirty="0">
                <a:solidFill>
                  <a:schemeClr val="tx1">
                    <a:lumMod val="75000"/>
                    <a:lumOff val="25000"/>
                  </a:schemeClr>
                </a:solidFill>
                <a:latin typeface="+mj-ea"/>
                <a:ea typeface="+mj-ea"/>
                <a:cs typeface="Yu Gothic"/>
              </a:rPr>
            </a:br>
            <a:r>
              <a:rPr lang="en-US" altLang="ja-JP" sz="907" spc="27" dirty="0">
                <a:solidFill>
                  <a:schemeClr val="tx1">
                    <a:lumMod val="75000"/>
                    <a:lumOff val="25000"/>
                  </a:schemeClr>
                </a:solidFill>
                <a:latin typeface="+mj-ea"/>
                <a:ea typeface="+mj-ea"/>
                <a:cs typeface="Yu Gothic"/>
              </a:rPr>
              <a:t>TEL︓03-6161-3100</a:t>
            </a:r>
            <a:r>
              <a:rPr lang="ja-JP" altLang="en-US" sz="907" spc="27" dirty="0">
                <a:solidFill>
                  <a:schemeClr val="tx1">
                    <a:lumMod val="75000"/>
                    <a:lumOff val="25000"/>
                  </a:schemeClr>
                </a:solidFill>
                <a:latin typeface="+mj-ea"/>
                <a:ea typeface="+mj-ea"/>
                <a:cs typeface="Yu Gothic"/>
              </a:rPr>
              <a:t>　</a:t>
            </a:r>
            <a:r>
              <a:rPr lang="en-US" altLang="ja-JP" sz="907" spc="36" dirty="0">
                <a:solidFill>
                  <a:schemeClr val="tx1">
                    <a:lumMod val="75000"/>
                    <a:lumOff val="25000"/>
                  </a:schemeClr>
                </a:solidFill>
                <a:latin typeface="+mj-ea"/>
                <a:ea typeface="+mj-ea"/>
                <a:cs typeface="Yu Gothic"/>
              </a:rPr>
              <a:t>FAX</a:t>
            </a:r>
            <a:r>
              <a:rPr lang="ja-JP" altLang="en-US" sz="907" spc="36" dirty="0">
                <a:solidFill>
                  <a:schemeClr val="tx1">
                    <a:lumMod val="75000"/>
                    <a:lumOff val="25000"/>
                  </a:schemeClr>
                </a:solidFill>
                <a:latin typeface="+mj-ea"/>
                <a:ea typeface="+mj-ea"/>
                <a:cs typeface="Yu Gothic"/>
              </a:rPr>
              <a:t>：</a:t>
            </a:r>
            <a:r>
              <a:rPr lang="en-US" altLang="ja-JP" sz="907" spc="36" dirty="0">
                <a:solidFill>
                  <a:schemeClr val="tx1">
                    <a:lumMod val="75000"/>
                    <a:lumOff val="25000"/>
                  </a:schemeClr>
                </a:solidFill>
                <a:latin typeface="+mj-ea"/>
                <a:ea typeface="+mj-ea"/>
                <a:cs typeface="Yu Gothic"/>
              </a:rPr>
              <a:t>03-6555-2534</a:t>
            </a:r>
            <a:r>
              <a:rPr lang="ja-JP" altLang="en-US" sz="907" spc="36" dirty="0">
                <a:solidFill>
                  <a:schemeClr val="tx1">
                    <a:lumMod val="75000"/>
                    <a:lumOff val="25000"/>
                  </a:schemeClr>
                </a:solidFill>
                <a:latin typeface="+mj-ea"/>
                <a:ea typeface="+mj-ea"/>
                <a:cs typeface="Yu Gothic"/>
              </a:rPr>
              <a:t>　</a:t>
            </a:r>
            <a:r>
              <a:rPr lang="en-US" altLang="ja-JP" sz="907" u="none" spc="23" dirty="0">
                <a:solidFill>
                  <a:schemeClr val="tx1">
                    <a:lumMod val="75000"/>
                    <a:lumOff val="25000"/>
                  </a:schemeClr>
                </a:solidFill>
                <a:latin typeface="+mj-ea"/>
                <a:ea typeface="+mj-ea"/>
                <a:cs typeface="Yu Gothic"/>
              </a:rPr>
              <a:t>URL</a:t>
            </a:r>
            <a:r>
              <a:rPr lang="ja-JP" altLang="en-US" sz="907" u="none" spc="23" dirty="0">
                <a:solidFill>
                  <a:schemeClr val="tx1">
                    <a:lumMod val="75000"/>
                    <a:lumOff val="25000"/>
                  </a:schemeClr>
                </a:solidFill>
                <a:latin typeface="+mj-ea"/>
                <a:ea typeface="+mj-ea"/>
                <a:cs typeface="Yu Gothic"/>
              </a:rPr>
              <a:t>：</a:t>
            </a:r>
            <a:r>
              <a:rPr lang="en-US" altLang="ja-JP" sz="907" u="sng" spc="23" dirty="0">
                <a:solidFill>
                  <a:schemeClr val="tx1">
                    <a:lumMod val="75000"/>
                    <a:lumOff val="25000"/>
                  </a:schemeClr>
                </a:solidFill>
                <a:latin typeface="+mj-ea"/>
                <a:ea typeface="+mj-ea"/>
                <a:cs typeface="Yu Gothic"/>
              </a:rPr>
              <a:t>https://www.wca.co.jp/</a:t>
            </a:r>
            <a:endParaRPr lang="ja-JP" altLang="en-US" sz="907" u="sng" dirty="0">
              <a:solidFill>
                <a:schemeClr val="tx1">
                  <a:lumMod val="75000"/>
                  <a:lumOff val="25000"/>
                </a:schemeClr>
              </a:solidFill>
              <a:latin typeface="+mj-ea"/>
              <a:ea typeface="+mj-ea"/>
              <a:cs typeface="Yu Gothic"/>
            </a:endParaRPr>
          </a:p>
        </p:txBody>
      </p:sp>
      <p:sp>
        <p:nvSpPr>
          <p:cNvPr id="12" name="object 40">
            <a:extLst>
              <a:ext uri="{FF2B5EF4-FFF2-40B4-BE49-F238E27FC236}">
                <a16:creationId xmlns:a16="http://schemas.microsoft.com/office/drawing/2014/main" id="{FCC217E0-4F85-4C54-B74B-C7E0364DF4EB}"/>
              </a:ext>
            </a:extLst>
          </p:cNvPr>
          <p:cNvSpPr txBox="1"/>
          <p:nvPr userDrawn="1"/>
        </p:nvSpPr>
        <p:spPr>
          <a:xfrm>
            <a:off x="1239285" y="5108743"/>
            <a:ext cx="6203635" cy="1092565"/>
          </a:xfrm>
          <a:prstGeom prst="rect">
            <a:avLst/>
          </a:prstGeom>
        </p:spPr>
        <p:txBody>
          <a:bodyPr vert="horz" wrap="square" lIns="0" tIns="11516" rIns="0" bIns="0" rtlCol="0">
            <a:spAutoFit/>
          </a:bodyPr>
          <a:lstStyle/>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会社名</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sz="907" b="0" spc="-54" dirty="0">
                <a:solidFill>
                  <a:schemeClr val="tx1">
                    <a:lumMod val="75000"/>
                    <a:lumOff val="25000"/>
                  </a:schemeClr>
                </a:solidFill>
                <a:latin typeface="+mn-ea"/>
                <a:ea typeface="+mn-ea"/>
                <a:cs typeface="Microsoft YaHei"/>
              </a:rPr>
              <a:t> </a:t>
            </a:r>
            <a:r>
              <a:rPr lang="en-US" altLang="ja-JP" sz="907" b="0" spc="-54" dirty="0">
                <a:solidFill>
                  <a:schemeClr val="tx1">
                    <a:lumMod val="75000"/>
                    <a:lumOff val="25000"/>
                  </a:schemeClr>
                </a:solidFill>
                <a:latin typeface="+mn-ea"/>
                <a:ea typeface="+mn-ea"/>
                <a:cs typeface="Microsoft YaHei"/>
              </a:rPr>
              <a:t> </a:t>
            </a:r>
            <a:r>
              <a:rPr sz="907" b="0" dirty="0" err="1">
                <a:solidFill>
                  <a:schemeClr val="tx1">
                    <a:lumMod val="75000"/>
                    <a:lumOff val="25000"/>
                  </a:schemeClr>
                </a:solidFill>
                <a:latin typeface="+mn-ea"/>
                <a:ea typeface="+mn-ea"/>
                <a:cs typeface="Microsoft YaHei"/>
              </a:rPr>
              <a:t>株式会社</a:t>
            </a:r>
            <a:r>
              <a:rPr lang="ja-JP" altLang="en-US" sz="907" b="0" dirty="0">
                <a:solidFill>
                  <a:schemeClr val="tx1">
                    <a:lumMod val="75000"/>
                    <a:lumOff val="25000"/>
                  </a:schemeClr>
                </a:solidFill>
                <a:latin typeface="+mn-ea"/>
                <a:ea typeface="+mn-ea"/>
                <a:cs typeface="Microsoft YaHei"/>
              </a:rPr>
              <a:t>ＷＣＡ</a:t>
            </a:r>
            <a:endParaRPr lang="en-US" altLang="ja-JP" sz="907" b="0"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設⽴年</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lang="en-US" altLang="ja-JP" sz="907" b="0" spc="27" dirty="0">
                <a:solidFill>
                  <a:schemeClr val="tx1">
                    <a:lumMod val="75000"/>
                    <a:lumOff val="25000"/>
                  </a:schemeClr>
                </a:solidFill>
                <a:latin typeface="+mn-ea"/>
                <a:ea typeface="+mn-ea"/>
                <a:cs typeface="Microsoft YaHei"/>
              </a:rPr>
              <a:t>2005</a:t>
            </a:r>
            <a:r>
              <a:rPr sz="907" b="0" spc="45" dirty="0">
                <a:solidFill>
                  <a:schemeClr val="tx1">
                    <a:lumMod val="75000"/>
                    <a:lumOff val="25000"/>
                  </a:schemeClr>
                </a:solidFill>
                <a:latin typeface="+mn-ea"/>
                <a:ea typeface="+mn-ea"/>
                <a:cs typeface="Microsoft YaHei"/>
              </a:rPr>
              <a:t>年</a:t>
            </a:r>
            <a:r>
              <a:rPr sz="907" b="0" spc="27" dirty="0">
                <a:solidFill>
                  <a:schemeClr val="tx1">
                    <a:lumMod val="75000"/>
                    <a:lumOff val="25000"/>
                  </a:schemeClr>
                </a:solidFill>
                <a:latin typeface="+mn-ea"/>
                <a:ea typeface="+mn-ea"/>
                <a:cs typeface="Microsoft YaHei"/>
              </a:rPr>
              <a:t>1</a:t>
            </a:r>
            <a:r>
              <a:rPr sz="907" b="0" spc="45" dirty="0">
                <a:solidFill>
                  <a:schemeClr val="tx1">
                    <a:lumMod val="75000"/>
                    <a:lumOff val="25000"/>
                  </a:schemeClr>
                </a:solidFill>
                <a:latin typeface="+mn-ea"/>
                <a:ea typeface="+mn-ea"/>
                <a:cs typeface="Microsoft YaHei"/>
              </a:rPr>
              <a:t>⽉</a:t>
            </a:r>
            <a:r>
              <a:rPr sz="907" b="0" spc="27" dirty="0">
                <a:solidFill>
                  <a:schemeClr val="tx1">
                    <a:lumMod val="75000"/>
                    <a:lumOff val="25000"/>
                  </a:schemeClr>
                </a:solidFill>
                <a:latin typeface="+mn-ea"/>
                <a:ea typeface="+mn-ea"/>
                <a:cs typeface="Microsoft YaHei"/>
              </a:rPr>
              <a:t>1</a:t>
            </a:r>
            <a:r>
              <a:rPr lang="en-US" altLang="ja-JP" sz="907" b="0" spc="27" dirty="0">
                <a:solidFill>
                  <a:schemeClr val="tx1">
                    <a:lumMod val="75000"/>
                    <a:lumOff val="25000"/>
                  </a:schemeClr>
                </a:solidFill>
                <a:latin typeface="+mn-ea"/>
                <a:ea typeface="+mn-ea"/>
                <a:cs typeface="Microsoft YaHei"/>
              </a:rPr>
              <a:t>7</a:t>
            </a:r>
            <a:r>
              <a:rPr sz="907" b="0" spc="45" dirty="0">
                <a:solidFill>
                  <a:schemeClr val="tx1">
                    <a:lumMod val="75000"/>
                    <a:lumOff val="25000"/>
                  </a:schemeClr>
                </a:solidFill>
                <a:latin typeface="+mn-ea"/>
                <a:ea typeface="+mn-ea"/>
                <a:cs typeface="Microsoft YaHei"/>
              </a:rPr>
              <a:t>⽇</a:t>
            </a:r>
            <a:endParaRPr lang="en-US" altLang="ja-JP" sz="907" b="0" spc="45"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資本</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lang="en-US" altLang="ja-JP" sz="907" b="0" spc="14" dirty="0">
                <a:solidFill>
                  <a:schemeClr val="tx1">
                    <a:lumMod val="75000"/>
                    <a:lumOff val="25000"/>
                  </a:schemeClr>
                </a:solidFill>
                <a:latin typeface="+mn-ea"/>
                <a:ea typeface="+mn-ea"/>
                <a:cs typeface="Microsoft YaHei"/>
              </a:rPr>
              <a:t>3,000</a:t>
            </a:r>
            <a:r>
              <a:rPr lang="ja-JP" altLang="en-US" sz="907" b="0" spc="14" dirty="0">
                <a:solidFill>
                  <a:schemeClr val="tx1">
                    <a:lumMod val="75000"/>
                    <a:lumOff val="25000"/>
                  </a:schemeClr>
                </a:solidFill>
                <a:latin typeface="+mn-ea"/>
                <a:ea typeface="+mn-ea"/>
                <a:cs typeface="Microsoft YaHei"/>
              </a:rPr>
              <a:t>万円</a:t>
            </a:r>
            <a:r>
              <a:rPr sz="907" b="0" spc="14" dirty="0">
                <a:solidFill>
                  <a:schemeClr val="tx1">
                    <a:lumMod val="75000"/>
                    <a:lumOff val="25000"/>
                  </a:schemeClr>
                </a:solidFill>
                <a:latin typeface="+mn-ea"/>
                <a:ea typeface="+mn-ea"/>
                <a:cs typeface="Microsoft YaHei"/>
              </a:rPr>
              <a:t>（20</a:t>
            </a:r>
            <a:r>
              <a:rPr lang="en-US" altLang="ja-JP" sz="907" b="0" spc="14" dirty="0">
                <a:solidFill>
                  <a:schemeClr val="tx1">
                    <a:lumMod val="75000"/>
                    <a:lumOff val="25000"/>
                  </a:schemeClr>
                </a:solidFill>
                <a:latin typeface="+mn-ea"/>
                <a:ea typeface="+mn-ea"/>
                <a:cs typeface="Microsoft YaHei"/>
              </a:rPr>
              <a:t>21</a:t>
            </a:r>
            <a:r>
              <a:rPr sz="907" b="0" spc="23" dirty="0">
                <a:solidFill>
                  <a:schemeClr val="tx1">
                    <a:lumMod val="75000"/>
                    <a:lumOff val="25000"/>
                  </a:schemeClr>
                </a:solidFill>
                <a:latin typeface="+mn-ea"/>
                <a:ea typeface="+mn-ea"/>
                <a:cs typeface="Microsoft YaHei"/>
              </a:rPr>
              <a:t>年</a:t>
            </a:r>
            <a:r>
              <a:rPr lang="en-US" altLang="ja-JP" sz="907" b="0" spc="14" dirty="0">
                <a:solidFill>
                  <a:schemeClr val="tx1">
                    <a:lumMod val="75000"/>
                    <a:lumOff val="25000"/>
                  </a:schemeClr>
                </a:solidFill>
                <a:latin typeface="+mn-ea"/>
                <a:ea typeface="+mn-ea"/>
                <a:cs typeface="Microsoft YaHei"/>
              </a:rPr>
              <a:t>3</a:t>
            </a:r>
            <a:r>
              <a:rPr sz="907" b="0" spc="23" dirty="0">
                <a:solidFill>
                  <a:schemeClr val="tx1">
                    <a:lumMod val="75000"/>
                    <a:lumOff val="25000"/>
                  </a:schemeClr>
                </a:solidFill>
                <a:latin typeface="+mn-ea"/>
                <a:ea typeface="+mn-ea"/>
                <a:cs typeface="Microsoft YaHei"/>
              </a:rPr>
              <a:t>⽉</a:t>
            </a:r>
            <a:r>
              <a:rPr sz="907" b="0" spc="14" dirty="0">
                <a:solidFill>
                  <a:schemeClr val="tx1">
                    <a:lumMod val="75000"/>
                    <a:lumOff val="25000"/>
                  </a:schemeClr>
                </a:solidFill>
                <a:latin typeface="+mn-ea"/>
                <a:ea typeface="+mn-ea"/>
                <a:cs typeface="Microsoft YaHei"/>
              </a:rPr>
              <a:t>31</a:t>
            </a:r>
            <a:r>
              <a:rPr sz="907" b="0" spc="23" dirty="0">
                <a:solidFill>
                  <a:schemeClr val="tx1">
                    <a:lumMod val="75000"/>
                    <a:lumOff val="25000"/>
                  </a:schemeClr>
                </a:solidFill>
                <a:latin typeface="+mn-ea"/>
                <a:ea typeface="+mn-ea"/>
                <a:cs typeface="Microsoft YaHei"/>
              </a:rPr>
              <a:t>⽇</a:t>
            </a:r>
            <a:r>
              <a:rPr lang="ja-JP" altLang="en-US" sz="907" b="0" spc="23" dirty="0">
                <a:solidFill>
                  <a:schemeClr val="tx1">
                    <a:lumMod val="75000"/>
                    <a:lumOff val="25000"/>
                  </a:schemeClr>
                </a:solidFill>
                <a:latin typeface="+mn-ea"/>
                <a:ea typeface="+mn-ea"/>
                <a:cs typeface="Microsoft YaHei"/>
              </a:rPr>
              <a:t>時点</a:t>
            </a:r>
            <a:r>
              <a:rPr sz="907" b="0" spc="23" dirty="0">
                <a:solidFill>
                  <a:schemeClr val="tx1">
                    <a:lumMod val="75000"/>
                    <a:lumOff val="25000"/>
                  </a:schemeClr>
                </a:solidFill>
                <a:latin typeface="+mn-ea"/>
                <a:ea typeface="+mn-ea"/>
                <a:cs typeface="Microsoft YaHei"/>
              </a:rPr>
              <a:t>）</a:t>
            </a:r>
            <a:endParaRPr lang="en-US" altLang="ja-JP" sz="907" b="0" spc="23"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代表者</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a:t>
            </a:r>
            <a:r>
              <a:rPr sz="907" b="0" dirty="0" err="1">
                <a:solidFill>
                  <a:schemeClr val="tx1">
                    <a:lumMod val="75000"/>
                    <a:lumOff val="25000"/>
                  </a:schemeClr>
                </a:solidFill>
                <a:latin typeface="+mn-ea"/>
                <a:ea typeface="+mn-ea"/>
                <a:cs typeface="Microsoft YaHei"/>
              </a:rPr>
              <a:t>代表取締役</a:t>
            </a:r>
            <a:r>
              <a:rPr lang="ja-JP" altLang="en-US" sz="907" b="0" spc="77" dirty="0">
                <a:solidFill>
                  <a:schemeClr val="tx1">
                    <a:lumMod val="75000"/>
                    <a:lumOff val="25000"/>
                  </a:schemeClr>
                </a:solidFill>
                <a:latin typeface="+mn-ea"/>
                <a:ea typeface="+mn-ea"/>
                <a:cs typeface="Microsoft YaHei"/>
              </a:rPr>
              <a:t>　</a:t>
            </a:r>
            <a:r>
              <a:rPr lang="ja-JP" altLang="en-US" sz="907" b="0" dirty="0">
                <a:solidFill>
                  <a:schemeClr val="tx1">
                    <a:lumMod val="75000"/>
                    <a:lumOff val="25000"/>
                  </a:schemeClr>
                </a:solidFill>
                <a:latin typeface="+mn-ea"/>
                <a:ea typeface="+mn-ea"/>
                <a:cs typeface="Microsoft YaHei"/>
              </a:rPr>
              <a:t>日野 富士男</a:t>
            </a:r>
            <a:endParaRPr lang="en-US" altLang="ja-JP" sz="907" b="0" dirty="0">
              <a:solidFill>
                <a:schemeClr val="tx1">
                  <a:lumMod val="75000"/>
                  <a:lumOff val="25000"/>
                </a:schemeClr>
              </a:solidFill>
              <a:latin typeface="+mn-ea"/>
              <a:ea typeface="+mn-ea"/>
              <a:cs typeface="Microsoft YaHei"/>
            </a:endParaRPr>
          </a:p>
          <a:p>
            <a:pPr marL="24760" marR="912096">
              <a:lnSpc>
                <a:spcPct val="150000"/>
              </a:lnSpc>
              <a:spcBef>
                <a:spcPts val="91"/>
              </a:spcBef>
              <a:tabLst>
                <a:tab pos="700195" algn="l"/>
              </a:tabLst>
            </a:pPr>
            <a:r>
              <a:rPr sz="907" b="0" dirty="0" err="1">
                <a:solidFill>
                  <a:schemeClr val="tx1">
                    <a:lumMod val="75000"/>
                    <a:lumOff val="25000"/>
                  </a:schemeClr>
                </a:solidFill>
                <a:latin typeface="+mn-ea"/>
                <a:ea typeface="+mn-ea"/>
                <a:cs typeface="Microsoft YaHei"/>
              </a:rPr>
              <a:t>主たる業務</a:t>
            </a:r>
            <a:r>
              <a:rPr lang="en-US" altLang="ja-JP" sz="907" b="0" dirty="0">
                <a:solidFill>
                  <a:schemeClr val="tx1">
                    <a:lumMod val="75000"/>
                    <a:lumOff val="25000"/>
                  </a:schemeClr>
                </a:solidFill>
                <a:latin typeface="+mn-ea"/>
                <a:ea typeface="+mn-ea"/>
                <a:cs typeface="Microsoft YaHei"/>
              </a:rPr>
              <a:t> </a:t>
            </a:r>
            <a:r>
              <a:rPr sz="907" b="0" dirty="0">
                <a:solidFill>
                  <a:schemeClr val="tx1">
                    <a:lumMod val="75000"/>
                    <a:lumOff val="25000"/>
                  </a:schemeClr>
                </a:solidFill>
                <a:latin typeface="+mn-ea"/>
                <a:ea typeface="+mn-ea"/>
                <a:cs typeface="Microsoft YaHei"/>
              </a:rPr>
              <a:t>︓</a:t>
            </a:r>
            <a:r>
              <a:rPr lang="en-US" altLang="ja-JP" sz="907" b="0" dirty="0">
                <a:solidFill>
                  <a:schemeClr val="tx1">
                    <a:lumMod val="75000"/>
                    <a:lumOff val="25000"/>
                  </a:schemeClr>
                </a:solidFill>
                <a:latin typeface="+mn-ea"/>
                <a:ea typeface="+mn-ea"/>
                <a:cs typeface="Microsoft YaHei"/>
              </a:rPr>
              <a:t> WEB</a:t>
            </a:r>
            <a:r>
              <a:rPr lang="ja-JP" altLang="en-US" sz="907" b="0" dirty="0">
                <a:solidFill>
                  <a:schemeClr val="tx1">
                    <a:lumMod val="75000"/>
                    <a:lumOff val="25000"/>
                  </a:schemeClr>
                </a:solidFill>
                <a:latin typeface="+mn-ea"/>
                <a:ea typeface="+mn-ea"/>
                <a:cs typeface="Microsoft YaHei"/>
              </a:rPr>
              <a:t>マーケティングを中心としたコンサルティング・運用業務</a:t>
            </a:r>
            <a:endParaRPr sz="907" b="0" dirty="0">
              <a:solidFill>
                <a:schemeClr val="tx1">
                  <a:lumMod val="75000"/>
                  <a:lumOff val="25000"/>
                </a:schemeClr>
              </a:solidFill>
              <a:latin typeface="+mn-ea"/>
              <a:ea typeface="+mn-ea"/>
              <a:cs typeface="Microsoft YaHei"/>
            </a:endParaRPr>
          </a:p>
        </p:txBody>
      </p:sp>
      <p:sp>
        <p:nvSpPr>
          <p:cNvPr id="14" name="object 2">
            <a:extLst>
              <a:ext uri="{FF2B5EF4-FFF2-40B4-BE49-F238E27FC236}">
                <a16:creationId xmlns:a16="http://schemas.microsoft.com/office/drawing/2014/main" id="{F5907B37-D9F3-48F1-826B-38589C17882B}"/>
              </a:ext>
            </a:extLst>
          </p:cNvPr>
          <p:cNvSpPr txBox="1">
            <a:spLocks/>
          </p:cNvSpPr>
          <p:nvPr userDrawn="1"/>
        </p:nvSpPr>
        <p:spPr>
          <a:xfrm>
            <a:off x="812540" y="670268"/>
            <a:ext cx="7916564" cy="346464"/>
          </a:xfrm>
          <a:prstGeom prst="rect">
            <a:avLst/>
          </a:prstGeom>
        </p:spPr>
        <p:txBody>
          <a:bodyPr vert="horz" wrap="square" lIns="0" tIns="11516" rIns="0" bIns="0" rtlCol="0">
            <a:spAutoFit/>
          </a:bodyPr>
          <a:lstStyle>
            <a:lvl1pPr>
              <a:defRPr sz="2000" b="1" i="0">
                <a:solidFill>
                  <a:srgbClr val="295CAA"/>
                </a:solidFill>
                <a:latin typeface="Microsoft YaHei"/>
                <a:ea typeface="+mj-ea"/>
                <a:cs typeface="Microsoft YaHei"/>
              </a:defRPr>
            </a:lvl1pPr>
          </a:lstStyle>
          <a:p>
            <a:pPr marL="11516">
              <a:spcBef>
                <a:spcPts val="91"/>
              </a:spcBef>
            </a:pPr>
            <a:r>
              <a:rPr kumimoji="0" lang="ja-JP" altLang="en-US" sz="2176" b="0" kern="0" dirty="0">
                <a:solidFill>
                  <a:schemeClr val="tx1">
                    <a:lumMod val="75000"/>
                    <a:lumOff val="25000"/>
                  </a:schemeClr>
                </a:solidFill>
                <a:latin typeface="メイリオ" panose="020B0604030504040204" pitchFamily="50" charset="-128"/>
                <a:ea typeface="メイリオ" panose="020B0604030504040204" pitchFamily="50" charset="-128"/>
              </a:rPr>
              <a:t>お問い合わせ</a:t>
            </a:r>
          </a:p>
        </p:txBody>
      </p:sp>
      <p:pic>
        <p:nvPicPr>
          <p:cNvPr id="3" name="図 2">
            <a:extLst>
              <a:ext uri="{FF2B5EF4-FFF2-40B4-BE49-F238E27FC236}">
                <a16:creationId xmlns:a16="http://schemas.microsoft.com/office/drawing/2014/main" id="{3DA17D69-77E9-46AB-877F-4EA91974356C}"/>
              </a:ext>
            </a:extLst>
          </p:cNvPr>
          <p:cNvPicPr>
            <a:picLocks noChangeAspect="1"/>
          </p:cNvPicPr>
          <p:nvPr userDrawn="1"/>
        </p:nvPicPr>
        <p:blipFill>
          <a:blip r:embed="rId2"/>
          <a:stretch>
            <a:fillRect/>
          </a:stretch>
        </p:blipFill>
        <p:spPr>
          <a:xfrm>
            <a:off x="7284449" y="4410163"/>
            <a:ext cx="1989031" cy="2043173"/>
          </a:xfrm>
          <a:prstGeom prst="rect">
            <a:avLst/>
          </a:prstGeom>
        </p:spPr>
      </p:pic>
      <p:sp>
        <p:nvSpPr>
          <p:cNvPr id="13" name="テキスト ボックス 12">
            <a:extLst>
              <a:ext uri="{FF2B5EF4-FFF2-40B4-BE49-F238E27FC236}">
                <a16:creationId xmlns:a16="http://schemas.microsoft.com/office/drawing/2014/main" id="{27D38E13-C8BF-2F44-BCA1-8A7C5A070F9D}"/>
              </a:ext>
            </a:extLst>
          </p:cNvPr>
          <p:cNvSpPr txBox="1"/>
          <p:nvPr userDrawn="1"/>
        </p:nvSpPr>
        <p:spPr>
          <a:xfrm>
            <a:off x="1172580" y="4782259"/>
            <a:ext cx="1098202" cy="259751"/>
          </a:xfrm>
          <a:prstGeom prst="rect">
            <a:avLst/>
          </a:prstGeom>
          <a:noFill/>
        </p:spPr>
        <p:txBody>
          <a:bodyPr wrap="square" rtlCol="0">
            <a:spAutoFit/>
          </a:bodyPr>
          <a:lstStyle/>
          <a:p>
            <a:pPr algn="l">
              <a:lnSpc>
                <a:spcPct val="100000"/>
              </a:lnSpc>
            </a:pPr>
            <a:r>
              <a:rPr lang="ja-JP" altLang="en-US" sz="1088" b="0" dirty="0">
                <a:solidFill>
                  <a:srgbClr val="1D2D53"/>
                </a:solidFill>
                <a:latin typeface="メイリオ" panose="020B0604030504040204" pitchFamily="50" charset="-128"/>
                <a:cs typeface="Microsoft YaHei"/>
              </a:rPr>
              <a:t>会社概要</a:t>
            </a:r>
            <a:endParaRPr kumimoji="1" lang="ja-JP" altLang="en-US" sz="1088" b="0" dirty="0">
              <a:solidFill>
                <a:srgbClr val="1D2D53"/>
              </a:solidFill>
            </a:endParaRPr>
          </a:p>
        </p:txBody>
      </p:sp>
      <p:cxnSp>
        <p:nvCxnSpPr>
          <p:cNvPr id="7" name="直線コネクタ 6">
            <a:extLst>
              <a:ext uri="{FF2B5EF4-FFF2-40B4-BE49-F238E27FC236}">
                <a16:creationId xmlns:a16="http://schemas.microsoft.com/office/drawing/2014/main" id="{410F40F2-A1AF-C942-8225-F30808ACDC07}"/>
              </a:ext>
            </a:extLst>
          </p:cNvPr>
          <p:cNvCxnSpPr/>
          <p:nvPr userDrawn="1"/>
        </p:nvCxnSpPr>
        <p:spPr>
          <a:xfrm>
            <a:off x="1239286" y="5043446"/>
            <a:ext cx="1734349" cy="0"/>
          </a:xfrm>
          <a:prstGeom prst="line">
            <a:avLst/>
          </a:prstGeom>
          <a:ln w="0">
            <a:solidFill>
              <a:srgbClr val="1D2D53"/>
            </a:solidFill>
          </a:ln>
        </p:spPr>
        <p:style>
          <a:lnRef idx="1">
            <a:schemeClr val="accent1"/>
          </a:lnRef>
          <a:fillRef idx="0">
            <a:schemeClr val="accent1"/>
          </a:fillRef>
          <a:effectRef idx="0">
            <a:schemeClr val="accent1"/>
          </a:effectRef>
          <a:fontRef idx="minor">
            <a:schemeClr val="tx1"/>
          </a:fontRef>
        </p:style>
      </p:cxnSp>
      <p:sp>
        <p:nvSpPr>
          <p:cNvPr id="5" name="直角三角形 4">
            <a:extLst>
              <a:ext uri="{FF2B5EF4-FFF2-40B4-BE49-F238E27FC236}">
                <a16:creationId xmlns:a16="http://schemas.microsoft.com/office/drawing/2014/main" id="{5B32FB31-3203-C3D0-F36A-F8025A9429D8}"/>
              </a:ext>
            </a:extLst>
          </p:cNvPr>
          <p:cNvSpPr>
            <a:spLocks noChangeAspect="1"/>
          </p:cNvSpPr>
          <p:nvPr userDrawn="1"/>
        </p:nvSpPr>
        <p:spPr bwMode="gray">
          <a:xfrm flipV="1">
            <a:off x="-1" y="0"/>
            <a:ext cx="1325407" cy="828000"/>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6" name="直角三角形 5">
            <a:extLst>
              <a:ext uri="{FF2B5EF4-FFF2-40B4-BE49-F238E27FC236}">
                <a16:creationId xmlns:a16="http://schemas.microsoft.com/office/drawing/2014/main" id="{8C901088-20A5-9A44-C22E-7284E178F2FE}"/>
              </a:ext>
            </a:extLst>
          </p:cNvPr>
          <p:cNvSpPr>
            <a:spLocks noChangeAspect="1"/>
          </p:cNvSpPr>
          <p:nvPr userDrawn="1"/>
        </p:nvSpPr>
        <p:spPr bwMode="gray">
          <a:xfrm flipH="1">
            <a:off x="9093199" y="6030000"/>
            <a:ext cx="812799" cy="828000"/>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740807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dirty="0"/>
              <a:t>マスター タイトルの書式設定</a:t>
            </a:r>
          </a:p>
        </p:txBody>
      </p:sp>
      <p:sp>
        <p:nvSpPr>
          <p:cNvPr id="6" name="フッター プレースホルダー 5">
            <a:extLst>
              <a:ext uri="{FF2B5EF4-FFF2-40B4-BE49-F238E27FC236}">
                <a16:creationId xmlns:a16="http://schemas.microsoft.com/office/drawing/2014/main" id="{FE14A3B2-D897-4040-9B0C-DDA5D2425D60}"/>
              </a:ext>
            </a:extLst>
          </p:cNvPr>
          <p:cNvSpPr>
            <a:spLocks noGrp="1"/>
          </p:cNvSpPr>
          <p:nvPr>
            <p:ph type="ftr" sz="quarter" idx="3"/>
          </p:nvPr>
        </p:nvSpPr>
        <p:spPr>
          <a:xfrm>
            <a:off x="812801" y="6592266"/>
            <a:ext cx="8280400" cy="265733"/>
          </a:xfrm>
          <a:prstGeom prst="rect">
            <a:avLst/>
          </a:prstGeom>
        </p:spPr>
        <p:txBody>
          <a:bodyPr vert="horz" lIns="0" tIns="0" rIns="0" bIns="0" rtlCol="0" anchor="ctr"/>
          <a:lstStyle>
            <a:lvl1pPr algn="ctr">
              <a:defRPr sz="900">
                <a:solidFill>
                  <a:schemeClr val="tx1"/>
                </a:solidFill>
              </a:defRPr>
            </a:lvl1pPr>
          </a:lstStyle>
          <a:p>
            <a:r>
              <a:rPr lang="en-US" altLang="ja-JP" dirty="0"/>
              <a:t>© WCA</a:t>
            </a:r>
            <a:r>
              <a:rPr lang="ja-JP" altLang="en-US" dirty="0"/>
              <a:t> </a:t>
            </a:r>
            <a:r>
              <a:rPr lang="en-US" altLang="ja-JP" dirty="0"/>
              <a:t>INC.</a:t>
            </a:r>
            <a:endParaRPr lang="ja-JP" altLang="en-US" dirty="0"/>
          </a:p>
        </p:txBody>
      </p:sp>
      <p:sp>
        <p:nvSpPr>
          <p:cNvPr id="8" name="スライド番号プレースホルダー 5">
            <a:extLst>
              <a:ext uri="{FF2B5EF4-FFF2-40B4-BE49-F238E27FC236}">
                <a16:creationId xmlns:a16="http://schemas.microsoft.com/office/drawing/2014/main" id="{2A0C11AE-607D-4FFF-A554-80D8C7B34075}"/>
              </a:ext>
            </a:extLst>
          </p:cNvPr>
          <p:cNvSpPr>
            <a:spLocks noGrp="1"/>
          </p:cNvSpPr>
          <p:nvPr>
            <p:ph type="sldNum" sz="quarter" idx="4"/>
          </p:nvPr>
        </p:nvSpPr>
        <p:spPr>
          <a:xfrm>
            <a:off x="9273480" y="6592267"/>
            <a:ext cx="475196" cy="257113"/>
          </a:xfrm>
          <a:prstGeom prst="rect">
            <a:avLst/>
          </a:prstGeom>
        </p:spPr>
        <p:txBody>
          <a:bodyPr vert="horz" lIns="0" tIns="0" rIns="0" bIns="0" rtlCol="0" anchor="ctr"/>
          <a:lstStyle>
            <a:lvl1pPr algn="r">
              <a:defRPr sz="9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dirty="0"/>
          </a:p>
        </p:txBody>
      </p:sp>
    </p:spTree>
    <p:extLst>
      <p:ext uri="{BB962C8B-B14F-4D97-AF65-F5344CB8AC3E}">
        <p14:creationId xmlns:p14="http://schemas.microsoft.com/office/powerpoint/2010/main" val="172571864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67" r:id="rId5"/>
    <p:sldLayoutId id="2147483759" r:id="rId6"/>
    <p:sldLayoutId id="2147483772" r:id="rId7"/>
    <p:sldLayoutId id="2147483771" r:id="rId8"/>
    <p:sldLayoutId id="2147483769" r:id="rId9"/>
    <p:sldLayoutId id="2147483761" r:id="rId10"/>
    <p:sldLayoutId id="2147483762" r:id="rId11"/>
    <p:sldLayoutId id="2147483763" r:id="rId12"/>
    <p:sldLayoutId id="2147483764" r:id="rId13"/>
    <p:sldLayoutId id="2147483765" r:id="rId14"/>
    <p:sldLayoutId id="2147483766" r:id="rId15"/>
    <p:sldLayoutId id="2147483768" r:id="rId16"/>
    <p:sldLayoutId id="2147483770" r:id="rId17"/>
  </p:sldLayoutIdLst>
  <p:hf hdr="0" dt="0"/>
  <p:txStyles>
    <p:titleStyle>
      <a:lvl1pPr algn="l" defTabSz="914400" rtl="0" eaLnBrk="1" latinLnBrk="0" hangingPunct="1">
        <a:lnSpc>
          <a:spcPct val="110000"/>
        </a:lnSpc>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orient="horz" pos="2160" userDrawn="1">
          <p15:clr>
            <a:srgbClr val="F26B43"/>
          </p15:clr>
        </p15:guide>
        <p15:guide id="14" pos="3120" userDrawn="1">
          <p15:clr>
            <a:srgbClr val="F26B43"/>
          </p15:clr>
        </p15:guide>
        <p15:guide id="21" pos="512" userDrawn="1">
          <p15:clr>
            <a:srgbClr val="F26B43"/>
          </p15:clr>
        </p15:guide>
        <p15:guide id="22" pos="5728" userDrawn="1">
          <p15:clr>
            <a:srgbClr val="F26B43"/>
          </p15:clr>
        </p15:guide>
        <p15:guide id="23" orient="horz" pos="414" userDrawn="1">
          <p15:clr>
            <a:srgbClr val="F26B43"/>
          </p15:clr>
        </p15:guide>
        <p15:guide id="24"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AB9F99-5E80-332B-AD5D-01FCC39ECB30}"/>
              </a:ext>
            </a:extLst>
          </p:cNvPr>
          <p:cNvSpPr>
            <a:spLocks noGrp="1"/>
          </p:cNvSpPr>
          <p:nvPr>
            <p:ph type="ctrTitle"/>
          </p:nvPr>
        </p:nvSpPr>
        <p:spPr/>
        <p:txBody>
          <a:bodyPr/>
          <a:lstStyle/>
          <a:p>
            <a:r>
              <a:rPr lang="ja-JP" altLang="en-US" dirty="0"/>
              <a:t>アントレスクエアサイト戦略</a:t>
            </a:r>
            <a:endParaRPr kumimoji="1" lang="ja-JP" altLang="en-US" dirty="0"/>
          </a:p>
        </p:txBody>
      </p:sp>
      <p:sp>
        <p:nvSpPr>
          <p:cNvPr id="4" name="コンテンツ プレースホルダー 3">
            <a:extLst>
              <a:ext uri="{FF2B5EF4-FFF2-40B4-BE49-F238E27FC236}">
                <a16:creationId xmlns:a16="http://schemas.microsoft.com/office/drawing/2014/main" id="{CF8CA0AC-5CEF-CBBC-2F00-68D79D8B794A}"/>
              </a:ext>
            </a:extLst>
          </p:cNvPr>
          <p:cNvSpPr>
            <a:spLocks noGrp="1"/>
          </p:cNvSpPr>
          <p:nvPr>
            <p:ph sz="quarter" idx="12"/>
          </p:nvPr>
        </p:nvSpPr>
        <p:spPr/>
        <p:txBody>
          <a:bodyPr/>
          <a:lstStyle/>
          <a:p>
            <a:r>
              <a:rPr kumimoji="1" lang="ja-JP" altLang="en-US" dirty="0"/>
              <a:t>株式会社アントレックス</a:t>
            </a:r>
          </a:p>
        </p:txBody>
      </p:sp>
      <p:sp>
        <p:nvSpPr>
          <p:cNvPr id="5" name="コンテンツ プレースホルダー 4">
            <a:extLst>
              <a:ext uri="{FF2B5EF4-FFF2-40B4-BE49-F238E27FC236}">
                <a16:creationId xmlns:a16="http://schemas.microsoft.com/office/drawing/2014/main" id="{1C84113E-C549-5250-A25C-2DC606AE804B}"/>
              </a:ext>
            </a:extLst>
          </p:cNvPr>
          <p:cNvSpPr>
            <a:spLocks noGrp="1"/>
          </p:cNvSpPr>
          <p:nvPr>
            <p:ph sz="quarter" idx="13"/>
          </p:nvPr>
        </p:nvSpPr>
        <p:spPr/>
        <p:txBody>
          <a:bodyPr/>
          <a:lstStyle/>
          <a:p>
            <a:r>
              <a:rPr lang="ja-JP" altLang="en-US" dirty="0"/>
              <a:t>　</a:t>
            </a:r>
            <a:r>
              <a:rPr lang="en-US" altLang="ja-JP" dirty="0"/>
              <a:t>WCA</a:t>
            </a:r>
            <a:r>
              <a:rPr lang="ja-JP" altLang="en-US" dirty="0"/>
              <a:t>加藤</a:t>
            </a:r>
            <a:endParaRPr kumimoji="1" lang="ja-JP" altLang="en-US" dirty="0"/>
          </a:p>
        </p:txBody>
      </p:sp>
    </p:spTree>
    <p:extLst>
      <p:ext uri="{BB962C8B-B14F-4D97-AF65-F5344CB8AC3E}">
        <p14:creationId xmlns:p14="http://schemas.microsoft.com/office/powerpoint/2010/main" val="3130824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1FA40D4-349B-2B23-7F88-BCDBB0D4A242}"/>
              </a:ext>
            </a:extLst>
          </p:cNvPr>
          <p:cNvSpPr txBox="1"/>
          <p:nvPr/>
        </p:nvSpPr>
        <p:spPr>
          <a:xfrm>
            <a:off x="3014007" y="548680"/>
            <a:ext cx="3877985" cy="461665"/>
          </a:xfrm>
          <a:prstGeom prst="rect">
            <a:avLst/>
          </a:prstGeom>
          <a:noFill/>
        </p:spPr>
        <p:txBody>
          <a:bodyPr wrap="none" rtlCol="0">
            <a:spAutoFit/>
          </a:bodyPr>
          <a:lstStyle/>
          <a:p>
            <a:r>
              <a:rPr kumimoji="1" lang="ja-JP" altLang="en-US" sz="2400" b="1" dirty="0"/>
              <a:t>アントレスクエア与件整理</a:t>
            </a:r>
          </a:p>
        </p:txBody>
      </p:sp>
      <p:sp>
        <p:nvSpPr>
          <p:cNvPr id="6" name="テキスト ボックス 5">
            <a:extLst>
              <a:ext uri="{FF2B5EF4-FFF2-40B4-BE49-F238E27FC236}">
                <a16:creationId xmlns:a16="http://schemas.microsoft.com/office/drawing/2014/main" id="{D47C1C4F-337C-737D-A8EF-B1B3DA3B81D4}"/>
              </a:ext>
            </a:extLst>
          </p:cNvPr>
          <p:cNvSpPr txBox="1"/>
          <p:nvPr/>
        </p:nvSpPr>
        <p:spPr>
          <a:xfrm>
            <a:off x="1280592" y="1268760"/>
            <a:ext cx="7529625" cy="4893647"/>
          </a:xfrm>
          <a:prstGeom prst="rect">
            <a:avLst/>
          </a:prstGeom>
          <a:noFill/>
        </p:spPr>
        <p:txBody>
          <a:bodyPr wrap="none" rtlCol="0">
            <a:spAutoFit/>
          </a:bodyPr>
          <a:lstStyle/>
          <a:p>
            <a:endParaRPr kumimoji="1" lang="en-US" altLang="ja-JP" sz="2000" dirty="0"/>
          </a:p>
          <a:p>
            <a:pPr algn="ctr"/>
            <a:r>
              <a:rPr lang="ja-JP" altLang="en-US" sz="2400" dirty="0">
                <a:highlight>
                  <a:srgbClr val="00FFFF"/>
                </a:highlight>
              </a:rPr>
              <a:t>アントレスクエアのサイト戦略</a:t>
            </a:r>
            <a:endParaRPr kumimoji="1" lang="en-US" altLang="ja-JP" sz="2400" dirty="0">
              <a:highlight>
                <a:srgbClr val="00FFFF"/>
              </a:highlight>
            </a:endParaRPr>
          </a:p>
          <a:p>
            <a:pPr algn="ctr"/>
            <a:r>
              <a:rPr kumimoji="1" lang="ja-JP" altLang="en-US" sz="2400" dirty="0"/>
              <a:t>新規ユーザー獲得を重視したサイトにする。</a:t>
            </a:r>
            <a:endParaRPr kumimoji="1" lang="en-US" altLang="ja-JP" sz="2400" dirty="0"/>
          </a:p>
          <a:p>
            <a:endParaRPr kumimoji="1" lang="en-US" altLang="ja-JP" sz="2000" dirty="0"/>
          </a:p>
          <a:p>
            <a:endParaRPr kumimoji="1" lang="en-US" altLang="ja-JP" sz="2000" dirty="0"/>
          </a:p>
          <a:p>
            <a:r>
              <a:rPr lang="ja-JP" altLang="en-US" sz="2000" dirty="0"/>
              <a:t>課題：各ブランドでの戦略・戦術が定まっていないので、</a:t>
            </a:r>
            <a:endParaRPr lang="en-US" altLang="ja-JP" sz="2000" dirty="0"/>
          </a:p>
          <a:p>
            <a:r>
              <a:rPr lang="ja-JP" altLang="en-US" sz="2000" dirty="0"/>
              <a:t>　　　</a:t>
            </a:r>
            <a:r>
              <a:rPr lang="ja-JP" altLang="en-US" sz="2000" b="1" u="sng" dirty="0"/>
              <a:t>効果的な施策</a:t>
            </a:r>
            <a:r>
              <a:rPr lang="ja-JP" altLang="en-US" sz="2000" dirty="0"/>
              <a:t>が打てていない</a:t>
            </a:r>
            <a:endParaRPr lang="en-US" altLang="ja-JP" sz="2000" dirty="0"/>
          </a:p>
          <a:p>
            <a:endParaRPr lang="en-US" altLang="ja-JP" sz="2000" dirty="0"/>
          </a:p>
          <a:p>
            <a:endParaRPr lang="en-US" altLang="ja-JP" sz="2000" dirty="0"/>
          </a:p>
          <a:p>
            <a:endParaRPr lang="en-US" altLang="ja-JP" sz="2000" dirty="0"/>
          </a:p>
          <a:p>
            <a:r>
              <a:rPr lang="ja-JP" altLang="en-US" sz="2000" dirty="0"/>
              <a:t>・効果的な施策とはなにか？</a:t>
            </a:r>
            <a:endParaRPr lang="en-US" altLang="ja-JP" sz="2000" dirty="0"/>
          </a:p>
          <a:p>
            <a:r>
              <a:rPr kumimoji="1" lang="ja-JP" altLang="en-US" sz="2000" dirty="0"/>
              <a:t>売りたい商品ページに「来てほしいユーザー」を呼ぶ訴求が</a:t>
            </a:r>
            <a:endParaRPr kumimoji="1" lang="en-US" altLang="ja-JP" sz="2000" dirty="0"/>
          </a:p>
          <a:p>
            <a:r>
              <a:rPr lang="ja-JP" altLang="en-US" sz="2000" dirty="0"/>
              <a:t>できていない。</a:t>
            </a:r>
            <a:endParaRPr lang="en-US" altLang="ja-JP" sz="2000" dirty="0"/>
          </a:p>
          <a:p>
            <a:endParaRPr lang="en-US" altLang="ja-JP" sz="2000" dirty="0"/>
          </a:p>
          <a:p>
            <a:pPr algn="ctr"/>
            <a:r>
              <a:rPr kumimoji="1" lang="ja-JP" altLang="en-US" sz="2400" b="1" dirty="0"/>
              <a:t>アントレスクエアでの販売戦略を立てましょう。</a:t>
            </a:r>
          </a:p>
        </p:txBody>
      </p:sp>
    </p:spTree>
    <p:extLst>
      <p:ext uri="{BB962C8B-B14F-4D97-AF65-F5344CB8AC3E}">
        <p14:creationId xmlns:p14="http://schemas.microsoft.com/office/powerpoint/2010/main" val="424419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9E7E0-B6B9-6674-5650-E3B7222AD5F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0AE1E3F-7875-F71D-E07A-A089C391A412}"/>
              </a:ext>
            </a:extLst>
          </p:cNvPr>
          <p:cNvSpPr/>
          <p:nvPr/>
        </p:nvSpPr>
        <p:spPr bwMode="auto">
          <a:xfrm>
            <a:off x="2720752" y="2978172"/>
            <a:ext cx="4171240" cy="971867"/>
          </a:xfrm>
          <a:prstGeom prst="rect">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4" name="テキスト ボックス 3">
            <a:extLst>
              <a:ext uri="{FF2B5EF4-FFF2-40B4-BE49-F238E27FC236}">
                <a16:creationId xmlns:a16="http://schemas.microsoft.com/office/drawing/2014/main" id="{838785F8-42EF-5892-43E4-8CE02E1BC5C6}"/>
              </a:ext>
            </a:extLst>
          </p:cNvPr>
          <p:cNvSpPr txBox="1"/>
          <p:nvPr/>
        </p:nvSpPr>
        <p:spPr>
          <a:xfrm>
            <a:off x="3014007" y="548680"/>
            <a:ext cx="3877985" cy="461665"/>
          </a:xfrm>
          <a:prstGeom prst="rect">
            <a:avLst/>
          </a:prstGeom>
          <a:noFill/>
        </p:spPr>
        <p:txBody>
          <a:bodyPr wrap="none" rtlCol="0">
            <a:spAutoFit/>
          </a:bodyPr>
          <a:lstStyle/>
          <a:p>
            <a:r>
              <a:rPr kumimoji="1" lang="ja-JP" altLang="en-US" sz="2400" b="1" dirty="0"/>
              <a:t>アントレスクエア与件整理</a:t>
            </a:r>
          </a:p>
        </p:txBody>
      </p:sp>
      <p:sp>
        <p:nvSpPr>
          <p:cNvPr id="6" name="テキスト ボックス 5">
            <a:extLst>
              <a:ext uri="{FF2B5EF4-FFF2-40B4-BE49-F238E27FC236}">
                <a16:creationId xmlns:a16="http://schemas.microsoft.com/office/drawing/2014/main" id="{A9F2933A-C8FF-546D-8DCE-0165DB3A9ABD}"/>
              </a:ext>
            </a:extLst>
          </p:cNvPr>
          <p:cNvSpPr txBox="1"/>
          <p:nvPr/>
        </p:nvSpPr>
        <p:spPr>
          <a:xfrm>
            <a:off x="756978" y="1382286"/>
            <a:ext cx="184731" cy="1015663"/>
          </a:xfrm>
          <a:prstGeom prst="rect">
            <a:avLst/>
          </a:prstGeom>
          <a:noFill/>
        </p:spPr>
        <p:txBody>
          <a:bodyPr wrap="none" rtlCol="0">
            <a:spAutoFit/>
          </a:bodyPr>
          <a:lstStyle/>
          <a:p>
            <a:endParaRPr lang="en-US" altLang="ja-JP" sz="2000" dirty="0"/>
          </a:p>
          <a:p>
            <a:endParaRPr kumimoji="1" lang="en-US" altLang="ja-JP" sz="2000" dirty="0"/>
          </a:p>
          <a:p>
            <a:endParaRPr kumimoji="1" lang="ja-JP" altLang="en-US" sz="2000" dirty="0"/>
          </a:p>
        </p:txBody>
      </p:sp>
      <p:sp>
        <p:nvSpPr>
          <p:cNvPr id="2" name="テキスト ボックス 1">
            <a:extLst>
              <a:ext uri="{FF2B5EF4-FFF2-40B4-BE49-F238E27FC236}">
                <a16:creationId xmlns:a16="http://schemas.microsoft.com/office/drawing/2014/main" id="{3AD239CD-34E4-8DE4-2B6A-0557C00BE2A7}"/>
              </a:ext>
            </a:extLst>
          </p:cNvPr>
          <p:cNvSpPr txBox="1"/>
          <p:nvPr/>
        </p:nvSpPr>
        <p:spPr>
          <a:xfrm>
            <a:off x="761595" y="1176476"/>
            <a:ext cx="8392041" cy="2246769"/>
          </a:xfrm>
          <a:prstGeom prst="rect">
            <a:avLst/>
          </a:prstGeom>
          <a:noFill/>
        </p:spPr>
        <p:txBody>
          <a:bodyPr wrap="none" rtlCol="0">
            <a:spAutoFit/>
          </a:bodyPr>
          <a:lstStyle/>
          <a:p>
            <a:r>
              <a:rPr kumimoji="1" lang="ja-JP" altLang="en-US" sz="2000" dirty="0"/>
              <a:t>■ターゲットが定まっていないサイトあるいは商品を知っている方しか</a:t>
            </a:r>
            <a:endParaRPr kumimoji="1" lang="en-US" altLang="ja-JP" sz="2000" dirty="0"/>
          </a:p>
          <a:p>
            <a:r>
              <a:rPr lang="ja-JP" altLang="en-US" sz="2000" dirty="0"/>
              <a:t>　取り込めていない。</a:t>
            </a:r>
            <a:endParaRPr lang="en-US" altLang="ja-JP" sz="2000" dirty="0"/>
          </a:p>
          <a:p>
            <a:r>
              <a:rPr kumimoji="1" lang="ja-JP" altLang="en-US" sz="2000" dirty="0"/>
              <a:t>　⇒潜在層への深い訴求が</a:t>
            </a:r>
            <a:r>
              <a:rPr lang="ja-JP" altLang="en-US" sz="2000" dirty="0"/>
              <a:t>できていない。</a:t>
            </a:r>
            <a:endParaRPr lang="en-US" altLang="ja-JP" sz="2000" dirty="0"/>
          </a:p>
          <a:p>
            <a:endParaRPr lang="en-US" altLang="ja-JP" sz="2000" dirty="0"/>
          </a:p>
          <a:p>
            <a:endParaRPr lang="en-US" altLang="ja-JP" sz="2000" dirty="0"/>
          </a:p>
          <a:p>
            <a:endParaRPr lang="en-US" altLang="ja-JP" sz="2000" dirty="0"/>
          </a:p>
          <a:p>
            <a:endParaRPr kumimoji="1" lang="ja-JP" altLang="en-US" sz="2000" dirty="0"/>
          </a:p>
        </p:txBody>
      </p:sp>
      <p:pic>
        <p:nvPicPr>
          <p:cNvPr id="1026" name="Picture 2" descr="ユーザーの心理・購買行動を知ろう！】マーケティングファネル／ユーザー分類 | 株式会社カラバオ｜デジタルマーケティング、インハウス化支援">
            <a:extLst>
              <a:ext uri="{FF2B5EF4-FFF2-40B4-BE49-F238E27FC236}">
                <a16:creationId xmlns:a16="http://schemas.microsoft.com/office/drawing/2014/main" id="{218D64D9-A725-7FAA-BC18-A649F2FE8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80" y="2701180"/>
            <a:ext cx="6253767" cy="3517744"/>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a:extLst>
              <a:ext uri="{FF2B5EF4-FFF2-40B4-BE49-F238E27FC236}">
                <a16:creationId xmlns:a16="http://schemas.microsoft.com/office/drawing/2014/main" id="{8DD5BACA-8FF7-B172-1229-7FDD095E39BA}"/>
              </a:ext>
            </a:extLst>
          </p:cNvPr>
          <p:cNvSpPr/>
          <p:nvPr/>
        </p:nvSpPr>
        <p:spPr bwMode="auto">
          <a:xfrm>
            <a:off x="5883880" y="2978172"/>
            <a:ext cx="1008112" cy="3096344"/>
          </a:xfrm>
          <a:prstGeom prst="rect">
            <a:avLst/>
          </a:prstGeom>
          <a:solidFill>
            <a:schemeClr val="bg1"/>
          </a:solidFill>
          <a:ln w="6350">
            <a:solidFill>
              <a:schemeClr val="bg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7" name="正方形/長方形 6">
            <a:extLst>
              <a:ext uri="{FF2B5EF4-FFF2-40B4-BE49-F238E27FC236}">
                <a16:creationId xmlns:a16="http://schemas.microsoft.com/office/drawing/2014/main" id="{058D36E6-1F7E-5D2F-E212-A358DD6272A6}"/>
              </a:ext>
            </a:extLst>
          </p:cNvPr>
          <p:cNvSpPr/>
          <p:nvPr/>
        </p:nvSpPr>
        <p:spPr bwMode="auto">
          <a:xfrm>
            <a:off x="345287" y="2978172"/>
            <a:ext cx="596422" cy="3096344"/>
          </a:xfrm>
          <a:prstGeom prst="rect">
            <a:avLst/>
          </a:prstGeom>
          <a:solidFill>
            <a:schemeClr val="bg1"/>
          </a:solidFill>
          <a:ln w="6350">
            <a:solidFill>
              <a:schemeClr val="bg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0" name="矢印: 右 9">
            <a:extLst>
              <a:ext uri="{FF2B5EF4-FFF2-40B4-BE49-F238E27FC236}">
                <a16:creationId xmlns:a16="http://schemas.microsoft.com/office/drawing/2014/main" id="{E8823929-4DB5-E769-7A87-FDA2727221D8}"/>
              </a:ext>
            </a:extLst>
          </p:cNvPr>
          <p:cNvSpPr/>
          <p:nvPr/>
        </p:nvSpPr>
        <p:spPr bwMode="auto">
          <a:xfrm rot="10800000">
            <a:off x="4974791" y="3950039"/>
            <a:ext cx="1434936" cy="820062"/>
          </a:xfrm>
          <a:prstGeom prst="rightArrow">
            <a:avLst/>
          </a:prstGeom>
          <a:solidFill>
            <a:schemeClr val="accent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1" name="テキスト ボックス 10">
            <a:extLst>
              <a:ext uri="{FF2B5EF4-FFF2-40B4-BE49-F238E27FC236}">
                <a16:creationId xmlns:a16="http://schemas.microsoft.com/office/drawing/2014/main" id="{55AB118D-AF00-7042-D61D-BAD775508048}"/>
              </a:ext>
            </a:extLst>
          </p:cNvPr>
          <p:cNvSpPr txBox="1"/>
          <p:nvPr/>
        </p:nvSpPr>
        <p:spPr>
          <a:xfrm>
            <a:off x="6561643" y="4221162"/>
            <a:ext cx="2492990" cy="369332"/>
          </a:xfrm>
          <a:prstGeom prst="rect">
            <a:avLst/>
          </a:prstGeom>
          <a:noFill/>
        </p:spPr>
        <p:txBody>
          <a:bodyPr wrap="none" rtlCol="0">
            <a:spAutoFit/>
          </a:bodyPr>
          <a:lstStyle/>
          <a:p>
            <a:r>
              <a:rPr kumimoji="1" lang="ja-JP" altLang="en-US" b="1" dirty="0"/>
              <a:t>ここを取りにいきたい</a:t>
            </a:r>
          </a:p>
        </p:txBody>
      </p:sp>
      <p:sp>
        <p:nvSpPr>
          <p:cNvPr id="9" name="矢印: 右 8">
            <a:extLst>
              <a:ext uri="{FF2B5EF4-FFF2-40B4-BE49-F238E27FC236}">
                <a16:creationId xmlns:a16="http://schemas.microsoft.com/office/drawing/2014/main" id="{B202A7E8-E4F4-F5BA-4D38-A4A5A6CD6A2C}"/>
              </a:ext>
            </a:extLst>
          </p:cNvPr>
          <p:cNvSpPr/>
          <p:nvPr/>
        </p:nvSpPr>
        <p:spPr bwMode="auto">
          <a:xfrm rot="10800000">
            <a:off x="4201374" y="3002155"/>
            <a:ext cx="1434936" cy="82006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2" name="テキスト ボックス 11">
            <a:extLst>
              <a:ext uri="{FF2B5EF4-FFF2-40B4-BE49-F238E27FC236}">
                <a16:creationId xmlns:a16="http://schemas.microsoft.com/office/drawing/2014/main" id="{696DD9F8-385D-5CD9-26EF-F1BC856E87BB}"/>
              </a:ext>
            </a:extLst>
          </p:cNvPr>
          <p:cNvSpPr txBox="1"/>
          <p:nvPr/>
        </p:nvSpPr>
        <p:spPr>
          <a:xfrm>
            <a:off x="5870436" y="3249295"/>
            <a:ext cx="2954655" cy="369332"/>
          </a:xfrm>
          <a:prstGeom prst="rect">
            <a:avLst/>
          </a:prstGeom>
          <a:noFill/>
        </p:spPr>
        <p:txBody>
          <a:bodyPr wrap="none" rtlCol="0">
            <a:spAutoFit/>
          </a:bodyPr>
          <a:lstStyle/>
          <a:p>
            <a:r>
              <a:rPr kumimoji="1" lang="ja-JP" altLang="en-US" dirty="0"/>
              <a:t>ここ</a:t>
            </a:r>
            <a:r>
              <a:rPr lang="ja-JP" altLang="en-US" dirty="0"/>
              <a:t>はある程度取れてます</a:t>
            </a:r>
            <a:endParaRPr kumimoji="1" lang="ja-JP" altLang="en-US" dirty="0"/>
          </a:p>
        </p:txBody>
      </p:sp>
    </p:spTree>
    <p:extLst>
      <p:ext uri="{BB962C8B-B14F-4D97-AF65-F5344CB8AC3E}">
        <p14:creationId xmlns:p14="http://schemas.microsoft.com/office/powerpoint/2010/main" val="1483837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9BB4D-C72D-4EAC-171D-D96463863015}"/>
            </a:ext>
          </a:extLst>
        </p:cNvPr>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55BD7325-C561-119D-F29B-A3D1C8A10188}"/>
              </a:ext>
            </a:extLst>
          </p:cNvPr>
          <p:cNvSpPr/>
          <p:nvPr/>
        </p:nvSpPr>
        <p:spPr bwMode="auto">
          <a:xfrm>
            <a:off x="7472588" y="1369039"/>
            <a:ext cx="1181681" cy="444163"/>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2" name="正方形/長方形 31">
            <a:extLst>
              <a:ext uri="{FF2B5EF4-FFF2-40B4-BE49-F238E27FC236}">
                <a16:creationId xmlns:a16="http://schemas.microsoft.com/office/drawing/2014/main" id="{A2F06526-ACD9-AD80-4C26-7CEC9F7ACF92}"/>
              </a:ext>
            </a:extLst>
          </p:cNvPr>
          <p:cNvSpPr/>
          <p:nvPr/>
        </p:nvSpPr>
        <p:spPr bwMode="auto">
          <a:xfrm>
            <a:off x="4166626" y="1170183"/>
            <a:ext cx="1734142" cy="797895"/>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4" name="テキスト ボックス 3">
            <a:extLst>
              <a:ext uri="{FF2B5EF4-FFF2-40B4-BE49-F238E27FC236}">
                <a16:creationId xmlns:a16="http://schemas.microsoft.com/office/drawing/2014/main" id="{63046239-0E6F-B048-15C3-53F024554E4E}"/>
              </a:ext>
            </a:extLst>
          </p:cNvPr>
          <p:cNvSpPr txBox="1"/>
          <p:nvPr/>
        </p:nvSpPr>
        <p:spPr>
          <a:xfrm>
            <a:off x="4552890" y="455039"/>
            <a:ext cx="800219" cy="461665"/>
          </a:xfrm>
          <a:prstGeom prst="rect">
            <a:avLst/>
          </a:prstGeom>
          <a:noFill/>
        </p:spPr>
        <p:txBody>
          <a:bodyPr wrap="none" rtlCol="0">
            <a:spAutoFit/>
          </a:bodyPr>
          <a:lstStyle/>
          <a:p>
            <a:r>
              <a:rPr kumimoji="1" lang="ja-JP" altLang="en-US" sz="2400" b="1" dirty="0"/>
              <a:t>現状</a:t>
            </a:r>
          </a:p>
        </p:txBody>
      </p:sp>
      <p:sp>
        <p:nvSpPr>
          <p:cNvPr id="2" name="正方形/長方形 1">
            <a:extLst>
              <a:ext uri="{FF2B5EF4-FFF2-40B4-BE49-F238E27FC236}">
                <a16:creationId xmlns:a16="http://schemas.microsoft.com/office/drawing/2014/main" id="{4C6FFF93-EC95-A9EE-2F25-0B9478ED11E9}"/>
              </a:ext>
            </a:extLst>
          </p:cNvPr>
          <p:cNvSpPr/>
          <p:nvPr/>
        </p:nvSpPr>
        <p:spPr bwMode="auto">
          <a:xfrm>
            <a:off x="560512" y="1043444"/>
            <a:ext cx="2048162" cy="1048762"/>
          </a:xfrm>
          <a:prstGeom prst="rect">
            <a:avLst/>
          </a:prstGeom>
          <a:solidFill>
            <a:schemeClr val="bg1"/>
          </a:solidFill>
          <a:ln w="6350">
            <a:solidFill>
              <a:schemeClr val="bg1">
                <a:lumMod val="85000"/>
              </a:schemeClr>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 name="テキスト ボックス 2">
            <a:extLst>
              <a:ext uri="{FF2B5EF4-FFF2-40B4-BE49-F238E27FC236}">
                <a16:creationId xmlns:a16="http://schemas.microsoft.com/office/drawing/2014/main" id="{647D9A65-671A-646D-634D-757D258CD774}"/>
              </a:ext>
            </a:extLst>
          </p:cNvPr>
          <p:cNvSpPr txBox="1"/>
          <p:nvPr/>
        </p:nvSpPr>
        <p:spPr>
          <a:xfrm>
            <a:off x="1028564" y="1383159"/>
            <a:ext cx="1112058" cy="369332"/>
          </a:xfrm>
          <a:prstGeom prst="rect">
            <a:avLst/>
          </a:prstGeom>
          <a:noFill/>
        </p:spPr>
        <p:txBody>
          <a:bodyPr wrap="square" rtlCol="0">
            <a:spAutoFit/>
          </a:bodyPr>
          <a:lstStyle/>
          <a:p>
            <a:r>
              <a:rPr kumimoji="1" lang="ja-JP" altLang="en-US" dirty="0">
                <a:solidFill>
                  <a:schemeClr val="bg1">
                    <a:lumMod val="50000"/>
                  </a:schemeClr>
                </a:solidFill>
              </a:rPr>
              <a:t>広告配信</a:t>
            </a:r>
          </a:p>
        </p:txBody>
      </p:sp>
      <p:sp>
        <p:nvSpPr>
          <p:cNvPr id="14" name="テキスト ボックス 13">
            <a:extLst>
              <a:ext uri="{FF2B5EF4-FFF2-40B4-BE49-F238E27FC236}">
                <a16:creationId xmlns:a16="http://schemas.microsoft.com/office/drawing/2014/main" id="{23452E27-4A1B-EE3A-E076-3940F197931D}"/>
              </a:ext>
            </a:extLst>
          </p:cNvPr>
          <p:cNvSpPr txBox="1"/>
          <p:nvPr/>
        </p:nvSpPr>
        <p:spPr>
          <a:xfrm>
            <a:off x="344488" y="2170311"/>
            <a:ext cx="2698175" cy="523220"/>
          </a:xfrm>
          <a:prstGeom prst="rect">
            <a:avLst/>
          </a:prstGeom>
          <a:noFill/>
        </p:spPr>
        <p:txBody>
          <a:bodyPr wrap="none" rtlCol="0">
            <a:spAutoFit/>
          </a:bodyPr>
          <a:lstStyle/>
          <a:p>
            <a:r>
              <a:rPr kumimoji="1" lang="ja-JP" altLang="en-US" sz="1400" dirty="0"/>
              <a:t>ターゲットが明確ではないので</a:t>
            </a:r>
            <a:endParaRPr kumimoji="1" lang="en-US" altLang="ja-JP" sz="1400" dirty="0"/>
          </a:p>
          <a:p>
            <a:r>
              <a:rPr kumimoji="1" lang="ja-JP" altLang="en-US" sz="1400" dirty="0"/>
              <a:t>訴求が曖昧</a:t>
            </a:r>
            <a:endParaRPr kumimoji="1" lang="en-US" altLang="ja-JP" sz="1400" dirty="0"/>
          </a:p>
        </p:txBody>
      </p:sp>
      <p:sp>
        <p:nvSpPr>
          <p:cNvPr id="15" name="テキスト ボックス 14">
            <a:extLst>
              <a:ext uri="{FF2B5EF4-FFF2-40B4-BE49-F238E27FC236}">
                <a16:creationId xmlns:a16="http://schemas.microsoft.com/office/drawing/2014/main" id="{B46E819B-9174-FEF0-924F-878692FAFBCF}"/>
              </a:ext>
            </a:extLst>
          </p:cNvPr>
          <p:cNvSpPr txBox="1"/>
          <p:nvPr/>
        </p:nvSpPr>
        <p:spPr>
          <a:xfrm>
            <a:off x="3447019" y="2231885"/>
            <a:ext cx="3236784" cy="523220"/>
          </a:xfrm>
          <a:prstGeom prst="rect">
            <a:avLst/>
          </a:prstGeom>
          <a:noFill/>
        </p:spPr>
        <p:txBody>
          <a:bodyPr wrap="none" rtlCol="0">
            <a:spAutoFit/>
          </a:bodyPr>
          <a:lstStyle/>
          <a:p>
            <a:r>
              <a:rPr kumimoji="1" lang="ja-JP" altLang="en-US" sz="1400" dirty="0"/>
              <a:t>商品のスペック</a:t>
            </a:r>
            <a:r>
              <a:rPr lang="ja-JP" altLang="en-US" sz="1400" dirty="0"/>
              <a:t>訴求</a:t>
            </a:r>
            <a:r>
              <a:rPr kumimoji="1" lang="ja-JP" altLang="en-US" sz="1400" dirty="0"/>
              <a:t>がメインなので</a:t>
            </a:r>
            <a:endParaRPr kumimoji="1" lang="en-US" altLang="ja-JP" sz="1400" dirty="0"/>
          </a:p>
          <a:p>
            <a:r>
              <a:rPr kumimoji="1" lang="ja-JP" altLang="en-US" sz="1400" dirty="0"/>
              <a:t>商品を知っている方</a:t>
            </a:r>
            <a:r>
              <a:rPr lang="ja-JP" altLang="en-US" sz="1400" dirty="0"/>
              <a:t>は購入してくれる</a:t>
            </a:r>
            <a:endParaRPr kumimoji="1" lang="en-US" altLang="ja-JP" sz="1400" dirty="0"/>
          </a:p>
        </p:txBody>
      </p:sp>
      <p:sp>
        <p:nvSpPr>
          <p:cNvPr id="17" name="矢印: 右 16">
            <a:extLst>
              <a:ext uri="{FF2B5EF4-FFF2-40B4-BE49-F238E27FC236}">
                <a16:creationId xmlns:a16="http://schemas.microsoft.com/office/drawing/2014/main" id="{219A8852-05E1-7044-FF9D-9E1EAD01F565}"/>
              </a:ext>
            </a:extLst>
          </p:cNvPr>
          <p:cNvSpPr/>
          <p:nvPr/>
        </p:nvSpPr>
        <p:spPr bwMode="auto">
          <a:xfrm>
            <a:off x="2864768" y="1268760"/>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8" name="矢印: 右 17">
            <a:extLst>
              <a:ext uri="{FF2B5EF4-FFF2-40B4-BE49-F238E27FC236}">
                <a16:creationId xmlns:a16="http://schemas.microsoft.com/office/drawing/2014/main" id="{FD79D011-14BA-804B-9DB1-7CB8F73B713B}"/>
              </a:ext>
            </a:extLst>
          </p:cNvPr>
          <p:cNvSpPr/>
          <p:nvPr/>
        </p:nvSpPr>
        <p:spPr bwMode="auto">
          <a:xfrm>
            <a:off x="6237988" y="1461029"/>
            <a:ext cx="598484" cy="251157"/>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9" name="テキスト ボックス 18">
            <a:extLst>
              <a:ext uri="{FF2B5EF4-FFF2-40B4-BE49-F238E27FC236}">
                <a16:creationId xmlns:a16="http://schemas.microsoft.com/office/drawing/2014/main" id="{D30DBDAA-3112-41DE-AB0F-2CDFFD5DAD08}"/>
              </a:ext>
            </a:extLst>
          </p:cNvPr>
          <p:cNvSpPr txBox="1"/>
          <p:nvPr/>
        </p:nvSpPr>
        <p:spPr>
          <a:xfrm>
            <a:off x="7073415" y="2185718"/>
            <a:ext cx="1980029" cy="307777"/>
          </a:xfrm>
          <a:prstGeom prst="rect">
            <a:avLst/>
          </a:prstGeom>
          <a:noFill/>
        </p:spPr>
        <p:txBody>
          <a:bodyPr wrap="none" rtlCol="0">
            <a:spAutoFit/>
          </a:bodyPr>
          <a:lstStyle/>
          <a:p>
            <a:r>
              <a:rPr lang="ja-JP" altLang="en-US" sz="1400" dirty="0"/>
              <a:t>潜在層の購入が少ない</a:t>
            </a:r>
            <a:endParaRPr kumimoji="1" lang="en-US" altLang="ja-JP" sz="1400" dirty="0"/>
          </a:p>
        </p:txBody>
      </p:sp>
      <p:sp>
        <p:nvSpPr>
          <p:cNvPr id="20" name="テキスト ボックス 19">
            <a:extLst>
              <a:ext uri="{FF2B5EF4-FFF2-40B4-BE49-F238E27FC236}">
                <a16:creationId xmlns:a16="http://schemas.microsoft.com/office/drawing/2014/main" id="{3480EBE0-CF63-59F9-CC76-2C0E1B9A3BC4}"/>
              </a:ext>
            </a:extLst>
          </p:cNvPr>
          <p:cNvSpPr txBox="1"/>
          <p:nvPr/>
        </p:nvSpPr>
        <p:spPr>
          <a:xfrm>
            <a:off x="4399000" y="3198167"/>
            <a:ext cx="1107996" cy="461665"/>
          </a:xfrm>
          <a:prstGeom prst="rect">
            <a:avLst/>
          </a:prstGeom>
          <a:noFill/>
        </p:spPr>
        <p:txBody>
          <a:bodyPr wrap="none" rtlCol="0">
            <a:spAutoFit/>
          </a:bodyPr>
          <a:lstStyle/>
          <a:p>
            <a:r>
              <a:rPr kumimoji="1" lang="ja-JP" altLang="en-US" sz="2400" b="1" dirty="0"/>
              <a:t>改善後</a:t>
            </a:r>
          </a:p>
        </p:txBody>
      </p:sp>
      <p:sp>
        <p:nvSpPr>
          <p:cNvPr id="21" name="正方形/長方形 20">
            <a:extLst>
              <a:ext uri="{FF2B5EF4-FFF2-40B4-BE49-F238E27FC236}">
                <a16:creationId xmlns:a16="http://schemas.microsoft.com/office/drawing/2014/main" id="{C6656EDB-4C2C-CDA1-700A-BFDD13511B0C}"/>
              </a:ext>
            </a:extLst>
          </p:cNvPr>
          <p:cNvSpPr/>
          <p:nvPr/>
        </p:nvSpPr>
        <p:spPr bwMode="auto">
          <a:xfrm>
            <a:off x="560512"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2" name="テキスト ボックス 21">
            <a:extLst>
              <a:ext uri="{FF2B5EF4-FFF2-40B4-BE49-F238E27FC236}">
                <a16:creationId xmlns:a16="http://schemas.microsoft.com/office/drawing/2014/main" id="{16FB4FB4-5886-C03A-5F95-65A3DDEE0EAC}"/>
              </a:ext>
            </a:extLst>
          </p:cNvPr>
          <p:cNvSpPr txBox="1"/>
          <p:nvPr/>
        </p:nvSpPr>
        <p:spPr>
          <a:xfrm>
            <a:off x="1028564" y="4328519"/>
            <a:ext cx="1112058" cy="369332"/>
          </a:xfrm>
          <a:prstGeom prst="rect">
            <a:avLst/>
          </a:prstGeom>
          <a:noFill/>
        </p:spPr>
        <p:txBody>
          <a:bodyPr wrap="square" rtlCol="0">
            <a:spAutoFit/>
          </a:bodyPr>
          <a:lstStyle/>
          <a:p>
            <a:r>
              <a:rPr kumimoji="1" lang="ja-JP" altLang="en-US" dirty="0"/>
              <a:t>広告配信</a:t>
            </a:r>
          </a:p>
        </p:txBody>
      </p:sp>
      <p:sp>
        <p:nvSpPr>
          <p:cNvPr id="23" name="正方形/長方形 22">
            <a:extLst>
              <a:ext uri="{FF2B5EF4-FFF2-40B4-BE49-F238E27FC236}">
                <a16:creationId xmlns:a16="http://schemas.microsoft.com/office/drawing/2014/main" id="{2C104441-93F7-D48D-B88F-6693549329A3}"/>
              </a:ext>
            </a:extLst>
          </p:cNvPr>
          <p:cNvSpPr/>
          <p:nvPr/>
        </p:nvSpPr>
        <p:spPr bwMode="auto">
          <a:xfrm>
            <a:off x="3928919"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4" name="テキスト ボックス 23">
            <a:extLst>
              <a:ext uri="{FF2B5EF4-FFF2-40B4-BE49-F238E27FC236}">
                <a16:creationId xmlns:a16="http://schemas.microsoft.com/office/drawing/2014/main" id="{F204A060-9501-7720-B1F2-69E62D0C388F}"/>
              </a:ext>
            </a:extLst>
          </p:cNvPr>
          <p:cNvSpPr txBox="1"/>
          <p:nvPr/>
        </p:nvSpPr>
        <p:spPr>
          <a:xfrm>
            <a:off x="4242936" y="4328519"/>
            <a:ext cx="1420125" cy="369332"/>
          </a:xfrm>
          <a:prstGeom prst="rect">
            <a:avLst/>
          </a:prstGeom>
          <a:noFill/>
        </p:spPr>
        <p:txBody>
          <a:bodyPr wrap="square" rtlCol="0">
            <a:spAutoFit/>
          </a:bodyPr>
          <a:lstStyle/>
          <a:p>
            <a:r>
              <a:rPr lang="ja-JP" altLang="en-US" dirty="0"/>
              <a:t>商品ページ</a:t>
            </a:r>
            <a:endParaRPr kumimoji="1" lang="ja-JP" altLang="en-US" dirty="0"/>
          </a:p>
        </p:txBody>
      </p:sp>
      <p:sp>
        <p:nvSpPr>
          <p:cNvPr id="25" name="正方形/長方形 24">
            <a:extLst>
              <a:ext uri="{FF2B5EF4-FFF2-40B4-BE49-F238E27FC236}">
                <a16:creationId xmlns:a16="http://schemas.microsoft.com/office/drawing/2014/main" id="{E637B6FE-94CA-EFBA-49AC-08BA97890458}"/>
              </a:ext>
            </a:extLst>
          </p:cNvPr>
          <p:cNvSpPr/>
          <p:nvPr/>
        </p:nvSpPr>
        <p:spPr bwMode="auto">
          <a:xfrm>
            <a:off x="7129663" y="3988804"/>
            <a:ext cx="2048162" cy="104876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6350">
            <a:solidFill>
              <a:schemeClr val="tx1"/>
            </a:solidFill>
          </a:ln>
          <a:effectLst>
            <a:outerShdw blurRad="50800" dist="38100" dir="2700000" algn="tl" rotWithShape="0">
              <a:prstClr val="black">
                <a:alpha val="40000"/>
              </a:prstClr>
            </a:outerShdw>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26" name="テキスト ボックス 25">
            <a:extLst>
              <a:ext uri="{FF2B5EF4-FFF2-40B4-BE49-F238E27FC236}">
                <a16:creationId xmlns:a16="http://schemas.microsoft.com/office/drawing/2014/main" id="{1657F3A7-7742-822B-B521-3A41AC7B9EFC}"/>
              </a:ext>
            </a:extLst>
          </p:cNvPr>
          <p:cNvSpPr txBox="1"/>
          <p:nvPr/>
        </p:nvSpPr>
        <p:spPr>
          <a:xfrm>
            <a:off x="7896532" y="4364505"/>
            <a:ext cx="1112058" cy="369332"/>
          </a:xfrm>
          <a:prstGeom prst="rect">
            <a:avLst/>
          </a:prstGeom>
          <a:noFill/>
        </p:spPr>
        <p:txBody>
          <a:bodyPr wrap="square" rtlCol="0">
            <a:spAutoFit/>
          </a:bodyPr>
          <a:lstStyle/>
          <a:p>
            <a:r>
              <a:rPr kumimoji="1" lang="ja-JP" altLang="en-US" dirty="0"/>
              <a:t>購入</a:t>
            </a:r>
          </a:p>
        </p:txBody>
      </p:sp>
      <p:sp>
        <p:nvSpPr>
          <p:cNvPr id="27" name="テキスト ボックス 26">
            <a:extLst>
              <a:ext uri="{FF2B5EF4-FFF2-40B4-BE49-F238E27FC236}">
                <a16:creationId xmlns:a16="http://schemas.microsoft.com/office/drawing/2014/main" id="{EA8F2CC2-EB62-13DC-4C8B-BBF10AE6307A}"/>
              </a:ext>
            </a:extLst>
          </p:cNvPr>
          <p:cNvSpPr txBox="1"/>
          <p:nvPr/>
        </p:nvSpPr>
        <p:spPr>
          <a:xfrm>
            <a:off x="373485" y="5115671"/>
            <a:ext cx="2339102" cy="523220"/>
          </a:xfrm>
          <a:prstGeom prst="rect">
            <a:avLst/>
          </a:prstGeom>
          <a:noFill/>
        </p:spPr>
        <p:txBody>
          <a:bodyPr wrap="none" rtlCol="0">
            <a:spAutoFit/>
          </a:bodyPr>
          <a:lstStyle/>
          <a:p>
            <a:r>
              <a:rPr kumimoji="1" lang="ja-JP" altLang="en-US" sz="1400" dirty="0"/>
              <a:t>ターゲットに最適化された</a:t>
            </a:r>
            <a:endParaRPr kumimoji="1" lang="en-US" altLang="ja-JP" sz="1400" dirty="0"/>
          </a:p>
          <a:p>
            <a:r>
              <a:rPr lang="ja-JP" altLang="en-US" sz="1400" dirty="0"/>
              <a:t>訴求で、集客効率化</a:t>
            </a:r>
            <a:endParaRPr lang="en-US" altLang="ja-JP" sz="1400" dirty="0"/>
          </a:p>
        </p:txBody>
      </p:sp>
      <p:sp>
        <p:nvSpPr>
          <p:cNvPr id="28" name="テキスト ボックス 27">
            <a:extLst>
              <a:ext uri="{FF2B5EF4-FFF2-40B4-BE49-F238E27FC236}">
                <a16:creationId xmlns:a16="http://schemas.microsoft.com/office/drawing/2014/main" id="{EF1008D3-A127-52C5-92C3-3C4879363E17}"/>
              </a:ext>
            </a:extLst>
          </p:cNvPr>
          <p:cNvSpPr txBox="1"/>
          <p:nvPr/>
        </p:nvSpPr>
        <p:spPr>
          <a:xfrm>
            <a:off x="3447019" y="5115671"/>
            <a:ext cx="2877711" cy="954107"/>
          </a:xfrm>
          <a:prstGeom prst="rect">
            <a:avLst/>
          </a:prstGeom>
          <a:noFill/>
        </p:spPr>
        <p:txBody>
          <a:bodyPr wrap="none" rtlCol="0">
            <a:spAutoFit/>
          </a:bodyPr>
          <a:lstStyle/>
          <a:p>
            <a:r>
              <a:rPr lang="ja-JP" altLang="en-US" sz="1400" dirty="0"/>
              <a:t>ターゲットに刺さるページ構成で</a:t>
            </a:r>
            <a:endParaRPr lang="en-US" altLang="ja-JP" sz="1400" dirty="0"/>
          </a:p>
          <a:p>
            <a:r>
              <a:rPr lang="ja-JP" altLang="en-US" sz="1400" dirty="0"/>
              <a:t>滞在時間、</a:t>
            </a:r>
            <a:r>
              <a:rPr lang="en-US" altLang="ja-JP" sz="1400" dirty="0"/>
              <a:t>CVR</a:t>
            </a:r>
            <a:r>
              <a:rPr lang="ja-JP" altLang="en-US" sz="1400" dirty="0"/>
              <a:t>アップ</a:t>
            </a:r>
            <a:endParaRPr lang="en-US" altLang="ja-JP" sz="1400" dirty="0"/>
          </a:p>
          <a:p>
            <a:r>
              <a:rPr kumimoji="1" lang="ja-JP" altLang="en-US" sz="1400" dirty="0"/>
              <a:t>戦略がはっきりしているので</a:t>
            </a:r>
            <a:endParaRPr kumimoji="1" lang="en-US" altLang="ja-JP" sz="1400" dirty="0"/>
          </a:p>
          <a:p>
            <a:r>
              <a:rPr lang="ja-JP" altLang="en-US" sz="1400" dirty="0"/>
              <a:t>改善もしやすい</a:t>
            </a:r>
            <a:endParaRPr kumimoji="1" lang="en-US" altLang="ja-JP" sz="1400" dirty="0"/>
          </a:p>
        </p:txBody>
      </p:sp>
      <p:sp>
        <p:nvSpPr>
          <p:cNvPr id="29" name="矢印: 右 28">
            <a:extLst>
              <a:ext uri="{FF2B5EF4-FFF2-40B4-BE49-F238E27FC236}">
                <a16:creationId xmlns:a16="http://schemas.microsoft.com/office/drawing/2014/main" id="{FA89C2CE-CC9C-018A-2D59-06E6E576CDAE}"/>
              </a:ext>
            </a:extLst>
          </p:cNvPr>
          <p:cNvSpPr/>
          <p:nvPr/>
        </p:nvSpPr>
        <p:spPr bwMode="auto">
          <a:xfrm>
            <a:off x="2864768" y="4214120"/>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0" name="矢印: 右 29">
            <a:extLst>
              <a:ext uri="{FF2B5EF4-FFF2-40B4-BE49-F238E27FC236}">
                <a16:creationId xmlns:a16="http://schemas.microsoft.com/office/drawing/2014/main" id="{AF88798D-0FDB-9AD7-E77C-37FD36933E40}"/>
              </a:ext>
            </a:extLst>
          </p:cNvPr>
          <p:cNvSpPr/>
          <p:nvPr/>
        </p:nvSpPr>
        <p:spPr bwMode="auto">
          <a:xfrm>
            <a:off x="6129535" y="4225135"/>
            <a:ext cx="847674" cy="648072"/>
          </a:xfrm>
          <a:prstGeom prst="right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31" name="テキスト ボックス 30">
            <a:extLst>
              <a:ext uri="{FF2B5EF4-FFF2-40B4-BE49-F238E27FC236}">
                <a16:creationId xmlns:a16="http://schemas.microsoft.com/office/drawing/2014/main" id="{FD015EA3-AAA8-F498-0BD7-27359172740E}"/>
              </a:ext>
            </a:extLst>
          </p:cNvPr>
          <p:cNvSpPr txBox="1"/>
          <p:nvPr/>
        </p:nvSpPr>
        <p:spPr>
          <a:xfrm>
            <a:off x="7432487" y="5115671"/>
            <a:ext cx="1620957" cy="523220"/>
          </a:xfrm>
          <a:prstGeom prst="rect">
            <a:avLst/>
          </a:prstGeom>
          <a:noFill/>
        </p:spPr>
        <p:txBody>
          <a:bodyPr wrap="none" rtlCol="0">
            <a:spAutoFit/>
          </a:bodyPr>
          <a:lstStyle/>
          <a:p>
            <a:r>
              <a:rPr kumimoji="1" lang="ja-JP" altLang="en-US" sz="1400" dirty="0"/>
              <a:t>潜在層も取り込み</a:t>
            </a:r>
            <a:endParaRPr kumimoji="1" lang="en-US" altLang="ja-JP" sz="1400" dirty="0"/>
          </a:p>
          <a:p>
            <a:r>
              <a:rPr kumimoji="1" lang="ja-JP" altLang="en-US" sz="1400" dirty="0"/>
              <a:t>売上</a:t>
            </a:r>
            <a:r>
              <a:rPr kumimoji="1" lang="en-US" altLang="ja-JP" sz="1400" dirty="0"/>
              <a:t>UP</a:t>
            </a:r>
          </a:p>
        </p:txBody>
      </p:sp>
      <p:sp>
        <p:nvSpPr>
          <p:cNvPr id="34" name="テキスト ボックス 33">
            <a:extLst>
              <a:ext uri="{FF2B5EF4-FFF2-40B4-BE49-F238E27FC236}">
                <a16:creationId xmlns:a16="http://schemas.microsoft.com/office/drawing/2014/main" id="{B20A1685-CEBC-7735-5598-E28B4618C98C}"/>
              </a:ext>
            </a:extLst>
          </p:cNvPr>
          <p:cNvSpPr txBox="1"/>
          <p:nvPr/>
        </p:nvSpPr>
        <p:spPr>
          <a:xfrm>
            <a:off x="4362194" y="1421340"/>
            <a:ext cx="1395410" cy="369332"/>
          </a:xfrm>
          <a:prstGeom prst="rect">
            <a:avLst/>
          </a:prstGeom>
          <a:noFill/>
        </p:spPr>
        <p:txBody>
          <a:bodyPr wrap="square" rtlCol="0">
            <a:spAutoFit/>
          </a:bodyPr>
          <a:lstStyle/>
          <a:p>
            <a:r>
              <a:rPr kumimoji="1" lang="ja-JP" altLang="en-US" dirty="0">
                <a:solidFill>
                  <a:schemeClr val="bg1">
                    <a:lumMod val="50000"/>
                  </a:schemeClr>
                </a:solidFill>
              </a:rPr>
              <a:t>商品ページ</a:t>
            </a:r>
          </a:p>
        </p:txBody>
      </p:sp>
      <p:sp>
        <p:nvSpPr>
          <p:cNvPr id="36" name="テキスト ボックス 35">
            <a:extLst>
              <a:ext uri="{FF2B5EF4-FFF2-40B4-BE49-F238E27FC236}">
                <a16:creationId xmlns:a16="http://schemas.microsoft.com/office/drawing/2014/main" id="{DFF9B1B2-0AAC-03D1-805E-20BD420D5F74}"/>
              </a:ext>
            </a:extLst>
          </p:cNvPr>
          <p:cNvSpPr txBox="1"/>
          <p:nvPr/>
        </p:nvSpPr>
        <p:spPr>
          <a:xfrm>
            <a:off x="7754856" y="1443870"/>
            <a:ext cx="1395410" cy="369332"/>
          </a:xfrm>
          <a:prstGeom prst="rect">
            <a:avLst/>
          </a:prstGeom>
          <a:noFill/>
        </p:spPr>
        <p:txBody>
          <a:bodyPr wrap="square" rtlCol="0">
            <a:spAutoFit/>
          </a:bodyPr>
          <a:lstStyle/>
          <a:p>
            <a:r>
              <a:rPr kumimoji="1" lang="ja-JP" altLang="en-US" dirty="0">
                <a:solidFill>
                  <a:schemeClr val="bg1">
                    <a:lumMod val="50000"/>
                  </a:schemeClr>
                </a:solidFill>
              </a:rPr>
              <a:t>購入</a:t>
            </a:r>
          </a:p>
        </p:txBody>
      </p:sp>
    </p:spTree>
    <p:extLst>
      <p:ext uri="{BB962C8B-B14F-4D97-AF65-F5344CB8AC3E}">
        <p14:creationId xmlns:p14="http://schemas.microsoft.com/office/powerpoint/2010/main" val="1641032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B050-5207-25C3-8509-848E7055AA6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E64911E-C69E-A300-9D6F-C9B00E00A051}"/>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アントレスクエアの今後の方針</a:t>
            </a:r>
          </a:p>
        </p:txBody>
      </p:sp>
      <p:sp>
        <p:nvSpPr>
          <p:cNvPr id="2" name="テキスト ボックス 1">
            <a:extLst>
              <a:ext uri="{FF2B5EF4-FFF2-40B4-BE49-F238E27FC236}">
                <a16:creationId xmlns:a16="http://schemas.microsoft.com/office/drawing/2014/main" id="{E5ED348C-F9BB-8DC7-882D-A4DE71EAC749}"/>
              </a:ext>
            </a:extLst>
          </p:cNvPr>
          <p:cNvSpPr txBox="1"/>
          <p:nvPr/>
        </p:nvSpPr>
        <p:spPr>
          <a:xfrm>
            <a:off x="629858" y="1052736"/>
            <a:ext cx="8392041" cy="5632311"/>
          </a:xfrm>
          <a:prstGeom prst="rect">
            <a:avLst/>
          </a:prstGeom>
          <a:noFill/>
        </p:spPr>
        <p:txBody>
          <a:bodyPr wrap="none" rtlCol="0">
            <a:spAutoFit/>
          </a:bodyPr>
          <a:lstStyle/>
          <a:p>
            <a:r>
              <a:rPr lang="en-US" altLang="ja-JP" sz="2000" dirty="0"/>
              <a:t>【</a:t>
            </a:r>
            <a:r>
              <a:rPr lang="ja-JP" altLang="en-US" sz="2000" b="1" dirty="0"/>
              <a:t>長期フェーズ</a:t>
            </a:r>
            <a:r>
              <a:rPr kumimoji="1" lang="en-US" altLang="ja-JP" sz="2000" b="1" dirty="0"/>
              <a:t>】</a:t>
            </a:r>
          </a:p>
          <a:p>
            <a:r>
              <a:rPr kumimoji="1" lang="ja-JP" altLang="en-US" sz="2000" dirty="0"/>
              <a:t>潜在層を獲得できるサイトにした上で、</a:t>
            </a:r>
            <a:endParaRPr kumimoji="1" lang="en-US" altLang="ja-JP" sz="2000" dirty="0"/>
          </a:p>
          <a:p>
            <a:r>
              <a:rPr kumimoji="1" lang="ja-JP" altLang="en-US" sz="2000" dirty="0"/>
              <a:t>「ブランド」のファンを育成し、売上に貢献してもらう</a:t>
            </a:r>
            <a:endParaRPr kumimoji="1" lang="en-US" altLang="ja-JP" sz="2000" dirty="0"/>
          </a:p>
          <a:p>
            <a:r>
              <a:rPr lang="ja-JP" altLang="en-US" sz="2000" dirty="0"/>
              <a:t>☆</a:t>
            </a:r>
            <a:r>
              <a:rPr kumimoji="1" lang="ja-JP" altLang="en-US" sz="2000" dirty="0"/>
              <a:t>アントレスクエアのファンではなくブランド毎のファンの育成</a:t>
            </a:r>
            <a:endParaRPr kumimoji="1" lang="en-US" altLang="ja-JP" sz="2000" dirty="0"/>
          </a:p>
          <a:p>
            <a:r>
              <a:rPr lang="ja-JP" altLang="en-US" sz="2000" dirty="0"/>
              <a:t>☆そもそもファンとは？（全員の認識一致へ）</a:t>
            </a:r>
            <a:endParaRPr lang="en-US" altLang="ja-JP" sz="2000" dirty="0"/>
          </a:p>
          <a:p>
            <a:endParaRPr kumimoji="1" lang="en-US" altLang="ja-JP" sz="2000" dirty="0"/>
          </a:p>
          <a:p>
            <a:r>
              <a:rPr lang="en-US" altLang="ja-JP" sz="2000" b="1" dirty="0"/>
              <a:t>【</a:t>
            </a:r>
            <a:r>
              <a:rPr lang="ja-JP" altLang="en-US" sz="2000" b="1" dirty="0"/>
              <a:t>中～長期フェーズ</a:t>
            </a:r>
            <a:r>
              <a:rPr kumimoji="1" lang="en-US" altLang="ja-JP" sz="2000" b="1" dirty="0"/>
              <a:t>】</a:t>
            </a:r>
            <a:r>
              <a:rPr kumimoji="1" lang="ja-JP" altLang="en-US" sz="2000" b="1" dirty="0"/>
              <a:t>潜在層にリーチ！</a:t>
            </a:r>
            <a:endParaRPr lang="en-US" altLang="ja-JP" sz="2000" b="1" dirty="0"/>
          </a:p>
          <a:p>
            <a:r>
              <a:rPr lang="ja-JP" altLang="en-US" sz="2000" u="sng" dirty="0"/>
              <a:t>アントレスクエアで購入することにメリットを感じてもらえる</a:t>
            </a:r>
            <a:r>
              <a:rPr kumimoji="1" lang="ja-JP" altLang="en-US" sz="2000" u="sng" dirty="0"/>
              <a:t>サイト</a:t>
            </a:r>
            <a:r>
              <a:rPr kumimoji="1" lang="ja-JP" altLang="en-US" sz="2000" dirty="0"/>
              <a:t>に</a:t>
            </a:r>
            <a:endParaRPr kumimoji="1" lang="en-US" altLang="ja-JP" sz="2000" dirty="0"/>
          </a:p>
          <a:p>
            <a:r>
              <a:rPr lang="ja-JP" altLang="en-US" sz="2000" dirty="0"/>
              <a:t>☆各注力ブランドでの自社サイト限定特典</a:t>
            </a:r>
            <a:endParaRPr lang="en-US" altLang="ja-JP" sz="2000" dirty="0"/>
          </a:p>
          <a:p>
            <a:r>
              <a:rPr lang="ja-JP" altLang="en-US" sz="2000" dirty="0"/>
              <a:t>☆短期フェーズで決めたターゲットに向けたページ作り→</a:t>
            </a:r>
            <a:r>
              <a:rPr lang="en-US" altLang="ja-JP" sz="2000" dirty="0"/>
              <a:t>PDCA</a:t>
            </a:r>
          </a:p>
          <a:p>
            <a:endParaRPr kumimoji="1" lang="en-US" altLang="ja-JP" sz="2000" dirty="0"/>
          </a:p>
          <a:p>
            <a:r>
              <a:rPr kumimoji="1" lang="en-US" altLang="ja-JP" sz="2000" b="1" dirty="0"/>
              <a:t>【</a:t>
            </a:r>
            <a:r>
              <a:rPr kumimoji="1" lang="ja-JP" altLang="en-US" sz="2000" b="1" dirty="0"/>
              <a:t>短期フェーズ</a:t>
            </a:r>
            <a:r>
              <a:rPr kumimoji="1" lang="en-US" altLang="ja-JP" sz="2000" b="1" dirty="0"/>
              <a:t>】</a:t>
            </a:r>
            <a:endParaRPr lang="en-US" altLang="ja-JP" sz="2000" b="1" dirty="0"/>
          </a:p>
          <a:p>
            <a:r>
              <a:rPr lang="ja-JP" altLang="en-US" sz="2000" dirty="0"/>
              <a:t>マーケティング戦略を策定し、きちんと</a:t>
            </a:r>
            <a:r>
              <a:rPr kumimoji="1" lang="ja-JP" altLang="en-US" sz="2000" dirty="0"/>
              <a:t>戦術を決める</a:t>
            </a:r>
            <a:endParaRPr kumimoji="1" lang="en-US" altLang="ja-JP" sz="2000" dirty="0"/>
          </a:p>
          <a:p>
            <a:r>
              <a:rPr kumimoji="1" lang="ja-JP" altLang="en-US" sz="2000" dirty="0"/>
              <a:t>各注力ブランドの</a:t>
            </a:r>
            <a:endParaRPr kumimoji="1" lang="en-US" altLang="ja-JP" sz="2000" dirty="0"/>
          </a:p>
          <a:p>
            <a:r>
              <a:rPr lang="ja-JP" altLang="en-US" sz="2000" dirty="0"/>
              <a:t>☆ターゲット策定（戦略）</a:t>
            </a:r>
            <a:endParaRPr lang="en-US" altLang="ja-JP" sz="2000" dirty="0"/>
          </a:p>
          <a:p>
            <a:r>
              <a:rPr lang="ja-JP" altLang="en-US" sz="2000" dirty="0"/>
              <a:t>☆</a:t>
            </a:r>
            <a:r>
              <a:rPr kumimoji="1" lang="ja-JP" altLang="en-US" sz="2000" dirty="0"/>
              <a:t>競合調査（戦略）</a:t>
            </a:r>
            <a:endParaRPr kumimoji="1" lang="en-US" altLang="ja-JP" sz="2000" dirty="0"/>
          </a:p>
          <a:p>
            <a:r>
              <a:rPr lang="ja-JP" altLang="en-US" sz="2000" dirty="0"/>
              <a:t>☆訴求決め（戦術）</a:t>
            </a:r>
            <a:endParaRPr kumimoji="1" lang="en-US" altLang="ja-JP" sz="2000" dirty="0"/>
          </a:p>
          <a:p>
            <a:endParaRPr kumimoji="1" lang="ja-JP" altLang="en-US" sz="2000" dirty="0"/>
          </a:p>
        </p:txBody>
      </p:sp>
      <p:sp>
        <p:nvSpPr>
          <p:cNvPr id="3" name="右大かっこ 2">
            <a:extLst>
              <a:ext uri="{FF2B5EF4-FFF2-40B4-BE49-F238E27FC236}">
                <a16:creationId xmlns:a16="http://schemas.microsoft.com/office/drawing/2014/main" id="{E1C11425-B3D8-7565-347D-FC36A8C2CA67}"/>
              </a:ext>
            </a:extLst>
          </p:cNvPr>
          <p:cNvSpPr/>
          <p:nvPr/>
        </p:nvSpPr>
        <p:spPr>
          <a:xfrm>
            <a:off x="7019749" y="4725144"/>
            <a:ext cx="360040" cy="1656184"/>
          </a:xfrm>
          <a:prstGeom prst="rightBracket">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039C9CD-9370-C42B-1D7D-D5272EF3A6E4}"/>
              </a:ext>
            </a:extLst>
          </p:cNvPr>
          <p:cNvSpPr txBox="1"/>
          <p:nvPr/>
        </p:nvSpPr>
        <p:spPr>
          <a:xfrm>
            <a:off x="7531430" y="5392846"/>
            <a:ext cx="1338828" cy="369332"/>
          </a:xfrm>
          <a:prstGeom prst="rect">
            <a:avLst/>
          </a:prstGeom>
          <a:noFill/>
        </p:spPr>
        <p:txBody>
          <a:bodyPr wrap="none" rtlCol="0">
            <a:spAutoFit/>
          </a:bodyPr>
          <a:lstStyle/>
          <a:p>
            <a:r>
              <a:rPr kumimoji="1" lang="ja-JP" altLang="en-US" dirty="0"/>
              <a:t>今ここです</a:t>
            </a:r>
          </a:p>
        </p:txBody>
      </p:sp>
    </p:spTree>
    <p:extLst>
      <p:ext uri="{BB962C8B-B14F-4D97-AF65-F5344CB8AC3E}">
        <p14:creationId xmlns:p14="http://schemas.microsoft.com/office/powerpoint/2010/main" val="2069116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ED5E8-6CAD-F737-33EE-FAF3F6AEDC2C}"/>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F0DB7E-A831-6EAE-BDEC-900805F53E5C}"/>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アントレスクエアの今後の方針</a:t>
            </a:r>
          </a:p>
        </p:txBody>
      </p:sp>
      <p:sp>
        <p:nvSpPr>
          <p:cNvPr id="2" name="テキスト ボックス 1">
            <a:extLst>
              <a:ext uri="{FF2B5EF4-FFF2-40B4-BE49-F238E27FC236}">
                <a16:creationId xmlns:a16="http://schemas.microsoft.com/office/drawing/2014/main" id="{11956392-B0CD-075F-CF76-CA4CB4B687A2}"/>
              </a:ext>
            </a:extLst>
          </p:cNvPr>
          <p:cNvSpPr txBox="1"/>
          <p:nvPr/>
        </p:nvSpPr>
        <p:spPr>
          <a:xfrm>
            <a:off x="629858" y="1052736"/>
            <a:ext cx="8392041" cy="5632311"/>
          </a:xfrm>
          <a:prstGeom prst="rect">
            <a:avLst/>
          </a:prstGeom>
          <a:noFill/>
        </p:spPr>
        <p:txBody>
          <a:bodyPr wrap="none" rtlCol="0">
            <a:spAutoFit/>
          </a:bodyPr>
          <a:lstStyle/>
          <a:p>
            <a:r>
              <a:rPr lang="en-US" altLang="ja-JP" sz="2000" dirty="0">
                <a:solidFill>
                  <a:schemeClr val="bg1">
                    <a:lumMod val="85000"/>
                  </a:schemeClr>
                </a:solidFill>
              </a:rPr>
              <a:t>【</a:t>
            </a:r>
            <a:r>
              <a:rPr lang="ja-JP" altLang="en-US" sz="2000" b="1" dirty="0">
                <a:solidFill>
                  <a:schemeClr val="bg1">
                    <a:lumMod val="85000"/>
                  </a:schemeClr>
                </a:solidFill>
              </a:rPr>
              <a:t>長期フェーズ</a:t>
            </a:r>
            <a:r>
              <a:rPr kumimoji="1" lang="en-US" altLang="ja-JP" sz="2000" b="1" dirty="0">
                <a:solidFill>
                  <a:schemeClr val="bg1">
                    <a:lumMod val="85000"/>
                  </a:schemeClr>
                </a:solidFill>
              </a:rPr>
              <a:t>】</a:t>
            </a:r>
          </a:p>
          <a:p>
            <a:r>
              <a:rPr kumimoji="1" lang="ja-JP" altLang="en-US" sz="2000" dirty="0">
                <a:solidFill>
                  <a:schemeClr val="bg1">
                    <a:lumMod val="85000"/>
                  </a:schemeClr>
                </a:solidFill>
              </a:rPr>
              <a:t>潜在層を獲得できるサイトにした上で、</a:t>
            </a:r>
            <a:endParaRPr kumimoji="1" lang="en-US" altLang="ja-JP" sz="2000" dirty="0">
              <a:solidFill>
                <a:schemeClr val="bg1">
                  <a:lumMod val="85000"/>
                </a:schemeClr>
              </a:solidFill>
            </a:endParaRPr>
          </a:p>
          <a:p>
            <a:r>
              <a:rPr kumimoji="1" lang="ja-JP" altLang="en-US" sz="2000" dirty="0">
                <a:solidFill>
                  <a:schemeClr val="bg1">
                    <a:lumMod val="85000"/>
                  </a:schemeClr>
                </a:solidFill>
              </a:rPr>
              <a:t>「ブランド」のファンを育成し、売上に貢献してもらう</a:t>
            </a:r>
            <a:endParaRPr kumimoji="1"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アントレスクエアのファンではなくブランド毎のファンの育成</a:t>
            </a:r>
            <a:endParaRPr kumimoji="1" lang="en-US" altLang="ja-JP" sz="2000" dirty="0">
              <a:solidFill>
                <a:schemeClr val="bg1">
                  <a:lumMod val="85000"/>
                </a:schemeClr>
              </a:solidFill>
            </a:endParaRPr>
          </a:p>
          <a:p>
            <a:r>
              <a:rPr lang="ja-JP" altLang="en-US" sz="2000" dirty="0">
                <a:solidFill>
                  <a:schemeClr val="bg1">
                    <a:lumMod val="85000"/>
                  </a:schemeClr>
                </a:solidFill>
              </a:rPr>
              <a:t>☆そもそもファンとは？（売上の構造再分解と全員の認識一致へ）</a:t>
            </a:r>
            <a:endParaRPr lang="en-US" altLang="ja-JP" sz="2000" dirty="0">
              <a:solidFill>
                <a:schemeClr val="bg1">
                  <a:lumMod val="85000"/>
                </a:schemeClr>
              </a:solidFill>
            </a:endParaRPr>
          </a:p>
          <a:p>
            <a:endParaRPr kumimoji="1" lang="en-US" altLang="ja-JP" sz="2000" dirty="0">
              <a:solidFill>
                <a:schemeClr val="bg1">
                  <a:lumMod val="85000"/>
                </a:schemeClr>
              </a:solidFill>
            </a:endParaRPr>
          </a:p>
          <a:p>
            <a:r>
              <a:rPr lang="en-US" altLang="ja-JP" sz="2000" b="1" dirty="0">
                <a:solidFill>
                  <a:schemeClr val="bg1">
                    <a:lumMod val="85000"/>
                  </a:schemeClr>
                </a:solidFill>
              </a:rPr>
              <a:t>【</a:t>
            </a:r>
            <a:r>
              <a:rPr lang="ja-JP" altLang="en-US" sz="2000" b="1" dirty="0">
                <a:solidFill>
                  <a:schemeClr val="bg1">
                    <a:lumMod val="85000"/>
                  </a:schemeClr>
                </a:solidFill>
              </a:rPr>
              <a:t>中～長期フェーズ</a:t>
            </a:r>
            <a:r>
              <a:rPr kumimoji="1" lang="en-US" altLang="ja-JP" sz="2000" b="1" dirty="0">
                <a:solidFill>
                  <a:schemeClr val="bg1">
                    <a:lumMod val="85000"/>
                  </a:schemeClr>
                </a:solidFill>
              </a:rPr>
              <a:t>】</a:t>
            </a:r>
            <a:r>
              <a:rPr kumimoji="1" lang="ja-JP" altLang="en-US" sz="2000" b="1" dirty="0">
                <a:solidFill>
                  <a:schemeClr val="bg1">
                    <a:lumMod val="85000"/>
                  </a:schemeClr>
                </a:solidFill>
              </a:rPr>
              <a:t>潜在層にリーチ！</a:t>
            </a:r>
            <a:endParaRPr lang="en-US" altLang="ja-JP" sz="2000" b="1" dirty="0">
              <a:solidFill>
                <a:schemeClr val="bg1">
                  <a:lumMod val="85000"/>
                </a:schemeClr>
              </a:solidFill>
            </a:endParaRPr>
          </a:p>
          <a:p>
            <a:r>
              <a:rPr lang="ja-JP" altLang="en-US" sz="2000" u="sng" dirty="0">
                <a:solidFill>
                  <a:schemeClr val="bg1">
                    <a:lumMod val="85000"/>
                  </a:schemeClr>
                </a:solidFill>
              </a:rPr>
              <a:t>アントレスクエアで購入することにメリットを感じてもらえる</a:t>
            </a:r>
            <a:r>
              <a:rPr kumimoji="1" lang="ja-JP" altLang="en-US" sz="2000" u="sng" dirty="0">
                <a:solidFill>
                  <a:schemeClr val="bg1">
                    <a:lumMod val="85000"/>
                  </a:schemeClr>
                </a:solidFill>
              </a:rPr>
              <a:t>サイト</a:t>
            </a:r>
            <a:r>
              <a:rPr kumimoji="1" lang="ja-JP" altLang="en-US" sz="2000" dirty="0">
                <a:solidFill>
                  <a:schemeClr val="bg1">
                    <a:lumMod val="85000"/>
                  </a:schemeClr>
                </a:solidFill>
              </a:rPr>
              <a:t>に</a:t>
            </a:r>
            <a:endParaRPr kumimoji="1" lang="en-US" altLang="ja-JP" sz="2000" dirty="0">
              <a:solidFill>
                <a:schemeClr val="bg1">
                  <a:lumMod val="85000"/>
                </a:schemeClr>
              </a:solidFill>
            </a:endParaRPr>
          </a:p>
          <a:p>
            <a:r>
              <a:rPr lang="ja-JP" altLang="en-US" sz="2000" dirty="0">
                <a:solidFill>
                  <a:schemeClr val="bg1">
                    <a:lumMod val="85000"/>
                  </a:schemeClr>
                </a:solidFill>
              </a:rPr>
              <a:t>☆各注力ブランドでの自社サイト限定特典</a:t>
            </a:r>
            <a:endParaRPr lang="en-US" altLang="ja-JP" sz="2000" dirty="0">
              <a:solidFill>
                <a:schemeClr val="bg1">
                  <a:lumMod val="85000"/>
                </a:schemeClr>
              </a:solidFill>
            </a:endParaRPr>
          </a:p>
          <a:p>
            <a:r>
              <a:rPr lang="ja-JP" altLang="en-US" sz="2000" dirty="0">
                <a:solidFill>
                  <a:schemeClr val="bg1">
                    <a:lumMod val="85000"/>
                  </a:schemeClr>
                </a:solidFill>
              </a:rPr>
              <a:t>☆短期フェーズで決めたターゲットに向けたページ作り→</a:t>
            </a:r>
            <a:r>
              <a:rPr lang="en-US" altLang="ja-JP" sz="2000" dirty="0">
                <a:solidFill>
                  <a:schemeClr val="bg1">
                    <a:lumMod val="85000"/>
                  </a:schemeClr>
                </a:solidFill>
              </a:rPr>
              <a:t>PDCA</a:t>
            </a:r>
          </a:p>
          <a:p>
            <a:endParaRPr kumimoji="1" lang="en-US" altLang="ja-JP" sz="2000" dirty="0"/>
          </a:p>
          <a:p>
            <a:r>
              <a:rPr kumimoji="1" lang="en-US" altLang="ja-JP" sz="2000" b="1" dirty="0"/>
              <a:t>【</a:t>
            </a:r>
            <a:r>
              <a:rPr kumimoji="1" lang="ja-JP" altLang="en-US" sz="2000" b="1" dirty="0"/>
              <a:t>短期フェーズ</a:t>
            </a:r>
            <a:r>
              <a:rPr kumimoji="1" lang="en-US" altLang="ja-JP" sz="2000" b="1" dirty="0"/>
              <a:t>】</a:t>
            </a:r>
            <a:endParaRPr lang="en-US" altLang="ja-JP" sz="2000" b="1" dirty="0"/>
          </a:p>
          <a:p>
            <a:r>
              <a:rPr lang="ja-JP" altLang="en-US" sz="2000" dirty="0"/>
              <a:t>マーケティング戦略を策定し、きちんと</a:t>
            </a:r>
            <a:r>
              <a:rPr kumimoji="1" lang="ja-JP" altLang="en-US" sz="2000" dirty="0"/>
              <a:t>戦術を決める</a:t>
            </a:r>
            <a:endParaRPr kumimoji="1" lang="en-US" altLang="ja-JP" sz="2000" dirty="0"/>
          </a:p>
          <a:p>
            <a:r>
              <a:rPr kumimoji="1" lang="ja-JP" altLang="en-US" sz="2000" dirty="0"/>
              <a:t>各注力ブランドの</a:t>
            </a:r>
            <a:endParaRPr kumimoji="1" lang="en-US" altLang="ja-JP" sz="2000" dirty="0"/>
          </a:p>
          <a:p>
            <a:r>
              <a:rPr lang="ja-JP" altLang="en-US" sz="2000" dirty="0"/>
              <a:t>☆ターゲット策定（戦略）</a:t>
            </a:r>
            <a:endParaRPr lang="en-US" altLang="ja-JP" sz="2000" dirty="0"/>
          </a:p>
          <a:p>
            <a:r>
              <a:rPr lang="ja-JP" altLang="en-US" sz="2000" dirty="0"/>
              <a:t>☆</a:t>
            </a:r>
            <a:r>
              <a:rPr kumimoji="1" lang="ja-JP" altLang="en-US" sz="2000" dirty="0"/>
              <a:t>競合調査（戦略）</a:t>
            </a:r>
            <a:endParaRPr kumimoji="1" lang="en-US" altLang="ja-JP" sz="2000" dirty="0"/>
          </a:p>
          <a:p>
            <a:r>
              <a:rPr lang="ja-JP" altLang="en-US" sz="2000" dirty="0"/>
              <a:t>☆訴求決め（戦術）</a:t>
            </a:r>
            <a:endParaRPr kumimoji="1" lang="en-US" altLang="ja-JP" sz="2000" dirty="0"/>
          </a:p>
          <a:p>
            <a:endParaRPr kumimoji="1" lang="ja-JP" altLang="en-US" sz="2000" dirty="0"/>
          </a:p>
        </p:txBody>
      </p:sp>
      <p:sp>
        <p:nvSpPr>
          <p:cNvPr id="3" name="右大かっこ 2">
            <a:extLst>
              <a:ext uri="{FF2B5EF4-FFF2-40B4-BE49-F238E27FC236}">
                <a16:creationId xmlns:a16="http://schemas.microsoft.com/office/drawing/2014/main" id="{9D6308A7-9B8A-67A0-41CE-229471002D78}"/>
              </a:ext>
            </a:extLst>
          </p:cNvPr>
          <p:cNvSpPr/>
          <p:nvPr/>
        </p:nvSpPr>
        <p:spPr>
          <a:xfrm>
            <a:off x="7019749" y="4725144"/>
            <a:ext cx="360040" cy="1656184"/>
          </a:xfrm>
          <a:prstGeom prst="rightBracket">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C001D29B-22BB-65B8-F959-7CFC13DF7DCC}"/>
              </a:ext>
            </a:extLst>
          </p:cNvPr>
          <p:cNvSpPr txBox="1"/>
          <p:nvPr/>
        </p:nvSpPr>
        <p:spPr>
          <a:xfrm>
            <a:off x="7531430" y="5392846"/>
            <a:ext cx="1338828" cy="369332"/>
          </a:xfrm>
          <a:prstGeom prst="rect">
            <a:avLst/>
          </a:prstGeom>
          <a:noFill/>
        </p:spPr>
        <p:txBody>
          <a:bodyPr wrap="none" rtlCol="0">
            <a:spAutoFit/>
          </a:bodyPr>
          <a:lstStyle/>
          <a:p>
            <a:r>
              <a:rPr kumimoji="1" lang="ja-JP" altLang="en-US" dirty="0"/>
              <a:t>今ここです</a:t>
            </a:r>
          </a:p>
        </p:txBody>
      </p:sp>
    </p:spTree>
    <p:extLst>
      <p:ext uri="{BB962C8B-B14F-4D97-AF65-F5344CB8AC3E}">
        <p14:creationId xmlns:p14="http://schemas.microsoft.com/office/powerpoint/2010/main" val="2182638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D31DF-6ACE-662B-F7C1-1117B448D53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195044F-07B1-C3D5-2477-CAE528E44134}"/>
              </a:ext>
            </a:extLst>
          </p:cNvPr>
          <p:cNvSpPr txBox="1"/>
          <p:nvPr/>
        </p:nvSpPr>
        <p:spPr>
          <a:xfrm>
            <a:off x="1013460" y="332656"/>
            <a:ext cx="7879080" cy="461665"/>
          </a:xfrm>
          <a:prstGeom prst="rect">
            <a:avLst/>
          </a:prstGeom>
          <a:noFill/>
        </p:spPr>
        <p:txBody>
          <a:bodyPr wrap="none" rtlCol="0">
            <a:spAutoFit/>
          </a:bodyPr>
          <a:lstStyle/>
          <a:p>
            <a:r>
              <a:rPr kumimoji="1" lang="en-US" altLang="ja-JP" sz="2400" b="1" dirty="0"/>
              <a:t>【</a:t>
            </a:r>
            <a:r>
              <a:rPr kumimoji="1" lang="ja-JP" altLang="en-US" sz="2400" b="1" dirty="0"/>
              <a:t>短期フェーズ</a:t>
            </a:r>
            <a:r>
              <a:rPr kumimoji="1" lang="en-US" altLang="ja-JP" sz="2400" b="1" dirty="0"/>
              <a:t>】</a:t>
            </a:r>
            <a:r>
              <a:rPr kumimoji="1" lang="ja-JP" altLang="en-US" sz="2400" b="1" dirty="0"/>
              <a:t>ブランド毎の</a:t>
            </a:r>
            <a:r>
              <a:rPr lang="ja-JP" altLang="en-US" sz="2400" b="1" dirty="0"/>
              <a:t>戦略と戦術立案の重要性</a:t>
            </a:r>
            <a:endParaRPr kumimoji="1" lang="ja-JP" altLang="en-US" sz="2400" b="1" dirty="0"/>
          </a:p>
        </p:txBody>
      </p:sp>
      <p:sp>
        <p:nvSpPr>
          <p:cNvPr id="2" name="テキスト ボックス 1">
            <a:extLst>
              <a:ext uri="{FF2B5EF4-FFF2-40B4-BE49-F238E27FC236}">
                <a16:creationId xmlns:a16="http://schemas.microsoft.com/office/drawing/2014/main" id="{B33B8E36-7416-6FED-CE46-18EDD7B3EB1F}"/>
              </a:ext>
            </a:extLst>
          </p:cNvPr>
          <p:cNvSpPr txBox="1"/>
          <p:nvPr/>
        </p:nvSpPr>
        <p:spPr>
          <a:xfrm>
            <a:off x="359435" y="950625"/>
            <a:ext cx="9187130" cy="6186309"/>
          </a:xfrm>
          <a:prstGeom prst="rect">
            <a:avLst/>
          </a:prstGeom>
          <a:noFill/>
        </p:spPr>
        <p:txBody>
          <a:bodyPr wrap="none" rtlCol="0">
            <a:spAutoFit/>
          </a:bodyPr>
          <a:lstStyle/>
          <a:p>
            <a:r>
              <a:rPr lang="ja-JP" altLang="en-US" dirty="0"/>
              <a:t>基本は</a:t>
            </a:r>
            <a:r>
              <a:rPr lang="en-US" altLang="ja-JP" u="sng" dirty="0"/>
              <a:t>Where to play</a:t>
            </a:r>
            <a:r>
              <a:rPr lang="ja-JP" altLang="en-US" u="sng" dirty="0"/>
              <a:t>と</a:t>
            </a:r>
            <a:r>
              <a:rPr lang="en-US" altLang="ja-JP" u="sng" dirty="0"/>
              <a:t>How to win</a:t>
            </a:r>
            <a:r>
              <a:rPr lang="en-US" altLang="ja-JP" dirty="0"/>
              <a:t>.</a:t>
            </a:r>
          </a:p>
          <a:p>
            <a:endParaRPr lang="en-US" altLang="ja-JP" dirty="0"/>
          </a:p>
          <a:p>
            <a:r>
              <a:rPr lang="ja-JP" altLang="en-US" dirty="0"/>
              <a:t>★戦略：誰がターゲットで、ターゲットの選択肢にはどんな競合がいるか</a:t>
            </a:r>
            <a:endParaRPr lang="en-US" altLang="ja-JP" dirty="0"/>
          </a:p>
          <a:p>
            <a:r>
              <a:rPr lang="ja-JP" altLang="en-US" dirty="0"/>
              <a:t>★戦術：競合と比較して商品を選んでもらうためにはどうするか</a:t>
            </a:r>
            <a:endParaRPr lang="en-US" altLang="ja-JP" dirty="0"/>
          </a:p>
          <a:p>
            <a:endParaRPr lang="en-US" altLang="ja-JP" dirty="0"/>
          </a:p>
          <a:p>
            <a:r>
              <a:rPr lang="ja-JP" altLang="en-US" dirty="0"/>
              <a:t>■今まで：戦略が定まっていないので商品を知っているユーザーじゃないと</a:t>
            </a:r>
            <a:endParaRPr lang="en-US" altLang="ja-JP" dirty="0"/>
          </a:p>
          <a:p>
            <a:r>
              <a:rPr lang="ja-JP" altLang="en-US" dirty="0"/>
              <a:t>　　　　　買ってもらえない</a:t>
            </a:r>
            <a:endParaRPr lang="en-US" altLang="ja-JP" dirty="0"/>
          </a:p>
          <a:p>
            <a:endParaRPr lang="en-US" altLang="ja-JP" dirty="0"/>
          </a:p>
          <a:p>
            <a:r>
              <a:rPr lang="ja-JP" altLang="en-US" dirty="0"/>
              <a:t>■立案後：戦略に沿った自社の強みを知れるので、ピンポイントな訴求（戦術）ができ</a:t>
            </a:r>
            <a:endParaRPr lang="en-US" altLang="ja-JP" dirty="0"/>
          </a:p>
          <a:p>
            <a:r>
              <a:rPr lang="ja-JP" altLang="en-US" dirty="0"/>
              <a:t>　　　　　潜在層にも振り向いてもらえる訴求が可能</a:t>
            </a:r>
            <a:endParaRPr lang="en-US" altLang="ja-JP" dirty="0"/>
          </a:p>
          <a:p>
            <a:r>
              <a:rPr lang="ja-JP" altLang="en-US" dirty="0"/>
              <a:t>　　　　　競合が定まっているので改善策のための軸ができる</a:t>
            </a:r>
            <a:endParaRPr lang="en-US" altLang="ja-JP" dirty="0"/>
          </a:p>
          <a:p>
            <a:endParaRPr lang="en-US" altLang="ja-JP" dirty="0"/>
          </a:p>
          <a:p>
            <a:r>
              <a:rPr lang="ja-JP" altLang="en-US" b="1" dirty="0"/>
              <a:t>■</a:t>
            </a:r>
            <a:r>
              <a:rPr lang="en-US" altLang="ja-JP" b="1" dirty="0"/>
              <a:t>NEXT ACTION</a:t>
            </a:r>
          </a:p>
          <a:p>
            <a:r>
              <a:rPr lang="ja-JP" altLang="en-US" dirty="0"/>
              <a:t>まずは注力するブランドの優先順位を決め、下記を固めていく。</a:t>
            </a:r>
            <a:endParaRPr lang="en-US" altLang="ja-JP" dirty="0"/>
          </a:p>
          <a:p>
            <a:r>
              <a:rPr lang="ja-JP" altLang="en-US" dirty="0"/>
              <a:t>・ターゲット（どの商品をだれに売るのか）</a:t>
            </a:r>
            <a:endParaRPr lang="en-US" altLang="ja-JP" dirty="0"/>
          </a:p>
          <a:p>
            <a:r>
              <a:rPr lang="ja-JP" altLang="en-US" dirty="0"/>
              <a:t>・競合（競合ができていて、自社ができていることやできていないことは？）</a:t>
            </a:r>
            <a:endParaRPr lang="en-US" altLang="ja-JP" dirty="0"/>
          </a:p>
          <a:p>
            <a:r>
              <a:rPr lang="ja-JP" altLang="en-US" dirty="0"/>
              <a:t>・強み弱み（競合と比較して見えてくる自社の強み）</a:t>
            </a:r>
            <a:endParaRPr lang="en-US" altLang="ja-JP" dirty="0"/>
          </a:p>
          <a:p>
            <a:r>
              <a:rPr lang="ja-JP" altLang="en-US" dirty="0"/>
              <a:t>・訴求ポイント（強みをターゲットの興味を引くように言語化）</a:t>
            </a:r>
            <a:endParaRPr lang="en-US" altLang="ja-JP" dirty="0"/>
          </a:p>
          <a:p>
            <a:endParaRPr lang="en-US" altLang="ja-JP" dirty="0"/>
          </a:p>
          <a:p>
            <a:pPr algn="ctr"/>
            <a:r>
              <a:rPr lang="ja-JP" altLang="en-US" b="1" dirty="0"/>
              <a:t>「売れた（ラッキー）」から「売った（狙い通り）」へ変えましょう。</a:t>
            </a:r>
            <a:endParaRPr lang="en-US" altLang="ja-JP" b="1" dirty="0"/>
          </a:p>
          <a:p>
            <a:r>
              <a:rPr lang="ja-JP" altLang="en-US" dirty="0"/>
              <a:t>　　　　</a:t>
            </a:r>
            <a:endParaRPr lang="en-US" altLang="ja-JP" dirty="0"/>
          </a:p>
          <a:p>
            <a:r>
              <a:rPr lang="ja-JP" altLang="en-US" dirty="0"/>
              <a:t>　　　　</a:t>
            </a:r>
            <a:endParaRPr lang="en-US" altLang="ja-JP" dirty="0"/>
          </a:p>
        </p:txBody>
      </p:sp>
    </p:spTree>
    <p:extLst>
      <p:ext uri="{BB962C8B-B14F-4D97-AF65-F5344CB8AC3E}">
        <p14:creationId xmlns:p14="http://schemas.microsoft.com/office/powerpoint/2010/main" val="230058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FF6A-C943-A41C-6523-44D4BDD4965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DDA1F9-BE44-1F05-7E5C-AF0016BFB9B2}"/>
              </a:ext>
            </a:extLst>
          </p:cNvPr>
          <p:cNvSpPr txBox="1"/>
          <p:nvPr/>
        </p:nvSpPr>
        <p:spPr>
          <a:xfrm>
            <a:off x="2346356" y="476672"/>
            <a:ext cx="5213287" cy="461665"/>
          </a:xfrm>
          <a:prstGeom prst="rect">
            <a:avLst/>
          </a:prstGeom>
          <a:noFill/>
        </p:spPr>
        <p:txBody>
          <a:bodyPr wrap="none" rtlCol="0">
            <a:spAutoFit/>
          </a:bodyPr>
          <a:lstStyle/>
          <a:p>
            <a:r>
              <a:rPr lang="en-US" altLang="ja-JP" sz="2400" b="1" dirty="0"/>
              <a:t>EC</a:t>
            </a:r>
            <a:r>
              <a:rPr lang="ja-JP" altLang="en-US" sz="2400" b="1" dirty="0"/>
              <a:t>でのマーケティング</a:t>
            </a:r>
            <a:r>
              <a:rPr kumimoji="1" lang="ja-JP" altLang="en-US" sz="2400" b="1" dirty="0"/>
              <a:t>戦略の立て方</a:t>
            </a:r>
          </a:p>
        </p:txBody>
      </p:sp>
      <p:sp>
        <p:nvSpPr>
          <p:cNvPr id="6" name="テキスト ボックス 5">
            <a:extLst>
              <a:ext uri="{FF2B5EF4-FFF2-40B4-BE49-F238E27FC236}">
                <a16:creationId xmlns:a16="http://schemas.microsoft.com/office/drawing/2014/main" id="{886F45C3-0D35-7DAD-D5AB-A0171D4B7FA8}"/>
              </a:ext>
            </a:extLst>
          </p:cNvPr>
          <p:cNvSpPr txBox="1"/>
          <p:nvPr/>
        </p:nvSpPr>
        <p:spPr>
          <a:xfrm>
            <a:off x="590266" y="1268760"/>
            <a:ext cx="8725466" cy="5232202"/>
          </a:xfrm>
          <a:prstGeom prst="rect">
            <a:avLst/>
          </a:prstGeom>
          <a:noFill/>
        </p:spPr>
        <p:txBody>
          <a:bodyPr wrap="none" rtlCol="0">
            <a:spAutoFit/>
          </a:bodyPr>
          <a:lstStyle/>
          <a:p>
            <a:r>
              <a:rPr lang="ja-JP" altLang="en-US" sz="2000" dirty="0"/>
              <a:t>①</a:t>
            </a:r>
            <a:r>
              <a:rPr lang="ja-JP" altLang="en-US" sz="2000" b="1" dirty="0"/>
              <a:t>この商品を誰に届けたいのかを決める、ターゲット決め</a:t>
            </a:r>
            <a:endParaRPr lang="en-US" altLang="ja-JP" sz="2000" b="1" dirty="0"/>
          </a:p>
          <a:p>
            <a:r>
              <a:rPr lang="ja-JP" altLang="en-US" sz="2000" dirty="0"/>
              <a:t>└</a:t>
            </a:r>
            <a:r>
              <a:rPr lang="ja-JP" altLang="en-US" sz="1600" dirty="0"/>
              <a:t>ターゲットの中でもこの層を狙っていきたい、というところまで細かく設定しましょう</a:t>
            </a:r>
            <a:endParaRPr lang="en-US" altLang="ja-JP" sz="1600" dirty="0"/>
          </a:p>
          <a:p>
            <a:endParaRPr lang="en-US" altLang="ja-JP" sz="2000" dirty="0"/>
          </a:p>
          <a:p>
            <a:endParaRPr lang="en-US" altLang="ja-JP" sz="2000" dirty="0"/>
          </a:p>
          <a:p>
            <a:r>
              <a:rPr lang="ja-JP" altLang="en-US" sz="2000" dirty="0"/>
              <a:t>②</a:t>
            </a:r>
            <a:r>
              <a:rPr lang="ja-JP" altLang="en-US" sz="2000" b="1" dirty="0"/>
              <a:t>競合調査</a:t>
            </a:r>
            <a:endParaRPr lang="en-US" altLang="ja-JP" sz="2000" b="1" dirty="0"/>
          </a:p>
          <a:p>
            <a:r>
              <a:rPr lang="ja-JP" altLang="en-US" sz="2000" dirty="0"/>
              <a:t>└</a:t>
            </a:r>
            <a:r>
              <a:rPr lang="ja-JP" altLang="en-US" sz="1600" dirty="0"/>
              <a:t>ターゲットが決まれば競合が見えてきます。どの企業が自社の競合となり得るかを調査</a:t>
            </a:r>
            <a:endParaRPr lang="en-US" altLang="ja-JP" sz="1600" dirty="0"/>
          </a:p>
          <a:p>
            <a:endParaRPr lang="en-US" altLang="ja-JP" sz="1600" dirty="0"/>
          </a:p>
          <a:p>
            <a:endParaRPr lang="en-US" altLang="ja-JP" sz="1600" dirty="0"/>
          </a:p>
          <a:p>
            <a:r>
              <a:rPr lang="ja-JP" altLang="en-US" sz="1600" dirty="0"/>
              <a:t>③</a:t>
            </a:r>
            <a:r>
              <a:rPr lang="ja-JP" altLang="en-US" sz="2000" b="1" dirty="0"/>
              <a:t>商品分析、課題発見</a:t>
            </a:r>
            <a:endParaRPr lang="en-US" altLang="ja-JP" sz="2000" b="1" dirty="0"/>
          </a:p>
          <a:p>
            <a:r>
              <a:rPr lang="ja-JP" altLang="en-US" dirty="0"/>
              <a:t>└①で定めたターゲットを基にペルソナを設定。どうしたらこのペルソナが</a:t>
            </a:r>
            <a:endParaRPr lang="en-US" altLang="ja-JP" dirty="0"/>
          </a:p>
          <a:p>
            <a:r>
              <a:rPr lang="ja-JP" altLang="en-US" dirty="0"/>
              <a:t>　競合と比較検討した上で自社商品を購入してくれるか？の視点でペルソナの持つ</a:t>
            </a:r>
            <a:endParaRPr lang="en-US" altLang="ja-JP" dirty="0"/>
          </a:p>
          <a:p>
            <a:r>
              <a:rPr lang="ja-JP" altLang="en-US" dirty="0"/>
              <a:t>　課題や、競合と比べた自社の強み弱みの洗い出しをします。</a:t>
            </a:r>
            <a:endParaRPr lang="en-US" altLang="ja-JP" dirty="0"/>
          </a:p>
          <a:p>
            <a:endParaRPr lang="en-US" altLang="ja-JP" dirty="0"/>
          </a:p>
          <a:p>
            <a:endParaRPr lang="en-US" altLang="ja-JP" dirty="0"/>
          </a:p>
          <a:p>
            <a:r>
              <a:rPr lang="ja-JP" altLang="en-US" dirty="0"/>
              <a:t>④</a:t>
            </a:r>
            <a:r>
              <a:rPr lang="ja-JP" altLang="en-US" b="1" dirty="0"/>
              <a:t>アクションプランの洗い出し（ここは戦略というより戦術）</a:t>
            </a:r>
            <a:endParaRPr lang="en-US" altLang="ja-JP" b="1" dirty="0"/>
          </a:p>
          <a:p>
            <a:r>
              <a:rPr lang="ja-JP" altLang="en-US" dirty="0"/>
              <a:t>・強みを訴求したページ制作</a:t>
            </a:r>
            <a:endParaRPr lang="en-US" altLang="ja-JP" dirty="0"/>
          </a:p>
          <a:p>
            <a:r>
              <a:rPr lang="ja-JP" altLang="en-US" dirty="0"/>
              <a:t>・ペルソナがよく使う</a:t>
            </a:r>
            <a:r>
              <a:rPr lang="en-US" altLang="ja-JP" dirty="0"/>
              <a:t>SNS</a:t>
            </a:r>
            <a:r>
              <a:rPr lang="ja-JP" altLang="en-US" dirty="0"/>
              <a:t>や検索エンジン上等でのプロモーションをする</a:t>
            </a:r>
            <a:endParaRPr lang="en-US" altLang="ja-JP" dirty="0"/>
          </a:p>
          <a:p>
            <a:r>
              <a:rPr lang="ja-JP" altLang="en-US" dirty="0"/>
              <a:t>・ペルソナの目に留まる広告に最適化</a:t>
            </a:r>
            <a:endParaRPr lang="en-US" altLang="ja-JP" dirty="0"/>
          </a:p>
        </p:txBody>
      </p:sp>
    </p:spTree>
    <p:extLst>
      <p:ext uri="{BB962C8B-B14F-4D97-AF65-F5344CB8AC3E}">
        <p14:creationId xmlns:p14="http://schemas.microsoft.com/office/powerpoint/2010/main" val="423066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0A4C-8CA0-17C0-E03F-2B6E5E04E71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35B0BD-A5D8-0BDD-6DD9-283AA3584D65}"/>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アントレスクエアの今後の方針</a:t>
            </a:r>
          </a:p>
        </p:txBody>
      </p:sp>
      <p:sp>
        <p:nvSpPr>
          <p:cNvPr id="2" name="テキスト ボックス 1">
            <a:extLst>
              <a:ext uri="{FF2B5EF4-FFF2-40B4-BE49-F238E27FC236}">
                <a16:creationId xmlns:a16="http://schemas.microsoft.com/office/drawing/2014/main" id="{90B00B8A-CFA6-F413-1A1E-49A5411FD05C}"/>
              </a:ext>
            </a:extLst>
          </p:cNvPr>
          <p:cNvSpPr txBox="1"/>
          <p:nvPr/>
        </p:nvSpPr>
        <p:spPr>
          <a:xfrm>
            <a:off x="629858" y="1052736"/>
            <a:ext cx="8392041" cy="5632311"/>
          </a:xfrm>
          <a:prstGeom prst="rect">
            <a:avLst/>
          </a:prstGeom>
          <a:noFill/>
        </p:spPr>
        <p:txBody>
          <a:bodyPr wrap="none" rtlCol="0">
            <a:spAutoFit/>
          </a:bodyPr>
          <a:lstStyle/>
          <a:p>
            <a:r>
              <a:rPr lang="en-US" altLang="ja-JP" sz="2000" dirty="0">
                <a:solidFill>
                  <a:schemeClr val="bg1">
                    <a:lumMod val="85000"/>
                  </a:schemeClr>
                </a:solidFill>
              </a:rPr>
              <a:t>【</a:t>
            </a:r>
            <a:r>
              <a:rPr lang="ja-JP" altLang="en-US" sz="2000" b="1" dirty="0">
                <a:solidFill>
                  <a:schemeClr val="bg1">
                    <a:lumMod val="85000"/>
                  </a:schemeClr>
                </a:solidFill>
              </a:rPr>
              <a:t>長期フェーズ</a:t>
            </a:r>
            <a:r>
              <a:rPr kumimoji="1" lang="en-US" altLang="ja-JP" sz="2000" b="1" dirty="0">
                <a:solidFill>
                  <a:schemeClr val="bg1">
                    <a:lumMod val="85000"/>
                  </a:schemeClr>
                </a:solidFill>
              </a:rPr>
              <a:t>】</a:t>
            </a:r>
          </a:p>
          <a:p>
            <a:r>
              <a:rPr kumimoji="1" lang="ja-JP" altLang="en-US" sz="2000" dirty="0">
                <a:solidFill>
                  <a:schemeClr val="bg1">
                    <a:lumMod val="85000"/>
                  </a:schemeClr>
                </a:solidFill>
              </a:rPr>
              <a:t>潜在層を獲得できるサイトにした上で、</a:t>
            </a:r>
            <a:endParaRPr kumimoji="1" lang="en-US" altLang="ja-JP" sz="2000" dirty="0">
              <a:solidFill>
                <a:schemeClr val="bg1">
                  <a:lumMod val="85000"/>
                </a:schemeClr>
              </a:solidFill>
            </a:endParaRPr>
          </a:p>
          <a:p>
            <a:r>
              <a:rPr kumimoji="1" lang="ja-JP" altLang="en-US" sz="2000" dirty="0">
                <a:solidFill>
                  <a:schemeClr val="bg1">
                    <a:lumMod val="85000"/>
                  </a:schemeClr>
                </a:solidFill>
              </a:rPr>
              <a:t>「ブランド」のファンを育成し、売上に貢献してもらう</a:t>
            </a:r>
            <a:endParaRPr kumimoji="1"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アントレスクエアのファンではなくブランド毎のファンの育成</a:t>
            </a:r>
            <a:endParaRPr kumimoji="1" lang="en-US" altLang="ja-JP" sz="2000" dirty="0">
              <a:solidFill>
                <a:schemeClr val="bg1">
                  <a:lumMod val="85000"/>
                </a:schemeClr>
              </a:solidFill>
            </a:endParaRPr>
          </a:p>
          <a:p>
            <a:r>
              <a:rPr lang="ja-JP" altLang="en-US" sz="2000" dirty="0">
                <a:solidFill>
                  <a:schemeClr val="bg1">
                    <a:lumMod val="85000"/>
                  </a:schemeClr>
                </a:solidFill>
              </a:rPr>
              <a:t>☆そもそもファンとは？（売上の構造再分解と全員の認識一致へ）</a:t>
            </a:r>
            <a:endParaRPr lang="en-US" altLang="ja-JP" sz="2000" dirty="0">
              <a:solidFill>
                <a:schemeClr val="bg1">
                  <a:lumMod val="85000"/>
                </a:schemeClr>
              </a:solidFill>
            </a:endParaRPr>
          </a:p>
          <a:p>
            <a:endParaRPr kumimoji="1" lang="en-US" altLang="ja-JP" sz="2000" dirty="0">
              <a:solidFill>
                <a:schemeClr val="bg1">
                  <a:lumMod val="85000"/>
                </a:schemeClr>
              </a:solidFill>
            </a:endParaRPr>
          </a:p>
          <a:p>
            <a:r>
              <a:rPr lang="en-US" altLang="ja-JP" sz="2000" b="1" dirty="0"/>
              <a:t>【</a:t>
            </a:r>
            <a:r>
              <a:rPr lang="ja-JP" altLang="en-US" sz="2000" b="1" dirty="0"/>
              <a:t>中～長期フェーズ</a:t>
            </a:r>
            <a:r>
              <a:rPr kumimoji="1" lang="en-US" altLang="ja-JP" sz="2000" b="1" dirty="0"/>
              <a:t>】</a:t>
            </a:r>
            <a:r>
              <a:rPr kumimoji="1" lang="ja-JP" altLang="en-US" sz="2000" b="1" dirty="0"/>
              <a:t>潜在層にリーチ！</a:t>
            </a:r>
            <a:endParaRPr lang="en-US" altLang="ja-JP" sz="2000" b="1" dirty="0"/>
          </a:p>
          <a:p>
            <a:r>
              <a:rPr lang="ja-JP" altLang="en-US" sz="2000" u="sng" dirty="0"/>
              <a:t>アントレスクエアで購入することにメリットを感じてもらえる</a:t>
            </a:r>
            <a:r>
              <a:rPr kumimoji="1" lang="ja-JP" altLang="en-US" sz="2000" u="sng" dirty="0"/>
              <a:t>サイト</a:t>
            </a:r>
            <a:r>
              <a:rPr kumimoji="1" lang="ja-JP" altLang="en-US" sz="2000" dirty="0"/>
              <a:t>に</a:t>
            </a:r>
            <a:endParaRPr kumimoji="1" lang="en-US" altLang="ja-JP" sz="2000" dirty="0"/>
          </a:p>
          <a:p>
            <a:r>
              <a:rPr lang="ja-JP" altLang="en-US" sz="2000" dirty="0"/>
              <a:t>☆各注力ブランドでの自社サイト限定特典</a:t>
            </a:r>
            <a:endParaRPr lang="en-US" altLang="ja-JP" sz="2000" dirty="0"/>
          </a:p>
          <a:p>
            <a:r>
              <a:rPr lang="ja-JP" altLang="en-US" sz="2000" dirty="0"/>
              <a:t>☆短期フェーズで決めたターゲットに向けたページ作り→</a:t>
            </a:r>
            <a:r>
              <a:rPr lang="en-US" altLang="ja-JP" sz="2000" dirty="0"/>
              <a:t>PDCA</a:t>
            </a:r>
          </a:p>
          <a:p>
            <a:endParaRPr kumimoji="1" lang="en-US" altLang="ja-JP" sz="2000" dirty="0">
              <a:solidFill>
                <a:schemeClr val="bg1">
                  <a:lumMod val="85000"/>
                </a:schemeClr>
              </a:solidFill>
            </a:endParaRPr>
          </a:p>
          <a:p>
            <a:r>
              <a:rPr kumimoji="1" lang="en-US" altLang="ja-JP" sz="2000" b="1" dirty="0">
                <a:solidFill>
                  <a:schemeClr val="bg1">
                    <a:lumMod val="85000"/>
                  </a:schemeClr>
                </a:solidFill>
              </a:rPr>
              <a:t>【</a:t>
            </a:r>
            <a:r>
              <a:rPr kumimoji="1" lang="ja-JP" altLang="en-US" sz="2000" b="1" dirty="0">
                <a:solidFill>
                  <a:schemeClr val="bg1">
                    <a:lumMod val="85000"/>
                  </a:schemeClr>
                </a:solidFill>
              </a:rPr>
              <a:t>短期フェーズ</a:t>
            </a:r>
            <a:r>
              <a:rPr kumimoji="1" lang="en-US" altLang="ja-JP" sz="2000" b="1" dirty="0">
                <a:solidFill>
                  <a:schemeClr val="bg1">
                    <a:lumMod val="85000"/>
                  </a:schemeClr>
                </a:solidFill>
              </a:rPr>
              <a:t>】</a:t>
            </a:r>
            <a:endParaRPr lang="en-US" altLang="ja-JP" sz="2000" b="1" dirty="0">
              <a:solidFill>
                <a:schemeClr val="bg1">
                  <a:lumMod val="85000"/>
                </a:schemeClr>
              </a:solidFill>
            </a:endParaRPr>
          </a:p>
          <a:p>
            <a:r>
              <a:rPr lang="ja-JP" altLang="en-US" sz="2000" dirty="0">
                <a:solidFill>
                  <a:schemeClr val="bg1">
                    <a:lumMod val="85000"/>
                  </a:schemeClr>
                </a:solidFill>
              </a:rPr>
              <a:t>マーケティング戦略を策定し、きちんと</a:t>
            </a:r>
            <a:r>
              <a:rPr kumimoji="1" lang="ja-JP" altLang="en-US" sz="2000" dirty="0">
                <a:solidFill>
                  <a:schemeClr val="bg1">
                    <a:lumMod val="85000"/>
                  </a:schemeClr>
                </a:solidFill>
              </a:rPr>
              <a:t>戦術を決める</a:t>
            </a:r>
            <a:endParaRPr kumimoji="1" lang="en-US" altLang="ja-JP" sz="2000" dirty="0">
              <a:solidFill>
                <a:schemeClr val="bg1">
                  <a:lumMod val="85000"/>
                </a:schemeClr>
              </a:solidFill>
            </a:endParaRPr>
          </a:p>
          <a:p>
            <a:r>
              <a:rPr kumimoji="1" lang="ja-JP" altLang="en-US" sz="2000" dirty="0">
                <a:solidFill>
                  <a:schemeClr val="bg1">
                    <a:lumMod val="85000"/>
                  </a:schemeClr>
                </a:solidFill>
              </a:rPr>
              <a:t>各注力ブランドの</a:t>
            </a:r>
            <a:endParaRPr kumimoji="1" lang="en-US" altLang="ja-JP" sz="2000" dirty="0">
              <a:solidFill>
                <a:schemeClr val="bg1">
                  <a:lumMod val="85000"/>
                </a:schemeClr>
              </a:solidFill>
            </a:endParaRPr>
          </a:p>
          <a:p>
            <a:r>
              <a:rPr lang="ja-JP" altLang="en-US" sz="2000" dirty="0">
                <a:solidFill>
                  <a:schemeClr val="bg1">
                    <a:lumMod val="85000"/>
                  </a:schemeClr>
                </a:solidFill>
              </a:rPr>
              <a:t>☆ターゲット策定（戦略）</a:t>
            </a:r>
            <a:endParaRPr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競合調査（戦略）</a:t>
            </a:r>
            <a:endParaRPr kumimoji="1" lang="en-US" altLang="ja-JP" sz="2000" dirty="0">
              <a:solidFill>
                <a:schemeClr val="bg1">
                  <a:lumMod val="85000"/>
                </a:schemeClr>
              </a:solidFill>
            </a:endParaRPr>
          </a:p>
          <a:p>
            <a:r>
              <a:rPr lang="ja-JP" altLang="en-US" sz="2000" dirty="0">
                <a:solidFill>
                  <a:schemeClr val="bg1">
                    <a:lumMod val="85000"/>
                  </a:schemeClr>
                </a:solidFill>
              </a:rPr>
              <a:t>☆訴求決め（戦術）</a:t>
            </a:r>
            <a:endParaRPr kumimoji="1" lang="en-US" altLang="ja-JP" sz="2000" dirty="0">
              <a:solidFill>
                <a:schemeClr val="bg1">
                  <a:lumMod val="85000"/>
                </a:schemeClr>
              </a:solidFill>
            </a:endParaRPr>
          </a:p>
          <a:p>
            <a:endParaRPr kumimoji="1" lang="ja-JP" altLang="en-US" sz="2000" dirty="0"/>
          </a:p>
        </p:txBody>
      </p:sp>
      <p:sp>
        <p:nvSpPr>
          <p:cNvPr id="3" name="右大かっこ 2">
            <a:extLst>
              <a:ext uri="{FF2B5EF4-FFF2-40B4-BE49-F238E27FC236}">
                <a16:creationId xmlns:a16="http://schemas.microsoft.com/office/drawing/2014/main" id="{EF03925B-EC39-21C3-8F6F-FA7AE138088D}"/>
              </a:ext>
            </a:extLst>
          </p:cNvPr>
          <p:cNvSpPr/>
          <p:nvPr/>
        </p:nvSpPr>
        <p:spPr>
          <a:xfrm>
            <a:off x="7019749" y="4725144"/>
            <a:ext cx="360040" cy="1656184"/>
          </a:xfrm>
          <a:prstGeom prst="rightBracket">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0E7B346-B7E1-42C6-77D8-A29E01901C09}"/>
              </a:ext>
            </a:extLst>
          </p:cNvPr>
          <p:cNvSpPr txBox="1"/>
          <p:nvPr/>
        </p:nvSpPr>
        <p:spPr>
          <a:xfrm>
            <a:off x="7531430" y="5392846"/>
            <a:ext cx="1338828" cy="369332"/>
          </a:xfrm>
          <a:prstGeom prst="rect">
            <a:avLst/>
          </a:prstGeom>
          <a:noFill/>
        </p:spPr>
        <p:txBody>
          <a:bodyPr wrap="none" rtlCol="0">
            <a:spAutoFit/>
          </a:bodyPr>
          <a:lstStyle/>
          <a:p>
            <a:r>
              <a:rPr kumimoji="1" lang="ja-JP" altLang="en-US" dirty="0">
                <a:solidFill>
                  <a:schemeClr val="bg1">
                    <a:lumMod val="85000"/>
                  </a:schemeClr>
                </a:solidFill>
              </a:rPr>
              <a:t>今ここです</a:t>
            </a:r>
          </a:p>
        </p:txBody>
      </p:sp>
    </p:spTree>
    <p:extLst>
      <p:ext uri="{BB962C8B-B14F-4D97-AF65-F5344CB8AC3E}">
        <p14:creationId xmlns:p14="http://schemas.microsoft.com/office/powerpoint/2010/main" val="1473635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C872-11CA-8B73-74FD-6A79843A7F4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69194FE-7D15-450C-8AB6-B1103B6747AB}"/>
              </a:ext>
            </a:extLst>
          </p:cNvPr>
          <p:cNvSpPr txBox="1"/>
          <p:nvPr/>
        </p:nvSpPr>
        <p:spPr>
          <a:xfrm>
            <a:off x="1629013" y="332656"/>
            <a:ext cx="6647974" cy="461665"/>
          </a:xfrm>
          <a:prstGeom prst="rect">
            <a:avLst/>
          </a:prstGeom>
          <a:noFill/>
        </p:spPr>
        <p:txBody>
          <a:bodyPr wrap="none" rtlCol="0">
            <a:spAutoFit/>
          </a:bodyPr>
          <a:lstStyle/>
          <a:p>
            <a:r>
              <a:rPr kumimoji="1" lang="en-US" altLang="ja-JP" sz="2400" b="1" dirty="0"/>
              <a:t>【</a:t>
            </a:r>
            <a:r>
              <a:rPr kumimoji="1" lang="ja-JP" altLang="en-US" sz="2400" b="1" dirty="0"/>
              <a:t>中期フェーズ</a:t>
            </a:r>
            <a:r>
              <a:rPr kumimoji="1" lang="en-US" altLang="ja-JP" sz="2400" b="1" dirty="0"/>
              <a:t>】</a:t>
            </a:r>
            <a:r>
              <a:rPr kumimoji="1" lang="ja-JP" altLang="en-US" sz="2400" b="1" dirty="0"/>
              <a:t>カスタマージャーニーマップ</a:t>
            </a:r>
          </a:p>
        </p:txBody>
      </p:sp>
      <p:graphicFrame>
        <p:nvGraphicFramePr>
          <p:cNvPr id="14" name="表 13">
            <a:extLst>
              <a:ext uri="{FF2B5EF4-FFF2-40B4-BE49-F238E27FC236}">
                <a16:creationId xmlns:a16="http://schemas.microsoft.com/office/drawing/2014/main" id="{9EFFD2CF-BBF5-7A67-BA4A-600168D22637}"/>
              </a:ext>
            </a:extLst>
          </p:cNvPr>
          <p:cNvGraphicFramePr>
            <a:graphicFrameLocks noGrp="1"/>
          </p:cNvGraphicFramePr>
          <p:nvPr>
            <p:extLst>
              <p:ext uri="{D42A27DB-BD31-4B8C-83A1-F6EECF244321}">
                <p14:modId xmlns:p14="http://schemas.microsoft.com/office/powerpoint/2010/main" val="3853074560"/>
              </p:ext>
            </p:extLst>
          </p:nvPr>
        </p:nvGraphicFramePr>
        <p:xfrm>
          <a:off x="344488" y="1621987"/>
          <a:ext cx="9217024" cy="4893176"/>
        </p:xfrm>
        <a:graphic>
          <a:graphicData uri="http://schemas.openxmlformats.org/drawingml/2006/table">
            <a:tbl>
              <a:tblPr firstRow="1" bandRow="1">
                <a:tableStyleId>{5C22544A-7EE6-4342-B048-85BDC9FD1C3A}</a:tableStyleId>
              </a:tblPr>
              <a:tblGrid>
                <a:gridCol w="1510988">
                  <a:extLst>
                    <a:ext uri="{9D8B030D-6E8A-4147-A177-3AD203B41FA5}">
                      <a16:colId xmlns:a16="http://schemas.microsoft.com/office/drawing/2014/main" val="1627643268"/>
                    </a:ext>
                  </a:extLst>
                </a:gridCol>
                <a:gridCol w="1813185">
                  <a:extLst>
                    <a:ext uri="{9D8B030D-6E8A-4147-A177-3AD203B41FA5}">
                      <a16:colId xmlns:a16="http://schemas.microsoft.com/office/drawing/2014/main" val="445009586"/>
                    </a:ext>
                  </a:extLst>
                </a:gridCol>
                <a:gridCol w="3021975">
                  <a:extLst>
                    <a:ext uri="{9D8B030D-6E8A-4147-A177-3AD203B41FA5}">
                      <a16:colId xmlns:a16="http://schemas.microsoft.com/office/drawing/2014/main" val="3456869295"/>
                    </a:ext>
                  </a:extLst>
                </a:gridCol>
                <a:gridCol w="2870876">
                  <a:extLst>
                    <a:ext uri="{9D8B030D-6E8A-4147-A177-3AD203B41FA5}">
                      <a16:colId xmlns:a16="http://schemas.microsoft.com/office/drawing/2014/main" val="1549196436"/>
                    </a:ext>
                  </a:extLst>
                </a:gridCol>
              </a:tblGrid>
              <a:tr h="504056">
                <a:tc>
                  <a:txBody>
                    <a:bodyPr/>
                    <a:lstStyle/>
                    <a:p>
                      <a:r>
                        <a:rPr lang="ja-JP" altLang="en-US" sz="1400" dirty="0"/>
                        <a:t>フェーズ</a:t>
                      </a:r>
                    </a:p>
                  </a:txBody>
                  <a:tcPr anchor="ctr"/>
                </a:tc>
                <a:tc>
                  <a:txBody>
                    <a:bodyPr/>
                    <a:lstStyle/>
                    <a:p>
                      <a:r>
                        <a:rPr lang="ja-JP" altLang="en-US" sz="1400" dirty="0"/>
                        <a:t>タッチポイント</a:t>
                      </a:r>
                    </a:p>
                  </a:txBody>
                  <a:tcPr anchor="ctr"/>
                </a:tc>
                <a:tc>
                  <a:txBody>
                    <a:bodyPr/>
                    <a:lstStyle/>
                    <a:p>
                      <a:r>
                        <a:rPr lang="ja-JP" altLang="en-US" sz="1400" dirty="0"/>
                        <a:t>ペルソナの行動・心理</a:t>
                      </a:r>
                    </a:p>
                  </a:txBody>
                  <a:tcPr anchor="ctr"/>
                </a:tc>
                <a:tc>
                  <a:txBody>
                    <a:bodyPr/>
                    <a:lstStyle/>
                    <a:p>
                      <a:r>
                        <a:rPr lang="ja-JP" altLang="en-US" sz="1400" dirty="0"/>
                        <a:t>アクション（例）</a:t>
                      </a:r>
                    </a:p>
                  </a:txBody>
                  <a:tcPr anchor="ctr"/>
                </a:tc>
                <a:extLst>
                  <a:ext uri="{0D108BD9-81ED-4DB2-BD59-A6C34878D82A}">
                    <a16:rowId xmlns:a16="http://schemas.microsoft.com/office/drawing/2014/main" val="3006731255"/>
                  </a:ext>
                </a:extLst>
              </a:tr>
              <a:tr h="0">
                <a:tc>
                  <a:txBody>
                    <a:bodyPr/>
                    <a:lstStyle/>
                    <a:p>
                      <a:r>
                        <a:rPr lang="en-US" altLang="ja-JP" sz="1400" b="1" dirty="0"/>
                        <a:t>1. </a:t>
                      </a:r>
                      <a:r>
                        <a:rPr lang="ja-JP" altLang="en-US" sz="1400" b="1" dirty="0"/>
                        <a:t>認知</a:t>
                      </a:r>
                      <a:endParaRPr lang="en-US" sz="1400" dirty="0"/>
                    </a:p>
                  </a:txBody>
                  <a:tcPr anchor="ctr"/>
                </a:tc>
                <a:tc>
                  <a:txBody>
                    <a:bodyPr/>
                    <a:lstStyle/>
                    <a:p>
                      <a:r>
                        <a:rPr lang="en-US" altLang="ja-JP" sz="1200" dirty="0"/>
                        <a:t>SNS</a:t>
                      </a:r>
                      <a:endParaRPr kumimoji="1" lang="ja-JP" altLang="en-US" sz="1400" dirty="0"/>
                    </a:p>
                  </a:txBody>
                  <a:tcPr/>
                </a:tc>
                <a:tc>
                  <a:txBody>
                    <a:bodyPr/>
                    <a:lstStyle/>
                    <a:p>
                      <a:r>
                        <a:rPr lang="en-US" altLang="ja-JP" sz="1000" dirty="0"/>
                        <a:t>- Instagram</a:t>
                      </a:r>
                      <a:r>
                        <a:rPr lang="ja-JP" altLang="en-US" sz="1000" dirty="0"/>
                        <a:t>や</a:t>
                      </a:r>
                      <a:r>
                        <a:rPr lang="en-US" altLang="ja-JP" sz="1000" dirty="0"/>
                        <a:t>TikTok</a:t>
                      </a:r>
                      <a:r>
                        <a:rPr lang="ja-JP" altLang="en-US" sz="1000" dirty="0"/>
                        <a:t>で海外雑貨の投稿を見て興味を持つ</a:t>
                      </a:r>
                      <a:br>
                        <a:rPr lang="ja-JP" altLang="en-US" sz="1000" dirty="0"/>
                      </a:br>
                      <a:r>
                        <a:rPr lang="en-US" altLang="ja-JP" sz="1000" dirty="0"/>
                        <a:t>- </a:t>
                      </a:r>
                      <a:r>
                        <a:rPr lang="ja-JP" altLang="en-US" sz="1000" dirty="0"/>
                        <a:t>「こんなデザイン、欲しい！」と一目惚れ</a:t>
                      </a:r>
                      <a:br>
                        <a:rPr lang="ja-JP" altLang="en-US" sz="1000" dirty="0"/>
                      </a:br>
                      <a:r>
                        <a:rPr lang="en-US" altLang="ja-JP" sz="1000" dirty="0"/>
                        <a:t>- </a:t>
                      </a:r>
                      <a:r>
                        <a:rPr lang="ja-JP" altLang="en-US" sz="1000" dirty="0"/>
                        <a:t>投稿を保存しておく </a:t>
                      </a:r>
                      <a:r>
                        <a:rPr lang="en-US" altLang="ja-JP" sz="1000" dirty="0"/>
                        <a:t>or </a:t>
                      </a:r>
                      <a:r>
                        <a:rPr lang="ja-JP" altLang="en-US" sz="1000" dirty="0"/>
                        <a:t>スクリーンショットを撮る</a:t>
                      </a:r>
                      <a:endParaRPr kumimoji="1" lang="ja-JP" altLang="en-US" sz="1000" dirty="0"/>
                    </a:p>
                  </a:txBody>
                  <a:tcPr/>
                </a:tc>
                <a:tc>
                  <a:txBody>
                    <a:bodyPr/>
                    <a:lstStyle/>
                    <a:p>
                      <a:r>
                        <a:rPr lang="en-US" altLang="ja-JP" sz="900" dirty="0"/>
                        <a:t>- SNS</a:t>
                      </a:r>
                      <a:r>
                        <a:rPr lang="ja-JP" altLang="en-US" sz="900" dirty="0"/>
                        <a:t>で魅力的な写真や動画を発信</a:t>
                      </a:r>
                      <a:br>
                        <a:rPr lang="ja-JP" altLang="en-US" sz="900" dirty="0"/>
                      </a:br>
                      <a:r>
                        <a:rPr lang="en-US" altLang="ja-JP" sz="900" dirty="0"/>
                        <a:t>- </a:t>
                      </a:r>
                      <a:r>
                        <a:rPr lang="ja-JP" altLang="en-US" sz="900" dirty="0"/>
                        <a:t>インフルエンサーとのコラボで自然な形で商品を紹介</a:t>
                      </a:r>
                      <a:br>
                        <a:rPr lang="ja-JP" altLang="en-US" sz="900" dirty="0"/>
                      </a:br>
                      <a:r>
                        <a:rPr lang="en-US" altLang="ja-JP" sz="900" dirty="0"/>
                        <a:t>- </a:t>
                      </a:r>
                      <a:r>
                        <a:rPr lang="ja-JP" altLang="en-US" sz="900" dirty="0"/>
                        <a:t>ペルソナの興味を惹くストーリー性（商品購入のベネフィット）を発信</a:t>
                      </a:r>
                      <a:endParaRPr kumimoji="1" lang="ja-JP" altLang="en-US" sz="900" dirty="0"/>
                    </a:p>
                  </a:txBody>
                  <a:tcPr/>
                </a:tc>
                <a:extLst>
                  <a:ext uri="{0D108BD9-81ED-4DB2-BD59-A6C34878D82A}">
                    <a16:rowId xmlns:a16="http://schemas.microsoft.com/office/drawing/2014/main" val="549506481"/>
                  </a:ext>
                </a:extLst>
              </a:tr>
              <a:tr h="559416">
                <a:tc>
                  <a:txBody>
                    <a:bodyPr/>
                    <a:lstStyle/>
                    <a:p>
                      <a:r>
                        <a:rPr lang="en-US" altLang="ja-JP" sz="1400" b="1" dirty="0"/>
                        <a:t>2. </a:t>
                      </a:r>
                      <a:r>
                        <a:rPr lang="ja-JP" altLang="en-US" sz="1400" b="1" dirty="0"/>
                        <a:t>興味</a:t>
                      </a:r>
                      <a:endParaRPr kumimoji="1" lang="ja-JP" altLang="en-US" sz="1400" b="1" dirty="0"/>
                    </a:p>
                  </a:txBody>
                  <a:tcPr/>
                </a:tc>
                <a:tc>
                  <a:txBody>
                    <a:bodyPr/>
                    <a:lstStyle/>
                    <a:p>
                      <a:r>
                        <a:rPr lang="en-US" altLang="ja-JP" sz="1200" dirty="0"/>
                        <a:t>SNS</a:t>
                      </a:r>
                    </a:p>
                    <a:p>
                      <a:r>
                        <a:rPr lang="ja-JP" altLang="en-US" sz="1200" dirty="0"/>
                        <a:t>公式サイト</a:t>
                      </a:r>
                      <a:endParaRPr kumimoji="1" lang="ja-JP" altLang="en-US" sz="1200" dirty="0"/>
                    </a:p>
                  </a:txBody>
                  <a:tcPr/>
                </a:tc>
                <a:tc>
                  <a:txBody>
                    <a:bodyPr/>
                    <a:lstStyle/>
                    <a:p>
                      <a:r>
                        <a:rPr lang="en-US" altLang="ja-JP" sz="1000" dirty="0"/>
                        <a:t>- SNS</a:t>
                      </a:r>
                      <a:r>
                        <a:rPr lang="ja-JP" altLang="en-US" sz="1000" dirty="0"/>
                        <a:t>投稿から商品やブランド名を検索</a:t>
                      </a:r>
                      <a:br>
                        <a:rPr lang="ja-JP" altLang="en-US" sz="1000" dirty="0"/>
                      </a:br>
                      <a:r>
                        <a:rPr lang="en-US" altLang="ja-JP" sz="1000" dirty="0"/>
                        <a:t>- </a:t>
                      </a:r>
                      <a:r>
                        <a:rPr lang="ja-JP" altLang="en-US" sz="1000" dirty="0"/>
                        <a:t>公式サイトを訪問し、デザイン・価格をひととおりチェック</a:t>
                      </a:r>
                      <a:br>
                        <a:rPr lang="ja-JP" altLang="en-US" sz="1000" dirty="0"/>
                      </a:br>
                      <a:r>
                        <a:rPr lang="en-US" altLang="ja-JP" sz="1000" dirty="0"/>
                        <a:t>- </a:t>
                      </a:r>
                      <a:r>
                        <a:rPr lang="ja-JP" altLang="en-US" sz="1000" dirty="0"/>
                        <a:t>「なんか良さそう」と感じるが、まだ購入には至らない</a:t>
                      </a:r>
                      <a:endParaRPr kumimoji="1" lang="ja-JP" altLang="en-US" sz="1000" dirty="0"/>
                    </a:p>
                  </a:txBody>
                  <a:tcPr/>
                </a:tc>
                <a:tc>
                  <a:txBody>
                    <a:bodyPr/>
                    <a:lstStyle/>
                    <a:p>
                      <a:r>
                        <a:rPr lang="en-US" altLang="ja-JP" sz="900" dirty="0"/>
                        <a:t>- </a:t>
                      </a:r>
                      <a:r>
                        <a:rPr lang="ja-JP" altLang="en-US" sz="900" dirty="0"/>
                        <a:t>公式サイトで商品の特徴や世界観をわかりやすく訴求</a:t>
                      </a:r>
                      <a:br>
                        <a:rPr lang="ja-JP" altLang="en-US" sz="900" dirty="0"/>
                      </a:br>
                      <a:r>
                        <a:rPr lang="en-US" altLang="ja-JP" sz="900" dirty="0"/>
                        <a:t>- </a:t>
                      </a:r>
                      <a:r>
                        <a:rPr lang="ja-JP" altLang="en-US" sz="900" dirty="0"/>
                        <a:t>シンプルな</a:t>
                      </a:r>
                      <a:r>
                        <a:rPr lang="en-US" altLang="ja-JP" sz="900" dirty="0"/>
                        <a:t>UI/UX</a:t>
                      </a:r>
                      <a:r>
                        <a:rPr lang="ja-JP" altLang="en-US" sz="900" dirty="0"/>
                        <a:t>でストレスなく情報収集できるように</a:t>
                      </a:r>
                      <a:br>
                        <a:rPr lang="ja-JP" altLang="en-US" sz="900" dirty="0"/>
                      </a:br>
                      <a:r>
                        <a:rPr lang="en-US" altLang="ja-JP" sz="900" dirty="0"/>
                        <a:t>- </a:t>
                      </a:r>
                      <a:r>
                        <a:rPr lang="ja-JP" altLang="en-US" sz="900" dirty="0"/>
                        <a:t>初回購入特典・限定クーポンの存在を分かりやすく提示</a:t>
                      </a:r>
                      <a:endParaRPr kumimoji="1" lang="ja-JP" altLang="en-US" sz="900" dirty="0"/>
                    </a:p>
                  </a:txBody>
                  <a:tcPr/>
                </a:tc>
                <a:extLst>
                  <a:ext uri="{0D108BD9-81ED-4DB2-BD59-A6C34878D82A}">
                    <a16:rowId xmlns:a16="http://schemas.microsoft.com/office/drawing/2014/main" val="247748341"/>
                  </a:ext>
                </a:extLst>
              </a:tr>
              <a:tr h="559416">
                <a:tc>
                  <a:txBody>
                    <a:bodyPr/>
                    <a:lstStyle/>
                    <a:p>
                      <a:r>
                        <a:rPr lang="en-US" altLang="ja-JP" sz="1400" b="1" dirty="0"/>
                        <a:t>3. </a:t>
                      </a:r>
                      <a:r>
                        <a:rPr lang="ja-JP" altLang="en-US" sz="1400" b="1" dirty="0"/>
                        <a:t>検討</a:t>
                      </a:r>
                      <a:endParaRPr kumimoji="1" lang="ja-JP" altLang="en-US" sz="1400" b="1" dirty="0"/>
                    </a:p>
                  </a:txBody>
                  <a:tcPr/>
                </a:tc>
                <a:tc>
                  <a:txBody>
                    <a:bodyPr/>
                    <a:lstStyle/>
                    <a:p>
                      <a:r>
                        <a:rPr lang="ja-JP" altLang="en-US" sz="1200" dirty="0"/>
                        <a:t>比較・レビューサイト</a:t>
                      </a:r>
                      <a:endParaRPr lang="en-US" altLang="ja-JP" sz="1200" dirty="0"/>
                    </a:p>
                    <a:p>
                      <a:r>
                        <a:rPr lang="ja-JP" altLang="en-US" sz="1200" dirty="0"/>
                        <a:t>公式サイト</a:t>
                      </a:r>
                      <a:endParaRPr lang="en-US" altLang="ja-JP" sz="1200" dirty="0"/>
                    </a:p>
                    <a:p>
                      <a:r>
                        <a:rPr lang="en-US" altLang="ja-JP" sz="1200" dirty="0"/>
                        <a:t>SNS</a:t>
                      </a:r>
                      <a:endParaRPr kumimoji="1" lang="ja-JP" altLang="en-US" sz="1200" dirty="0"/>
                    </a:p>
                  </a:txBody>
                  <a:tcPr/>
                </a:tc>
                <a:tc>
                  <a:txBody>
                    <a:bodyPr/>
                    <a:lstStyle/>
                    <a:p>
                      <a:r>
                        <a:rPr lang="en-US" altLang="ja-JP" sz="1000" dirty="0"/>
                        <a:t>- </a:t>
                      </a:r>
                      <a:r>
                        <a:rPr lang="ja-JP" altLang="en-US" sz="1000" dirty="0"/>
                        <a:t>比較・レビューサイトや</a:t>
                      </a:r>
                      <a:r>
                        <a:rPr lang="en-US" altLang="ja-JP" sz="1000" dirty="0"/>
                        <a:t>SNS</a:t>
                      </a:r>
                      <a:r>
                        <a:rPr lang="ja-JP" altLang="en-US" sz="1000" dirty="0"/>
                        <a:t>のコメント欄で評価・口コミをチェック</a:t>
                      </a:r>
                      <a:br>
                        <a:rPr lang="ja-JP" altLang="en-US" sz="1000" dirty="0"/>
                      </a:br>
                      <a:r>
                        <a:rPr lang="en-US" altLang="ja-JP" sz="1000" dirty="0"/>
                        <a:t>- </a:t>
                      </a:r>
                      <a:r>
                        <a:rPr lang="ja-JP" altLang="en-US" sz="1000" dirty="0"/>
                        <a:t>コスパやデザイン、使い勝手などを総合的に比較</a:t>
                      </a:r>
                      <a:br>
                        <a:rPr lang="ja-JP" altLang="en-US" sz="1000" dirty="0"/>
                      </a:br>
                      <a:r>
                        <a:rPr lang="en-US" altLang="ja-JP" sz="1000" dirty="0"/>
                        <a:t>- </a:t>
                      </a:r>
                      <a:r>
                        <a:rPr lang="ja-JP" altLang="en-US" sz="1000" dirty="0"/>
                        <a:t>「他と比べてどうか」＆「最安値はどこか」を入念に探す</a:t>
                      </a:r>
                      <a:endParaRPr kumimoji="1" lang="ja-JP" altLang="en-US" sz="1000" dirty="0"/>
                    </a:p>
                  </a:txBody>
                  <a:tcPr/>
                </a:tc>
                <a:tc>
                  <a:txBody>
                    <a:bodyPr/>
                    <a:lstStyle/>
                    <a:p>
                      <a:r>
                        <a:rPr lang="en-US" altLang="ja-JP" sz="900" dirty="0"/>
                        <a:t>- </a:t>
                      </a:r>
                      <a:r>
                        <a:rPr lang="ja-JP" altLang="en-US" sz="900" dirty="0"/>
                        <a:t>比較サイトに商品の詳細情報やレビューを充実させる</a:t>
                      </a:r>
                      <a:br>
                        <a:rPr lang="ja-JP" altLang="en-US" sz="900" dirty="0"/>
                      </a:br>
                      <a:r>
                        <a:rPr lang="en-US" altLang="ja-JP" sz="900" dirty="0"/>
                        <a:t>- </a:t>
                      </a:r>
                      <a:r>
                        <a:rPr lang="ja-JP" altLang="en-US" sz="900" dirty="0"/>
                        <a:t>ユーザーのリアルな声を公式サイトや</a:t>
                      </a:r>
                      <a:r>
                        <a:rPr lang="en-US" altLang="ja-JP" sz="900" dirty="0"/>
                        <a:t>SNS</a:t>
                      </a:r>
                      <a:r>
                        <a:rPr lang="ja-JP" altLang="en-US" sz="900" dirty="0"/>
                        <a:t>でシェア</a:t>
                      </a:r>
                      <a:br>
                        <a:rPr lang="ja-JP" altLang="en-US" sz="900" dirty="0"/>
                      </a:br>
                      <a:r>
                        <a:rPr lang="en-US" altLang="ja-JP" sz="900" dirty="0"/>
                        <a:t>- </a:t>
                      </a:r>
                      <a:r>
                        <a:rPr lang="ja-JP" altLang="en-US" sz="900" dirty="0"/>
                        <a:t>複数</a:t>
                      </a:r>
                      <a:r>
                        <a:rPr lang="en-US" altLang="ja-JP" sz="900" dirty="0"/>
                        <a:t>EC</a:t>
                      </a:r>
                      <a:r>
                        <a:rPr lang="ja-JP" altLang="en-US" sz="900" dirty="0"/>
                        <a:t>サイトでの販売価格を統制しつつ、公式サイトのメリット（保証や特典など）を明確化</a:t>
                      </a:r>
                      <a:endParaRPr kumimoji="1" lang="ja-JP" altLang="en-US" sz="900" dirty="0"/>
                    </a:p>
                  </a:txBody>
                  <a:tcPr/>
                </a:tc>
                <a:extLst>
                  <a:ext uri="{0D108BD9-81ED-4DB2-BD59-A6C34878D82A}">
                    <a16:rowId xmlns:a16="http://schemas.microsoft.com/office/drawing/2014/main" val="3068329820"/>
                  </a:ext>
                </a:extLst>
              </a:tr>
              <a:tr h="559416">
                <a:tc>
                  <a:txBody>
                    <a:bodyPr/>
                    <a:lstStyle/>
                    <a:p>
                      <a:r>
                        <a:rPr lang="en-US" altLang="ja-JP" sz="1400" b="1" dirty="0"/>
                        <a:t>4. </a:t>
                      </a:r>
                      <a:r>
                        <a:rPr lang="ja-JP" altLang="en-US" sz="1400" b="1" dirty="0"/>
                        <a:t>購入</a:t>
                      </a:r>
                      <a:endParaRPr kumimoji="1" lang="ja-JP" altLang="en-US" sz="1400" b="1" dirty="0"/>
                    </a:p>
                  </a:txBody>
                  <a:tcPr/>
                </a:tc>
                <a:tc>
                  <a:txBody>
                    <a:bodyPr/>
                    <a:lstStyle/>
                    <a:p>
                      <a:r>
                        <a:rPr lang="ja-JP" altLang="en-US" sz="1100" dirty="0"/>
                        <a:t>公式サイト</a:t>
                      </a:r>
                      <a:endParaRPr lang="en-US" altLang="ja-JP" sz="1100" dirty="0"/>
                    </a:p>
                    <a:p>
                      <a:r>
                        <a:rPr lang="ja-JP" altLang="en-US" sz="1100" dirty="0"/>
                        <a:t>他</a:t>
                      </a:r>
                      <a:r>
                        <a:rPr lang="en-US" altLang="ja-JP" sz="1100" dirty="0"/>
                        <a:t>EC</a:t>
                      </a:r>
                      <a:r>
                        <a:rPr lang="ja-JP" altLang="en-US" sz="1100" dirty="0"/>
                        <a:t>サイト</a:t>
                      </a:r>
                      <a:endParaRPr lang="en-US" altLang="ja-JP" sz="1100" dirty="0"/>
                    </a:p>
                    <a:p>
                      <a:r>
                        <a:rPr lang="ja-JP" altLang="en-US" sz="1100" dirty="0"/>
                        <a:t>（楽天・</a:t>
                      </a:r>
                      <a:r>
                        <a:rPr lang="en-US" altLang="ja-JP" sz="1100" dirty="0"/>
                        <a:t>Amazon</a:t>
                      </a:r>
                      <a:r>
                        <a:rPr lang="ja-JP" altLang="en-US" sz="1100" dirty="0"/>
                        <a:t>など）</a:t>
                      </a:r>
                      <a:endParaRPr kumimoji="1" lang="ja-JP" altLang="en-US" sz="1100" dirty="0"/>
                    </a:p>
                  </a:txBody>
                  <a:tcPr/>
                </a:tc>
                <a:tc>
                  <a:txBody>
                    <a:bodyPr/>
                    <a:lstStyle/>
                    <a:p>
                      <a:r>
                        <a:rPr lang="en-US" altLang="ja-JP" sz="1000" dirty="0"/>
                        <a:t>- </a:t>
                      </a:r>
                      <a:r>
                        <a:rPr lang="ja-JP" altLang="en-US" sz="1000" dirty="0"/>
                        <a:t>各</a:t>
                      </a:r>
                      <a:r>
                        <a:rPr lang="en-US" altLang="ja-JP" sz="1000" dirty="0"/>
                        <a:t>EC</a:t>
                      </a:r>
                      <a:r>
                        <a:rPr lang="ja-JP" altLang="en-US" sz="1000" dirty="0"/>
                        <a:t>サイトの価格やポイント還元率を比較</a:t>
                      </a:r>
                      <a:br>
                        <a:rPr lang="ja-JP" altLang="en-US" sz="1000" dirty="0"/>
                      </a:br>
                      <a:r>
                        <a:rPr lang="en-US" altLang="ja-JP" sz="1000" dirty="0"/>
                        <a:t>- </a:t>
                      </a:r>
                      <a:r>
                        <a:rPr lang="ja-JP" altLang="en-US" sz="1000" dirty="0"/>
                        <a:t>最安値やお得なキャンペーン、クーポンがあるかを重視</a:t>
                      </a:r>
                      <a:br>
                        <a:rPr lang="ja-JP" altLang="en-US" sz="1000" dirty="0"/>
                      </a:br>
                      <a:r>
                        <a:rPr lang="en-US" altLang="ja-JP" sz="1000" dirty="0"/>
                        <a:t>- </a:t>
                      </a:r>
                      <a:r>
                        <a:rPr lang="ja-JP" altLang="en-US" sz="1000" b="1" u="sng" dirty="0"/>
                        <a:t>「ここが一番お得かも」と判断して購入へ</a:t>
                      </a:r>
                      <a:endParaRPr kumimoji="1" lang="ja-JP" altLang="en-US" sz="1000" b="1" u="sng" dirty="0"/>
                    </a:p>
                  </a:txBody>
                  <a:tcPr/>
                </a:tc>
                <a:tc>
                  <a:txBody>
                    <a:bodyPr/>
                    <a:lstStyle/>
                    <a:p>
                      <a:r>
                        <a:rPr lang="en-US" altLang="ja-JP" sz="900" dirty="0"/>
                        <a:t>- </a:t>
                      </a:r>
                      <a:r>
                        <a:rPr lang="ja-JP" altLang="en-US" sz="900" dirty="0"/>
                        <a:t>価格競争力を意識したキャンペーンやクーポン施策</a:t>
                      </a:r>
                      <a:br>
                        <a:rPr lang="ja-JP" altLang="en-US" sz="900" dirty="0"/>
                      </a:br>
                      <a:r>
                        <a:rPr lang="en-US" altLang="ja-JP" sz="900" dirty="0"/>
                        <a:t>- </a:t>
                      </a:r>
                      <a:r>
                        <a:rPr lang="ja-JP" altLang="en-US" sz="900" b="1" u="sng" dirty="0"/>
                        <a:t>公式サイト限定の特典を設けて、比較サイトからの誘導を促進</a:t>
                      </a:r>
                      <a:endParaRPr kumimoji="1" lang="ja-JP" altLang="en-US" sz="900" b="1" u="sng" dirty="0"/>
                    </a:p>
                  </a:txBody>
                  <a:tcPr/>
                </a:tc>
                <a:extLst>
                  <a:ext uri="{0D108BD9-81ED-4DB2-BD59-A6C34878D82A}">
                    <a16:rowId xmlns:a16="http://schemas.microsoft.com/office/drawing/2014/main" val="2804518293"/>
                  </a:ext>
                </a:extLst>
              </a:tr>
              <a:tr h="559416">
                <a:tc>
                  <a:txBody>
                    <a:bodyPr/>
                    <a:lstStyle/>
                    <a:p>
                      <a:r>
                        <a:rPr lang="en-US" altLang="ja-JP" sz="1400" b="1" dirty="0"/>
                        <a:t>5. </a:t>
                      </a:r>
                      <a:r>
                        <a:rPr lang="ja-JP" altLang="en-US" sz="1400" b="1" dirty="0"/>
                        <a:t>使用・評価</a:t>
                      </a:r>
                      <a:endParaRPr kumimoji="1" lang="ja-JP" altLang="en-US" sz="1400" b="1" dirty="0"/>
                    </a:p>
                  </a:txBody>
                  <a:tcPr/>
                </a:tc>
                <a:tc>
                  <a:txBody>
                    <a:bodyPr/>
                    <a:lstStyle/>
                    <a:p>
                      <a:r>
                        <a:rPr lang="ja-JP" altLang="en-US" sz="1200" dirty="0"/>
                        <a:t>公式サイト</a:t>
                      </a:r>
                      <a:endParaRPr lang="en-US" altLang="ja-JP" sz="1200" dirty="0"/>
                    </a:p>
                    <a:p>
                      <a:r>
                        <a:rPr lang="en-US" altLang="ja-JP" sz="1200" dirty="0"/>
                        <a:t>SNS</a:t>
                      </a:r>
                    </a:p>
                    <a:p>
                      <a:r>
                        <a:rPr lang="ja-JP" altLang="en-US" sz="1200" dirty="0"/>
                        <a:t>レビューサイト</a:t>
                      </a:r>
                      <a:endParaRPr kumimoji="1" lang="ja-JP" altLang="en-US" sz="1200" dirty="0"/>
                    </a:p>
                  </a:txBody>
                  <a:tcPr/>
                </a:tc>
                <a:tc>
                  <a:txBody>
                    <a:bodyPr/>
                    <a:lstStyle/>
                    <a:p>
                      <a:r>
                        <a:rPr lang="en-US" altLang="ja-JP" sz="1000" dirty="0"/>
                        <a:t>- </a:t>
                      </a:r>
                      <a:r>
                        <a:rPr lang="ja-JP" altLang="en-US" sz="1000" dirty="0"/>
                        <a:t>実際に商品を使ってみて、品質・使い勝手を確認</a:t>
                      </a:r>
                      <a:br>
                        <a:rPr lang="ja-JP" altLang="en-US" sz="1000" dirty="0"/>
                      </a:br>
                      <a:r>
                        <a:rPr lang="en-US" altLang="ja-JP" sz="1000" dirty="0"/>
                        <a:t>- </a:t>
                      </a:r>
                      <a:r>
                        <a:rPr lang="ja-JP" altLang="en-US" sz="1000" dirty="0"/>
                        <a:t>気に入れば</a:t>
                      </a:r>
                      <a:r>
                        <a:rPr lang="en-US" altLang="ja-JP" sz="1000" dirty="0"/>
                        <a:t>SNS</a:t>
                      </a:r>
                      <a:r>
                        <a:rPr lang="ja-JP" altLang="en-US" sz="1000" dirty="0"/>
                        <a:t>やレビューサイトに投稿し、シェア</a:t>
                      </a:r>
                      <a:br>
                        <a:rPr lang="ja-JP" altLang="en-US" sz="1000" dirty="0"/>
                      </a:br>
                      <a:r>
                        <a:rPr lang="en-US" altLang="ja-JP" sz="1000" dirty="0"/>
                        <a:t>- </a:t>
                      </a:r>
                      <a:r>
                        <a:rPr lang="ja-JP" altLang="en-US" sz="1000" dirty="0"/>
                        <a:t>周囲からの反応や「いいね！」を楽しむ</a:t>
                      </a:r>
                      <a:endParaRPr kumimoji="1" lang="ja-JP" altLang="en-US" sz="1000" dirty="0"/>
                    </a:p>
                  </a:txBody>
                  <a:tcPr/>
                </a:tc>
                <a:tc>
                  <a:txBody>
                    <a:bodyPr/>
                    <a:lstStyle/>
                    <a:p>
                      <a:r>
                        <a:rPr lang="en-US" altLang="ja-JP" sz="900" dirty="0"/>
                        <a:t>- </a:t>
                      </a:r>
                      <a:r>
                        <a:rPr lang="ja-JP" altLang="en-US" sz="900" dirty="0"/>
                        <a:t>パッケージや同梱物で</a:t>
                      </a:r>
                      <a:r>
                        <a:rPr lang="en-US" altLang="ja-JP" sz="900" dirty="0"/>
                        <a:t>SNS</a:t>
                      </a:r>
                      <a:r>
                        <a:rPr lang="ja-JP" altLang="en-US" sz="900" dirty="0"/>
                        <a:t>投稿を促進（</a:t>
                      </a:r>
                      <a:r>
                        <a:rPr lang="en-US" altLang="ja-JP" sz="900" dirty="0"/>
                        <a:t>#</a:t>
                      </a:r>
                      <a:r>
                        <a:rPr lang="ja-JP" altLang="en-US" sz="900" dirty="0"/>
                        <a:t>タグの案内など）</a:t>
                      </a:r>
                      <a:br>
                        <a:rPr lang="ja-JP" altLang="en-US" sz="900" dirty="0"/>
                      </a:br>
                      <a:r>
                        <a:rPr lang="en-US" altLang="ja-JP" sz="900" dirty="0"/>
                        <a:t>- </a:t>
                      </a:r>
                      <a:r>
                        <a:rPr lang="ja-JP" altLang="en-US" sz="900" dirty="0"/>
                        <a:t>レビュー投稿のお礼やリピートクーポンを提供し、再購入やファン化を狙う</a:t>
                      </a:r>
                      <a:br>
                        <a:rPr lang="ja-JP" altLang="en-US" sz="900" dirty="0"/>
                      </a:br>
                      <a:r>
                        <a:rPr lang="en-US" altLang="ja-JP" sz="900" dirty="0"/>
                        <a:t>- </a:t>
                      </a:r>
                      <a:r>
                        <a:rPr lang="ja-JP" altLang="en-US" sz="900" dirty="0"/>
                        <a:t>ユーザーの投稿を公式</a:t>
                      </a:r>
                      <a:r>
                        <a:rPr lang="en-US" altLang="ja-JP" sz="900" dirty="0"/>
                        <a:t>SNS</a:t>
                      </a:r>
                      <a:r>
                        <a:rPr lang="ja-JP" altLang="en-US" sz="900" dirty="0"/>
                        <a:t>で紹介し、コミュニティを活性化</a:t>
                      </a:r>
                      <a:endParaRPr kumimoji="1" lang="ja-JP" altLang="en-US" sz="900" dirty="0"/>
                    </a:p>
                  </a:txBody>
                  <a:tcPr/>
                </a:tc>
                <a:extLst>
                  <a:ext uri="{0D108BD9-81ED-4DB2-BD59-A6C34878D82A}">
                    <a16:rowId xmlns:a16="http://schemas.microsoft.com/office/drawing/2014/main" val="2760081485"/>
                  </a:ext>
                </a:extLst>
              </a:tr>
            </a:tbl>
          </a:graphicData>
        </a:graphic>
      </p:graphicFrame>
      <p:sp>
        <p:nvSpPr>
          <p:cNvPr id="2" name="テキスト ボックス 1">
            <a:extLst>
              <a:ext uri="{FF2B5EF4-FFF2-40B4-BE49-F238E27FC236}">
                <a16:creationId xmlns:a16="http://schemas.microsoft.com/office/drawing/2014/main" id="{0B5FDAB6-1393-6472-450D-D2120191BFC0}"/>
              </a:ext>
            </a:extLst>
          </p:cNvPr>
          <p:cNvSpPr txBox="1"/>
          <p:nvPr/>
        </p:nvSpPr>
        <p:spPr>
          <a:xfrm>
            <a:off x="344488" y="975656"/>
            <a:ext cx="6526146" cy="646331"/>
          </a:xfrm>
          <a:prstGeom prst="rect">
            <a:avLst/>
          </a:prstGeom>
          <a:noFill/>
        </p:spPr>
        <p:txBody>
          <a:bodyPr wrap="none" rtlCol="0">
            <a:spAutoFit/>
          </a:bodyPr>
          <a:lstStyle/>
          <a:p>
            <a:r>
              <a:rPr kumimoji="1" lang="ja-JP" altLang="en-US" dirty="0"/>
              <a:t>ペルソナ：海外雑貨やインテリアに興味がある</a:t>
            </a:r>
            <a:r>
              <a:rPr kumimoji="1" lang="en-US" altLang="ja-JP" dirty="0"/>
              <a:t>30</a:t>
            </a:r>
            <a:r>
              <a:rPr kumimoji="1" lang="ja-JP" altLang="en-US" dirty="0"/>
              <a:t>～</a:t>
            </a:r>
            <a:r>
              <a:rPr kumimoji="1" lang="en-US" altLang="ja-JP" dirty="0"/>
              <a:t>40</a:t>
            </a:r>
            <a:r>
              <a:rPr kumimoji="1" lang="ja-JP" altLang="en-US" dirty="0"/>
              <a:t>歳女性</a:t>
            </a:r>
            <a:endParaRPr kumimoji="1" lang="en-US" altLang="ja-JP" dirty="0"/>
          </a:p>
          <a:p>
            <a:r>
              <a:rPr kumimoji="1" lang="en-US" altLang="ja-JP" dirty="0"/>
              <a:t>WCA</a:t>
            </a:r>
            <a:r>
              <a:rPr kumimoji="1" lang="ja-JP" altLang="en-US" dirty="0"/>
              <a:t>社内の</a:t>
            </a:r>
            <a:r>
              <a:rPr kumimoji="1" lang="en-US" altLang="ja-JP" dirty="0"/>
              <a:t>30</a:t>
            </a:r>
            <a:r>
              <a:rPr kumimoji="1" lang="ja-JP" altLang="en-US" dirty="0"/>
              <a:t>代女性にも数人にヒアリング</a:t>
            </a:r>
          </a:p>
        </p:txBody>
      </p:sp>
    </p:spTree>
    <p:extLst>
      <p:ext uri="{BB962C8B-B14F-4D97-AF65-F5344CB8AC3E}">
        <p14:creationId xmlns:p14="http://schemas.microsoft.com/office/powerpoint/2010/main" val="3444319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A7FDE2E-7E0A-9395-B246-A5D32885B51A}"/>
              </a:ext>
            </a:extLst>
          </p:cNvPr>
          <p:cNvSpPr>
            <a:spLocks noGrp="1"/>
          </p:cNvSpPr>
          <p:nvPr>
            <p:ph type="title"/>
          </p:nvPr>
        </p:nvSpPr>
        <p:spPr/>
        <p:txBody>
          <a:bodyPr/>
          <a:lstStyle/>
          <a:p>
            <a:r>
              <a:rPr lang="en-US" altLang="ja-JP" dirty="0">
                <a:solidFill>
                  <a:schemeClr val="tx1"/>
                </a:solidFill>
              </a:rPr>
              <a:t>【</a:t>
            </a:r>
            <a:r>
              <a:rPr lang="ja-JP" altLang="en-US" dirty="0">
                <a:solidFill>
                  <a:schemeClr val="tx1"/>
                </a:solidFill>
              </a:rPr>
              <a:t>中期フェーズ</a:t>
            </a:r>
            <a:r>
              <a:rPr lang="en-US" altLang="ja-JP" dirty="0">
                <a:solidFill>
                  <a:schemeClr val="tx1"/>
                </a:solidFill>
              </a:rPr>
              <a:t>】</a:t>
            </a:r>
            <a:r>
              <a:rPr lang="ja-JP" altLang="en-US" dirty="0">
                <a:solidFill>
                  <a:schemeClr val="tx1"/>
                </a:solidFill>
              </a:rPr>
              <a:t>ページ改修＋自社限定特典の作成</a:t>
            </a:r>
          </a:p>
        </p:txBody>
      </p:sp>
      <p:sp>
        <p:nvSpPr>
          <p:cNvPr id="3" name="スライド番号プレースホルダー 2">
            <a:extLst>
              <a:ext uri="{FF2B5EF4-FFF2-40B4-BE49-F238E27FC236}">
                <a16:creationId xmlns:a16="http://schemas.microsoft.com/office/drawing/2014/main" id="{140E84E0-F1A9-C9F2-31E6-A5FECFFD6B83}"/>
              </a:ext>
            </a:extLst>
          </p:cNvPr>
          <p:cNvSpPr>
            <a:spLocks noGrp="1"/>
          </p:cNvSpPr>
          <p:nvPr>
            <p:ph type="sldNum" sz="quarter" idx="11"/>
          </p:nvPr>
        </p:nvSpPr>
        <p:spPr/>
        <p:txBody>
          <a:bodyPr/>
          <a:lstStyle/>
          <a:p>
            <a:fld id="{FB3508C7-2FE0-4945-9CBD-863E05F850D2}" type="slidenum">
              <a:rPr lang="ja-JP" altLang="en-US" smtClean="0"/>
              <a:pPr/>
              <a:t>10</a:t>
            </a:fld>
            <a:endParaRPr lang="ja-JP" altLang="en-US" dirty="0"/>
          </a:p>
        </p:txBody>
      </p:sp>
      <p:sp>
        <p:nvSpPr>
          <p:cNvPr id="7" name="テキスト ボックス 6">
            <a:extLst>
              <a:ext uri="{FF2B5EF4-FFF2-40B4-BE49-F238E27FC236}">
                <a16:creationId xmlns:a16="http://schemas.microsoft.com/office/drawing/2014/main" id="{CE42406A-91AA-D482-272E-0802CA4DFC0E}"/>
              </a:ext>
            </a:extLst>
          </p:cNvPr>
          <p:cNvSpPr txBox="1"/>
          <p:nvPr/>
        </p:nvSpPr>
        <p:spPr>
          <a:xfrm>
            <a:off x="537067" y="1171967"/>
            <a:ext cx="9187130" cy="5355312"/>
          </a:xfrm>
          <a:prstGeom prst="rect">
            <a:avLst/>
          </a:prstGeom>
          <a:noFill/>
        </p:spPr>
        <p:txBody>
          <a:bodyPr wrap="none" rtlCol="0">
            <a:spAutoFit/>
          </a:bodyPr>
          <a:lstStyle/>
          <a:p>
            <a:r>
              <a:rPr lang="ja-JP" altLang="en-US" dirty="0"/>
              <a:t>■</a:t>
            </a:r>
            <a:r>
              <a:rPr lang="ja-JP" altLang="en-US" b="1" dirty="0"/>
              <a:t>短期フェーズで決定した訴求に沿ってページ改修</a:t>
            </a:r>
            <a:endParaRPr lang="en-US" altLang="ja-JP" b="1" dirty="0"/>
          </a:p>
          <a:p>
            <a:r>
              <a:rPr kumimoji="1" lang="ja-JP" altLang="en-US" dirty="0"/>
              <a:t>・ペルソナが購入をイメージできる商品画像</a:t>
            </a:r>
            <a:endParaRPr kumimoji="1" lang="en-US" altLang="ja-JP" dirty="0"/>
          </a:p>
          <a:p>
            <a:r>
              <a:rPr lang="ja-JP" altLang="en-US" dirty="0"/>
              <a:t>・ペルソナが自分に合っていると思える商品説明ストーリー作成</a:t>
            </a:r>
            <a:endParaRPr lang="en-US" altLang="ja-JP" dirty="0"/>
          </a:p>
          <a:p>
            <a:endParaRPr lang="en-US" altLang="ja-JP" dirty="0"/>
          </a:p>
          <a:p>
            <a:r>
              <a:rPr lang="ja-JP" altLang="en-US" dirty="0"/>
              <a:t>■</a:t>
            </a:r>
            <a:r>
              <a:rPr lang="ja-JP" altLang="en-US" b="1" dirty="0"/>
              <a:t>公式サイト限定特典の作成</a:t>
            </a:r>
            <a:endParaRPr lang="en-US" altLang="ja-JP" b="1" dirty="0"/>
          </a:p>
          <a:p>
            <a:r>
              <a:rPr kumimoji="1" lang="ja-JP" altLang="en-US" dirty="0"/>
              <a:t>前頁でお伝えした通り、最近の方はウェブのリテラシーも低くなく、</a:t>
            </a:r>
            <a:endParaRPr kumimoji="1" lang="en-US" altLang="ja-JP" dirty="0"/>
          </a:p>
          <a:p>
            <a:r>
              <a:rPr lang="ja-JP" altLang="en-US" dirty="0"/>
              <a:t>魅力的に商品を伝えてもユーザーの多くは最終的に「一番お得な場所」で購入します。</a:t>
            </a:r>
            <a:endParaRPr lang="en-US" altLang="ja-JP" dirty="0"/>
          </a:p>
          <a:p>
            <a:r>
              <a:rPr kumimoji="1" lang="ja-JP" altLang="en-US" dirty="0"/>
              <a:t>なので、各ブランド毎にしっかりと「アントレスクエアで買う理由」を</a:t>
            </a:r>
            <a:endParaRPr kumimoji="1" lang="en-US" altLang="ja-JP" dirty="0"/>
          </a:p>
          <a:p>
            <a:r>
              <a:rPr lang="ja-JP" altLang="en-US" dirty="0"/>
              <a:t>作っていきましょう。</a:t>
            </a:r>
            <a:endParaRPr kumimoji="1" lang="en-US" altLang="ja-JP" dirty="0"/>
          </a:p>
          <a:p>
            <a:endParaRPr kumimoji="1" lang="en-US" altLang="ja-JP" dirty="0"/>
          </a:p>
          <a:p>
            <a:r>
              <a:rPr lang="ja-JP" altLang="en-US" dirty="0"/>
              <a:t>他社限定特典例）　★はよく見る、かつわかりやすくおすすめ</a:t>
            </a:r>
            <a:endParaRPr lang="en-US" altLang="ja-JP" dirty="0"/>
          </a:p>
          <a:p>
            <a:r>
              <a:rPr lang="ja-JP" altLang="en-US" dirty="0"/>
              <a:t>・名入れ、刻印、プリントサービス</a:t>
            </a:r>
            <a:endParaRPr lang="en-US" altLang="ja-JP" dirty="0"/>
          </a:p>
          <a:p>
            <a:r>
              <a:rPr lang="ja-JP" altLang="en-US" dirty="0"/>
              <a:t>・公式サイト限定パッケージ</a:t>
            </a:r>
            <a:endParaRPr lang="en-US" altLang="ja-JP" dirty="0"/>
          </a:p>
          <a:p>
            <a:r>
              <a:rPr lang="ja-JP" altLang="en-US" dirty="0"/>
              <a:t>★全プラットフォーム中最安、最大のポイントアップ還元</a:t>
            </a:r>
            <a:endParaRPr lang="en-US" altLang="ja-JP" dirty="0"/>
          </a:p>
          <a:p>
            <a:r>
              <a:rPr lang="ja-JP" altLang="en-US" dirty="0"/>
              <a:t>・公式限定カラー、デザインの展開</a:t>
            </a:r>
            <a:endParaRPr lang="en-US" altLang="ja-JP" dirty="0"/>
          </a:p>
          <a:p>
            <a:r>
              <a:rPr lang="ja-JP" altLang="en-US" dirty="0"/>
              <a:t>★公式サイトで買ったときのみ、オプション品が付属</a:t>
            </a:r>
            <a:endParaRPr lang="en-US" altLang="ja-JP" dirty="0"/>
          </a:p>
          <a:p>
            <a:r>
              <a:rPr lang="ja-JP" altLang="en-US" dirty="0"/>
              <a:t>★サポート期間が一番長く、手厚い</a:t>
            </a:r>
            <a:endParaRPr kumimoji="1" lang="en-US" altLang="ja-JP" dirty="0"/>
          </a:p>
          <a:p>
            <a:r>
              <a:rPr lang="ja-JP" altLang="en-US" dirty="0"/>
              <a:t>・お試し期間（数台を使い回す）を作る</a:t>
            </a:r>
            <a:endParaRPr lang="en-US" altLang="ja-JP" dirty="0"/>
          </a:p>
          <a:p>
            <a:r>
              <a:rPr kumimoji="1" lang="ja-JP" altLang="en-US" dirty="0"/>
              <a:t>・公式会員限定イベント参加券</a:t>
            </a:r>
            <a:endParaRPr kumimoji="1" lang="en-US" altLang="ja-JP" dirty="0"/>
          </a:p>
        </p:txBody>
      </p:sp>
    </p:spTree>
    <p:extLst>
      <p:ext uri="{BB962C8B-B14F-4D97-AF65-F5344CB8AC3E}">
        <p14:creationId xmlns:p14="http://schemas.microsoft.com/office/powerpoint/2010/main" val="1226100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FD72-E5FB-7A7B-FD58-B38885D78C7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B4EBBD76-F381-C014-76E6-2771D879E849}"/>
              </a:ext>
            </a:extLst>
          </p:cNvPr>
          <p:cNvSpPr>
            <a:spLocks noGrp="1"/>
          </p:cNvSpPr>
          <p:nvPr>
            <p:ph type="title"/>
          </p:nvPr>
        </p:nvSpPr>
        <p:spPr/>
        <p:txBody>
          <a:bodyPr/>
          <a:lstStyle/>
          <a:p>
            <a:r>
              <a:rPr lang="en-US" altLang="ja-JP" dirty="0">
                <a:solidFill>
                  <a:schemeClr val="tx1"/>
                </a:solidFill>
              </a:rPr>
              <a:t>【</a:t>
            </a:r>
            <a:r>
              <a:rPr lang="ja-JP" altLang="en-US" dirty="0">
                <a:solidFill>
                  <a:schemeClr val="tx1"/>
                </a:solidFill>
              </a:rPr>
              <a:t>中期フェーズ</a:t>
            </a:r>
            <a:r>
              <a:rPr lang="en-US" altLang="ja-JP" dirty="0">
                <a:solidFill>
                  <a:schemeClr val="tx1"/>
                </a:solidFill>
              </a:rPr>
              <a:t>】</a:t>
            </a:r>
            <a:r>
              <a:rPr lang="ja-JP" altLang="en-US" dirty="0">
                <a:solidFill>
                  <a:schemeClr val="tx1"/>
                </a:solidFill>
              </a:rPr>
              <a:t>プロモーションの最適化</a:t>
            </a:r>
          </a:p>
        </p:txBody>
      </p:sp>
      <p:sp>
        <p:nvSpPr>
          <p:cNvPr id="3" name="スライド番号プレースホルダー 2">
            <a:extLst>
              <a:ext uri="{FF2B5EF4-FFF2-40B4-BE49-F238E27FC236}">
                <a16:creationId xmlns:a16="http://schemas.microsoft.com/office/drawing/2014/main" id="{D839DEC7-3DA0-A021-E872-3E1A13CAB183}"/>
              </a:ext>
            </a:extLst>
          </p:cNvPr>
          <p:cNvSpPr>
            <a:spLocks noGrp="1"/>
          </p:cNvSpPr>
          <p:nvPr>
            <p:ph type="sldNum" sz="quarter" idx="11"/>
          </p:nvPr>
        </p:nvSpPr>
        <p:spPr/>
        <p:txBody>
          <a:bodyPr/>
          <a:lstStyle/>
          <a:p>
            <a:fld id="{FB3508C7-2FE0-4945-9CBD-863E05F850D2}" type="slidenum">
              <a:rPr lang="ja-JP" altLang="en-US" smtClean="0"/>
              <a:pPr/>
              <a:t>11</a:t>
            </a:fld>
            <a:endParaRPr lang="ja-JP" altLang="en-US" dirty="0"/>
          </a:p>
        </p:txBody>
      </p:sp>
      <p:sp>
        <p:nvSpPr>
          <p:cNvPr id="7" name="テキスト ボックス 6">
            <a:extLst>
              <a:ext uri="{FF2B5EF4-FFF2-40B4-BE49-F238E27FC236}">
                <a16:creationId xmlns:a16="http://schemas.microsoft.com/office/drawing/2014/main" id="{C0A7FBB2-0E7A-B21E-F6B3-DBA4A3E9CB8B}"/>
              </a:ext>
            </a:extLst>
          </p:cNvPr>
          <p:cNvSpPr txBox="1"/>
          <p:nvPr/>
        </p:nvSpPr>
        <p:spPr>
          <a:xfrm>
            <a:off x="704528" y="1196752"/>
            <a:ext cx="6340197" cy="2923877"/>
          </a:xfrm>
          <a:prstGeom prst="rect">
            <a:avLst/>
          </a:prstGeom>
          <a:noFill/>
        </p:spPr>
        <p:txBody>
          <a:bodyPr wrap="none" rtlCol="0">
            <a:spAutoFit/>
          </a:bodyPr>
          <a:lstStyle/>
          <a:p>
            <a:r>
              <a:rPr lang="ja-JP" altLang="en-US" sz="2000" dirty="0"/>
              <a:t>■</a:t>
            </a:r>
            <a:r>
              <a:rPr lang="ja-JP" altLang="en-US" sz="2000" b="1" dirty="0"/>
              <a:t>短期フェーズでブランド毎に設定したターゲットに</a:t>
            </a:r>
            <a:endParaRPr lang="en-US" altLang="ja-JP" sz="2000" b="1" dirty="0"/>
          </a:p>
          <a:p>
            <a:r>
              <a:rPr lang="ja-JP" altLang="en-US" sz="2000" b="1" dirty="0"/>
              <a:t>　最適なプロモーション設定</a:t>
            </a:r>
            <a:endParaRPr lang="en-US" altLang="ja-JP" sz="2000" b="1" dirty="0"/>
          </a:p>
          <a:p>
            <a:endParaRPr kumimoji="1" lang="en-US" altLang="ja-JP" b="1" dirty="0"/>
          </a:p>
          <a:p>
            <a:r>
              <a:rPr kumimoji="1" lang="ja-JP" altLang="en-US" dirty="0"/>
              <a:t>・</a:t>
            </a:r>
            <a:r>
              <a:rPr kumimoji="1" lang="en-US" altLang="ja-JP" dirty="0"/>
              <a:t>SNS</a:t>
            </a:r>
            <a:r>
              <a:rPr lang="ja-JP" altLang="en-US" dirty="0"/>
              <a:t>投稿の最適化</a:t>
            </a:r>
            <a:endParaRPr lang="en-US" altLang="ja-JP" dirty="0"/>
          </a:p>
          <a:p>
            <a:r>
              <a:rPr lang="ja-JP" altLang="en-US" dirty="0"/>
              <a:t>　└ファンになりかけている方向けの投稿を追加</a:t>
            </a:r>
            <a:endParaRPr lang="en-US" altLang="ja-JP" dirty="0"/>
          </a:p>
          <a:p>
            <a:endParaRPr lang="en-US" altLang="ja-JP" dirty="0"/>
          </a:p>
          <a:p>
            <a:r>
              <a:rPr kumimoji="1" lang="ja-JP" altLang="en-US" dirty="0"/>
              <a:t>・広告文の最適化</a:t>
            </a:r>
            <a:endParaRPr kumimoji="1" lang="en-US" altLang="ja-JP" dirty="0"/>
          </a:p>
          <a:p>
            <a:r>
              <a:rPr lang="ja-JP" altLang="en-US" dirty="0"/>
              <a:t>・広告画像の最適化</a:t>
            </a:r>
            <a:endParaRPr lang="en-US" altLang="ja-JP" dirty="0"/>
          </a:p>
          <a:p>
            <a:r>
              <a:rPr kumimoji="1" lang="ja-JP" altLang="en-US" dirty="0"/>
              <a:t>・訴求文言の最適化</a:t>
            </a:r>
            <a:endParaRPr kumimoji="1" lang="en-US" altLang="ja-JP" dirty="0"/>
          </a:p>
          <a:p>
            <a:r>
              <a:rPr kumimoji="1" lang="ja-JP" altLang="en-US" dirty="0"/>
              <a:t>　└設定したターゲット向けの内容で配信</a:t>
            </a:r>
            <a:endParaRPr kumimoji="1" lang="en-US" altLang="ja-JP" dirty="0"/>
          </a:p>
        </p:txBody>
      </p:sp>
      <p:pic>
        <p:nvPicPr>
          <p:cNvPr id="8" name="図 7" descr="カレンダー&#10;&#10;中程度の精度で自動的に生成された説明">
            <a:extLst>
              <a:ext uri="{FF2B5EF4-FFF2-40B4-BE49-F238E27FC236}">
                <a16:creationId xmlns:a16="http://schemas.microsoft.com/office/drawing/2014/main" id="{E667A710-E8FC-B783-8511-1A532DFCD379}"/>
              </a:ext>
            </a:extLst>
          </p:cNvPr>
          <p:cNvPicPr>
            <a:picLocks noChangeAspect="1"/>
          </p:cNvPicPr>
          <p:nvPr/>
        </p:nvPicPr>
        <p:blipFill>
          <a:blip r:embed="rId2"/>
          <a:stretch>
            <a:fillRect/>
          </a:stretch>
        </p:blipFill>
        <p:spPr>
          <a:xfrm>
            <a:off x="1064568" y="4244031"/>
            <a:ext cx="1840259" cy="2281313"/>
          </a:xfrm>
          <a:prstGeom prst="rect">
            <a:avLst/>
          </a:prstGeom>
        </p:spPr>
      </p:pic>
      <p:pic>
        <p:nvPicPr>
          <p:cNvPr id="10" name="図 9" descr="グラフィカル ユーザー インターフェイス&#10;&#10;中程度の精度で自動的に生成された説明">
            <a:extLst>
              <a:ext uri="{FF2B5EF4-FFF2-40B4-BE49-F238E27FC236}">
                <a16:creationId xmlns:a16="http://schemas.microsoft.com/office/drawing/2014/main" id="{3EB5A003-887A-9C36-29F9-5763BF5D4B97}"/>
              </a:ext>
            </a:extLst>
          </p:cNvPr>
          <p:cNvPicPr>
            <a:picLocks noChangeAspect="1"/>
          </p:cNvPicPr>
          <p:nvPr/>
        </p:nvPicPr>
        <p:blipFill>
          <a:blip r:embed="rId3"/>
          <a:stretch>
            <a:fillRect/>
          </a:stretch>
        </p:blipFill>
        <p:spPr>
          <a:xfrm>
            <a:off x="3296816" y="4264913"/>
            <a:ext cx="1846019" cy="2260431"/>
          </a:xfrm>
          <a:prstGeom prst="rect">
            <a:avLst/>
          </a:prstGeom>
        </p:spPr>
      </p:pic>
      <p:pic>
        <p:nvPicPr>
          <p:cNvPr id="12" name="図 11" descr="座る, テーブル, 時計, モニター が含まれている画像&#10;&#10;自動的に生成された説明">
            <a:extLst>
              <a:ext uri="{FF2B5EF4-FFF2-40B4-BE49-F238E27FC236}">
                <a16:creationId xmlns:a16="http://schemas.microsoft.com/office/drawing/2014/main" id="{5AE00971-BF53-77F0-FA7A-A62357CF7DFA}"/>
              </a:ext>
            </a:extLst>
          </p:cNvPr>
          <p:cNvPicPr>
            <a:picLocks noChangeAspect="1"/>
          </p:cNvPicPr>
          <p:nvPr/>
        </p:nvPicPr>
        <p:blipFill>
          <a:blip r:embed="rId4"/>
          <a:stretch>
            <a:fillRect/>
          </a:stretch>
        </p:blipFill>
        <p:spPr>
          <a:xfrm>
            <a:off x="5534824" y="4255603"/>
            <a:ext cx="1840259" cy="2286035"/>
          </a:xfrm>
          <a:prstGeom prst="rect">
            <a:avLst/>
          </a:prstGeom>
        </p:spPr>
      </p:pic>
    </p:spTree>
    <p:extLst>
      <p:ext uri="{BB962C8B-B14F-4D97-AF65-F5344CB8AC3E}">
        <p14:creationId xmlns:p14="http://schemas.microsoft.com/office/powerpoint/2010/main" val="1073083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9196-8E4F-4FD9-FDB1-D59FDDCF11B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E05D56-2C62-AB0D-3F28-0642685AFA91}"/>
              </a:ext>
            </a:extLst>
          </p:cNvPr>
          <p:cNvSpPr txBox="1"/>
          <p:nvPr/>
        </p:nvSpPr>
        <p:spPr>
          <a:xfrm>
            <a:off x="2706231" y="476672"/>
            <a:ext cx="4493538" cy="461665"/>
          </a:xfrm>
          <a:prstGeom prst="rect">
            <a:avLst/>
          </a:prstGeom>
          <a:noFill/>
        </p:spPr>
        <p:txBody>
          <a:bodyPr wrap="none" rtlCol="0">
            <a:spAutoFit/>
          </a:bodyPr>
          <a:lstStyle/>
          <a:p>
            <a:r>
              <a:rPr kumimoji="1" lang="ja-JP" altLang="en-US" sz="2400" b="1" dirty="0"/>
              <a:t>アントレスクエアの今後の方針</a:t>
            </a:r>
          </a:p>
        </p:txBody>
      </p:sp>
      <p:sp>
        <p:nvSpPr>
          <p:cNvPr id="2" name="テキスト ボックス 1">
            <a:extLst>
              <a:ext uri="{FF2B5EF4-FFF2-40B4-BE49-F238E27FC236}">
                <a16:creationId xmlns:a16="http://schemas.microsoft.com/office/drawing/2014/main" id="{7747319F-B2B3-7F2D-8098-F5F9E7BB7A72}"/>
              </a:ext>
            </a:extLst>
          </p:cNvPr>
          <p:cNvSpPr txBox="1"/>
          <p:nvPr/>
        </p:nvSpPr>
        <p:spPr>
          <a:xfrm>
            <a:off x="629858" y="1052736"/>
            <a:ext cx="8392041" cy="5632311"/>
          </a:xfrm>
          <a:prstGeom prst="rect">
            <a:avLst/>
          </a:prstGeom>
          <a:noFill/>
        </p:spPr>
        <p:txBody>
          <a:bodyPr wrap="none" rtlCol="0">
            <a:spAutoFit/>
          </a:bodyPr>
          <a:lstStyle/>
          <a:p>
            <a:r>
              <a:rPr lang="en-US" altLang="ja-JP" sz="2000" dirty="0"/>
              <a:t>【</a:t>
            </a:r>
            <a:r>
              <a:rPr lang="ja-JP" altLang="en-US" sz="2000" b="1" dirty="0"/>
              <a:t>長期フェーズ</a:t>
            </a:r>
            <a:r>
              <a:rPr kumimoji="1" lang="en-US" altLang="ja-JP" sz="2000" b="1" dirty="0"/>
              <a:t>】</a:t>
            </a:r>
          </a:p>
          <a:p>
            <a:r>
              <a:rPr kumimoji="1" lang="ja-JP" altLang="en-US" sz="2000" dirty="0"/>
              <a:t>潜在層を獲得できるサイトにした上で、</a:t>
            </a:r>
            <a:endParaRPr kumimoji="1" lang="en-US" altLang="ja-JP" sz="2000" dirty="0"/>
          </a:p>
          <a:p>
            <a:r>
              <a:rPr kumimoji="1" lang="ja-JP" altLang="en-US" sz="2000" dirty="0"/>
              <a:t>「ブランド」のファンを育成し、売上に貢献してもらう</a:t>
            </a:r>
            <a:endParaRPr kumimoji="1" lang="en-US" altLang="ja-JP" sz="2000" dirty="0"/>
          </a:p>
          <a:p>
            <a:r>
              <a:rPr lang="ja-JP" altLang="en-US" sz="2000" dirty="0"/>
              <a:t>☆</a:t>
            </a:r>
            <a:r>
              <a:rPr kumimoji="1" lang="ja-JP" altLang="en-US" sz="2000" dirty="0"/>
              <a:t>アントレスクエアのファンではなくブランド毎のファンの育成</a:t>
            </a:r>
            <a:endParaRPr kumimoji="1" lang="en-US" altLang="ja-JP" sz="2000" dirty="0"/>
          </a:p>
          <a:p>
            <a:r>
              <a:rPr lang="ja-JP" altLang="en-US" sz="2000" dirty="0"/>
              <a:t>☆そもそもファンとは？（人によって定義が違うものを統一）</a:t>
            </a:r>
            <a:endParaRPr lang="en-US" altLang="ja-JP" sz="2000" dirty="0"/>
          </a:p>
          <a:p>
            <a:endParaRPr kumimoji="1" lang="en-US" altLang="ja-JP" sz="2000" dirty="0">
              <a:solidFill>
                <a:schemeClr val="bg1">
                  <a:lumMod val="85000"/>
                </a:schemeClr>
              </a:solidFill>
            </a:endParaRPr>
          </a:p>
          <a:p>
            <a:r>
              <a:rPr lang="en-US" altLang="ja-JP" sz="2000" b="1" dirty="0">
                <a:solidFill>
                  <a:schemeClr val="bg1">
                    <a:lumMod val="85000"/>
                  </a:schemeClr>
                </a:solidFill>
              </a:rPr>
              <a:t>【</a:t>
            </a:r>
            <a:r>
              <a:rPr lang="ja-JP" altLang="en-US" sz="2000" b="1" dirty="0">
                <a:solidFill>
                  <a:schemeClr val="bg1">
                    <a:lumMod val="85000"/>
                  </a:schemeClr>
                </a:solidFill>
              </a:rPr>
              <a:t>中～長期フェーズ</a:t>
            </a:r>
            <a:r>
              <a:rPr kumimoji="1" lang="en-US" altLang="ja-JP" sz="2000" b="1" dirty="0">
                <a:solidFill>
                  <a:schemeClr val="bg1">
                    <a:lumMod val="85000"/>
                  </a:schemeClr>
                </a:solidFill>
              </a:rPr>
              <a:t>】</a:t>
            </a:r>
            <a:r>
              <a:rPr kumimoji="1" lang="ja-JP" altLang="en-US" sz="2000" b="1" dirty="0">
                <a:solidFill>
                  <a:schemeClr val="bg1">
                    <a:lumMod val="85000"/>
                  </a:schemeClr>
                </a:solidFill>
              </a:rPr>
              <a:t>潜在層にリーチ！</a:t>
            </a:r>
            <a:endParaRPr lang="en-US" altLang="ja-JP" sz="2000" b="1" dirty="0">
              <a:solidFill>
                <a:schemeClr val="bg1">
                  <a:lumMod val="85000"/>
                </a:schemeClr>
              </a:solidFill>
            </a:endParaRPr>
          </a:p>
          <a:p>
            <a:r>
              <a:rPr lang="ja-JP" altLang="en-US" sz="2000" u="sng" dirty="0">
                <a:solidFill>
                  <a:schemeClr val="bg1">
                    <a:lumMod val="85000"/>
                  </a:schemeClr>
                </a:solidFill>
              </a:rPr>
              <a:t>アントレスクエアで購入することにメリットを感じてもらえる</a:t>
            </a:r>
            <a:r>
              <a:rPr kumimoji="1" lang="ja-JP" altLang="en-US" sz="2000" u="sng" dirty="0">
                <a:solidFill>
                  <a:schemeClr val="bg1">
                    <a:lumMod val="85000"/>
                  </a:schemeClr>
                </a:solidFill>
              </a:rPr>
              <a:t>サイト</a:t>
            </a:r>
            <a:r>
              <a:rPr kumimoji="1" lang="ja-JP" altLang="en-US" sz="2000" dirty="0">
                <a:solidFill>
                  <a:schemeClr val="bg1">
                    <a:lumMod val="85000"/>
                  </a:schemeClr>
                </a:solidFill>
              </a:rPr>
              <a:t>に</a:t>
            </a:r>
            <a:endParaRPr kumimoji="1" lang="en-US" altLang="ja-JP" sz="2000" dirty="0">
              <a:solidFill>
                <a:schemeClr val="bg1">
                  <a:lumMod val="85000"/>
                </a:schemeClr>
              </a:solidFill>
            </a:endParaRPr>
          </a:p>
          <a:p>
            <a:r>
              <a:rPr lang="ja-JP" altLang="en-US" sz="2000" dirty="0">
                <a:solidFill>
                  <a:schemeClr val="bg1">
                    <a:lumMod val="85000"/>
                  </a:schemeClr>
                </a:solidFill>
              </a:rPr>
              <a:t>☆各注力ブランドでの自社サイト限定特典</a:t>
            </a:r>
            <a:endParaRPr lang="en-US" altLang="ja-JP" sz="2000" dirty="0">
              <a:solidFill>
                <a:schemeClr val="bg1">
                  <a:lumMod val="85000"/>
                </a:schemeClr>
              </a:solidFill>
            </a:endParaRPr>
          </a:p>
          <a:p>
            <a:r>
              <a:rPr lang="ja-JP" altLang="en-US" sz="2000" dirty="0">
                <a:solidFill>
                  <a:schemeClr val="bg1">
                    <a:lumMod val="85000"/>
                  </a:schemeClr>
                </a:solidFill>
              </a:rPr>
              <a:t>☆短期フェーズで決めたターゲットに向けたページ作り→</a:t>
            </a:r>
            <a:r>
              <a:rPr lang="en-US" altLang="ja-JP" sz="2000" dirty="0">
                <a:solidFill>
                  <a:schemeClr val="bg1">
                    <a:lumMod val="85000"/>
                  </a:schemeClr>
                </a:solidFill>
              </a:rPr>
              <a:t>PDCA</a:t>
            </a:r>
          </a:p>
          <a:p>
            <a:endParaRPr kumimoji="1" lang="en-US" altLang="ja-JP" sz="2000" dirty="0">
              <a:solidFill>
                <a:schemeClr val="bg1">
                  <a:lumMod val="85000"/>
                </a:schemeClr>
              </a:solidFill>
            </a:endParaRPr>
          </a:p>
          <a:p>
            <a:r>
              <a:rPr kumimoji="1" lang="en-US" altLang="ja-JP" sz="2000" b="1" dirty="0">
                <a:solidFill>
                  <a:schemeClr val="bg1">
                    <a:lumMod val="85000"/>
                  </a:schemeClr>
                </a:solidFill>
              </a:rPr>
              <a:t>【</a:t>
            </a:r>
            <a:r>
              <a:rPr kumimoji="1" lang="ja-JP" altLang="en-US" sz="2000" b="1" dirty="0">
                <a:solidFill>
                  <a:schemeClr val="bg1">
                    <a:lumMod val="85000"/>
                  </a:schemeClr>
                </a:solidFill>
              </a:rPr>
              <a:t>短期フェーズ</a:t>
            </a:r>
            <a:r>
              <a:rPr kumimoji="1" lang="en-US" altLang="ja-JP" sz="2000" b="1" dirty="0">
                <a:solidFill>
                  <a:schemeClr val="bg1">
                    <a:lumMod val="85000"/>
                  </a:schemeClr>
                </a:solidFill>
              </a:rPr>
              <a:t>】</a:t>
            </a:r>
            <a:endParaRPr lang="en-US" altLang="ja-JP" sz="2000" b="1" dirty="0">
              <a:solidFill>
                <a:schemeClr val="bg1">
                  <a:lumMod val="85000"/>
                </a:schemeClr>
              </a:solidFill>
            </a:endParaRPr>
          </a:p>
          <a:p>
            <a:r>
              <a:rPr lang="ja-JP" altLang="en-US" sz="2000" dirty="0">
                <a:solidFill>
                  <a:schemeClr val="bg1">
                    <a:lumMod val="85000"/>
                  </a:schemeClr>
                </a:solidFill>
              </a:rPr>
              <a:t>マーケティング戦略を策定し、きちんと</a:t>
            </a:r>
            <a:r>
              <a:rPr kumimoji="1" lang="ja-JP" altLang="en-US" sz="2000" dirty="0">
                <a:solidFill>
                  <a:schemeClr val="bg1">
                    <a:lumMod val="85000"/>
                  </a:schemeClr>
                </a:solidFill>
              </a:rPr>
              <a:t>戦術を決める</a:t>
            </a:r>
            <a:endParaRPr kumimoji="1" lang="en-US" altLang="ja-JP" sz="2000" dirty="0">
              <a:solidFill>
                <a:schemeClr val="bg1">
                  <a:lumMod val="85000"/>
                </a:schemeClr>
              </a:solidFill>
            </a:endParaRPr>
          </a:p>
          <a:p>
            <a:r>
              <a:rPr kumimoji="1" lang="ja-JP" altLang="en-US" sz="2000" dirty="0">
                <a:solidFill>
                  <a:schemeClr val="bg1">
                    <a:lumMod val="85000"/>
                  </a:schemeClr>
                </a:solidFill>
              </a:rPr>
              <a:t>各注力ブランドの</a:t>
            </a:r>
            <a:endParaRPr kumimoji="1" lang="en-US" altLang="ja-JP" sz="2000" dirty="0">
              <a:solidFill>
                <a:schemeClr val="bg1">
                  <a:lumMod val="85000"/>
                </a:schemeClr>
              </a:solidFill>
            </a:endParaRPr>
          </a:p>
          <a:p>
            <a:r>
              <a:rPr lang="ja-JP" altLang="en-US" sz="2000" dirty="0">
                <a:solidFill>
                  <a:schemeClr val="bg1">
                    <a:lumMod val="85000"/>
                  </a:schemeClr>
                </a:solidFill>
              </a:rPr>
              <a:t>☆ターゲット策定（戦略）</a:t>
            </a:r>
            <a:endParaRPr lang="en-US" altLang="ja-JP" sz="2000" dirty="0">
              <a:solidFill>
                <a:schemeClr val="bg1">
                  <a:lumMod val="85000"/>
                </a:schemeClr>
              </a:solidFill>
            </a:endParaRPr>
          </a:p>
          <a:p>
            <a:r>
              <a:rPr lang="ja-JP" altLang="en-US" sz="2000" dirty="0">
                <a:solidFill>
                  <a:schemeClr val="bg1">
                    <a:lumMod val="85000"/>
                  </a:schemeClr>
                </a:solidFill>
              </a:rPr>
              <a:t>☆</a:t>
            </a:r>
            <a:r>
              <a:rPr kumimoji="1" lang="ja-JP" altLang="en-US" sz="2000" dirty="0">
                <a:solidFill>
                  <a:schemeClr val="bg1">
                    <a:lumMod val="85000"/>
                  </a:schemeClr>
                </a:solidFill>
              </a:rPr>
              <a:t>競合調査（戦略）</a:t>
            </a:r>
            <a:endParaRPr kumimoji="1" lang="en-US" altLang="ja-JP" sz="2000" dirty="0">
              <a:solidFill>
                <a:schemeClr val="bg1">
                  <a:lumMod val="85000"/>
                </a:schemeClr>
              </a:solidFill>
            </a:endParaRPr>
          </a:p>
          <a:p>
            <a:r>
              <a:rPr lang="ja-JP" altLang="en-US" sz="2000" dirty="0">
                <a:solidFill>
                  <a:schemeClr val="bg1">
                    <a:lumMod val="85000"/>
                  </a:schemeClr>
                </a:solidFill>
              </a:rPr>
              <a:t>☆訴求決め（戦術）</a:t>
            </a:r>
            <a:endParaRPr kumimoji="1" lang="en-US" altLang="ja-JP" sz="2000" dirty="0">
              <a:solidFill>
                <a:schemeClr val="bg1">
                  <a:lumMod val="85000"/>
                </a:schemeClr>
              </a:solidFill>
            </a:endParaRPr>
          </a:p>
          <a:p>
            <a:endParaRPr kumimoji="1" lang="ja-JP" altLang="en-US" sz="2000" dirty="0"/>
          </a:p>
        </p:txBody>
      </p:sp>
      <p:sp>
        <p:nvSpPr>
          <p:cNvPr id="3" name="右大かっこ 2">
            <a:extLst>
              <a:ext uri="{FF2B5EF4-FFF2-40B4-BE49-F238E27FC236}">
                <a16:creationId xmlns:a16="http://schemas.microsoft.com/office/drawing/2014/main" id="{DF0B6279-81D9-F8D7-23C0-8A7C6AD59F09}"/>
              </a:ext>
            </a:extLst>
          </p:cNvPr>
          <p:cNvSpPr/>
          <p:nvPr/>
        </p:nvSpPr>
        <p:spPr>
          <a:xfrm>
            <a:off x="7019749" y="4725144"/>
            <a:ext cx="360040" cy="1656184"/>
          </a:xfrm>
          <a:prstGeom prst="rightBracket">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39C8FAB-735D-2D2D-1F67-76518ABB0B31}"/>
              </a:ext>
            </a:extLst>
          </p:cNvPr>
          <p:cNvSpPr txBox="1"/>
          <p:nvPr/>
        </p:nvSpPr>
        <p:spPr>
          <a:xfrm>
            <a:off x="7531430" y="5392846"/>
            <a:ext cx="1338828" cy="369332"/>
          </a:xfrm>
          <a:prstGeom prst="rect">
            <a:avLst/>
          </a:prstGeom>
          <a:noFill/>
        </p:spPr>
        <p:txBody>
          <a:bodyPr wrap="none" rtlCol="0">
            <a:spAutoFit/>
          </a:bodyPr>
          <a:lstStyle/>
          <a:p>
            <a:r>
              <a:rPr kumimoji="1" lang="ja-JP" altLang="en-US" dirty="0">
                <a:solidFill>
                  <a:schemeClr val="bg1">
                    <a:lumMod val="85000"/>
                  </a:schemeClr>
                </a:solidFill>
              </a:rPr>
              <a:t>今ここです</a:t>
            </a:r>
          </a:p>
        </p:txBody>
      </p:sp>
    </p:spTree>
    <p:extLst>
      <p:ext uri="{BB962C8B-B14F-4D97-AF65-F5344CB8AC3E}">
        <p14:creationId xmlns:p14="http://schemas.microsoft.com/office/powerpoint/2010/main" val="685757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BE39-35A1-02E5-FA10-9D4DDA492FF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EAAB89C-5D12-5445-0555-1BC5175AFF07}"/>
              </a:ext>
            </a:extLst>
          </p:cNvPr>
          <p:cNvSpPr>
            <a:spLocks noGrp="1"/>
          </p:cNvSpPr>
          <p:nvPr>
            <p:ph type="title"/>
          </p:nvPr>
        </p:nvSpPr>
        <p:spPr>
          <a:xfrm>
            <a:off x="272480" y="404664"/>
            <a:ext cx="9361040" cy="396044"/>
          </a:xfrm>
        </p:spPr>
        <p:txBody>
          <a:bodyPr/>
          <a:lstStyle/>
          <a:p>
            <a:r>
              <a:rPr lang="en-US" altLang="ja-JP" dirty="0">
                <a:solidFill>
                  <a:schemeClr val="tx1"/>
                </a:solidFill>
              </a:rPr>
              <a:t>【</a:t>
            </a:r>
            <a:r>
              <a:rPr lang="ja-JP" altLang="en-US" dirty="0">
                <a:solidFill>
                  <a:schemeClr val="tx1"/>
                </a:solidFill>
              </a:rPr>
              <a:t>長期メインフェーズ</a:t>
            </a:r>
            <a:r>
              <a:rPr lang="en-US" altLang="ja-JP" dirty="0">
                <a:solidFill>
                  <a:schemeClr val="tx1"/>
                </a:solidFill>
              </a:rPr>
              <a:t>】</a:t>
            </a:r>
            <a:endParaRPr lang="ja-JP" altLang="en-US" dirty="0">
              <a:solidFill>
                <a:schemeClr val="tx1"/>
              </a:solidFill>
            </a:endParaRPr>
          </a:p>
        </p:txBody>
      </p:sp>
      <p:sp>
        <p:nvSpPr>
          <p:cNvPr id="3" name="スライド番号プレースホルダー 2">
            <a:extLst>
              <a:ext uri="{FF2B5EF4-FFF2-40B4-BE49-F238E27FC236}">
                <a16:creationId xmlns:a16="http://schemas.microsoft.com/office/drawing/2014/main" id="{CB654410-5117-935F-D311-038F051B8A46}"/>
              </a:ext>
            </a:extLst>
          </p:cNvPr>
          <p:cNvSpPr>
            <a:spLocks noGrp="1"/>
          </p:cNvSpPr>
          <p:nvPr>
            <p:ph type="sldNum" sz="quarter" idx="11"/>
          </p:nvPr>
        </p:nvSpPr>
        <p:spPr/>
        <p:txBody>
          <a:bodyPr/>
          <a:lstStyle/>
          <a:p>
            <a:fld id="{FB3508C7-2FE0-4945-9CBD-863E05F850D2}" type="slidenum">
              <a:rPr lang="ja-JP" altLang="en-US" smtClean="0"/>
              <a:pPr/>
              <a:t>13</a:t>
            </a:fld>
            <a:endParaRPr lang="ja-JP" altLang="en-US" dirty="0"/>
          </a:p>
        </p:txBody>
      </p:sp>
      <p:sp>
        <p:nvSpPr>
          <p:cNvPr id="2" name="テキスト ボックス 1">
            <a:extLst>
              <a:ext uri="{FF2B5EF4-FFF2-40B4-BE49-F238E27FC236}">
                <a16:creationId xmlns:a16="http://schemas.microsoft.com/office/drawing/2014/main" id="{BC80AAAB-CAB2-365D-D8CC-4A335672365C}"/>
              </a:ext>
            </a:extLst>
          </p:cNvPr>
          <p:cNvSpPr txBox="1"/>
          <p:nvPr/>
        </p:nvSpPr>
        <p:spPr>
          <a:xfrm>
            <a:off x="705683" y="1123869"/>
            <a:ext cx="8032968" cy="4555093"/>
          </a:xfrm>
          <a:prstGeom prst="rect">
            <a:avLst/>
          </a:prstGeom>
          <a:noFill/>
        </p:spPr>
        <p:txBody>
          <a:bodyPr wrap="none" rtlCol="0">
            <a:spAutoFit/>
          </a:bodyPr>
          <a:lstStyle/>
          <a:p>
            <a:r>
              <a:rPr kumimoji="1" lang="ja-JP" altLang="en-US" sz="2000" b="1" dirty="0"/>
              <a:t>■ブランド毎のファンの育成を目指す</a:t>
            </a:r>
            <a:endParaRPr kumimoji="1" lang="en-US" altLang="ja-JP" sz="2000" b="1" dirty="0"/>
          </a:p>
          <a:p>
            <a:r>
              <a:rPr lang="ja-JP" altLang="en-US" dirty="0"/>
              <a:t>・なぜブランド毎か</a:t>
            </a:r>
            <a:endParaRPr lang="en-US" altLang="ja-JP" dirty="0"/>
          </a:p>
          <a:p>
            <a:endParaRPr lang="en-US" altLang="ja-JP" dirty="0"/>
          </a:p>
          <a:p>
            <a:r>
              <a:rPr kumimoji="1" lang="ja-JP" altLang="en-US" dirty="0"/>
              <a:t>→サイト内ブランドごとの</a:t>
            </a:r>
            <a:r>
              <a:rPr kumimoji="1" lang="ja-JP" altLang="en-US" u="sng" dirty="0"/>
              <a:t>ターゲットがバラバラ</a:t>
            </a:r>
            <a:endParaRPr kumimoji="1" lang="en-US" altLang="ja-JP" u="sng" dirty="0"/>
          </a:p>
          <a:p>
            <a:endParaRPr kumimoji="1" lang="en-US" altLang="ja-JP" dirty="0"/>
          </a:p>
          <a:p>
            <a:r>
              <a:rPr lang="ja-JP" altLang="en-US" dirty="0"/>
              <a:t>異なるターゲットの商品をまとめて訴求しようとすると</a:t>
            </a:r>
            <a:endParaRPr lang="en-US" altLang="ja-JP" dirty="0"/>
          </a:p>
          <a:p>
            <a:r>
              <a:rPr lang="ja-JP" altLang="en-US" dirty="0"/>
              <a:t>セールなどのイベントに偏ってしまい、値引き訴求のみに。</a:t>
            </a:r>
            <a:endParaRPr lang="en-US" altLang="ja-JP" dirty="0"/>
          </a:p>
          <a:p>
            <a:r>
              <a:rPr lang="en-US" altLang="ja-JP" dirty="0"/>
              <a:t>※</a:t>
            </a:r>
            <a:r>
              <a:rPr lang="ja-JP" altLang="en-US" dirty="0"/>
              <a:t>ターゲットを決めてそれにあった商品を集めてまとめ買いさせるなどは◯</a:t>
            </a:r>
            <a:endParaRPr lang="en-US" altLang="ja-JP" dirty="0"/>
          </a:p>
          <a:p>
            <a:endParaRPr lang="en-US" altLang="ja-JP" dirty="0"/>
          </a:p>
          <a:p>
            <a:endParaRPr lang="en-US" altLang="ja-JP" dirty="0"/>
          </a:p>
          <a:p>
            <a:r>
              <a:rPr lang="ja-JP" altLang="en-US" b="1" dirty="0"/>
              <a:t>注力ブランド毎にしっかりと</a:t>
            </a:r>
            <a:endParaRPr lang="en-US" altLang="ja-JP" b="1" dirty="0"/>
          </a:p>
          <a:p>
            <a:r>
              <a:rPr lang="ja-JP" altLang="en-US" b="1" dirty="0"/>
              <a:t>・狙いに行くターゲット</a:t>
            </a:r>
            <a:endParaRPr lang="en-US" altLang="ja-JP" b="1" dirty="0"/>
          </a:p>
          <a:p>
            <a:r>
              <a:rPr lang="ja-JP" altLang="en-US" b="1" dirty="0"/>
              <a:t>・競合調査</a:t>
            </a:r>
            <a:endParaRPr lang="en-US" altLang="ja-JP" b="1" dirty="0"/>
          </a:p>
          <a:p>
            <a:r>
              <a:rPr lang="ja-JP" altLang="en-US" b="1" dirty="0"/>
              <a:t>・ターゲットに合った訴求</a:t>
            </a:r>
            <a:endParaRPr lang="en-US" altLang="ja-JP" b="1" dirty="0"/>
          </a:p>
          <a:p>
            <a:endParaRPr lang="en-US" altLang="ja-JP" dirty="0"/>
          </a:p>
          <a:p>
            <a:r>
              <a:rPr lang="ja-JP" altLang="en-US" dirty="0"/>
              <a:t>を作り、潜在ユーザーを取りに行き</a:t>
            </a:r>
            <a:r>
              <a:rPr lang="ja-JP" altLang="en-US" b="1" u="sng" dirty="0"/>
              <a:t>ファン</a:t>
            </a:r>
            <a:r>
              <a:rPr lang="ja-JP" altLang="en-US" dirty="0"/>
              <a:t>に変えていきましょう。</a:t>
            </a:r>
            <a:endParaRPr lang="en-US" altLang="ja-JP" dirty="0"/>
          </a:p>
        </p:txBody>
      </p:sp>
    </p:spTree>
    <p:extLst>
      <p:ext uri="{BB962C8B-B14F-4D97-AF65-F5344CB8AC3E}">
        <p14:creationId xmlns:p14="http://schemas.microsoft.com/office/powerpoint/2010/main" val="4264730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9A8F-8043-45DC-C83A-38B2CCE61E8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2C4FB3C4-4D21-B04B-B278-DBF2A0CEEB02}"/>
              </a:ext>
            </a:extLst>
          </p:cNvPr>
          <p:cNvSpPr>
            <a:spLocks noGrp="1"/>
          </p:cNvSpPr>
          <p:nvPr>
            <p:ph type="title"/>
          </p:nvPr>
        </p:nvSpPr>
        <p:spPr>
          <a:xfrm>
            <a:off x="272480" y="404664"/>
            <a:ext cx="9361040" cy="396044"/>
          </a:xfrm>
        </p:spPr>
        <p:txBody>
          <a:bodyPr/>
          <a:lstStyle/>
          <a:p>
            <a:r>
              <a:rPr lang="en-US" altLang="ja-JP" dirty="0">
                <a:solidFill>
                  <a:schemeClr val="tx1"/>
                </a:solidFill>
              </a:rPr>
              <a:t>【</a:t>
            </a:r>
            <a:r>
              <a:rPr lang="ja-JP" altLang="en-US" dirty="0">
                <a:solidFill>
                  <a:schemeClr val="tx1"/>
                </a:solidFill>
              </a:rPr>
              <a:t>長期メインフェーズ</a:t>
            </a:r>
            <a:r>
              <a:rPr lang="en-US" altLang="ja-JP" dirty="0">
                <a:solidFill>
                  <a:schemeClr val="tx1"/>
                </a:solidFill>
              </a:rPr>
              <a:t>】</a:t>
            </a:r>
            <a:endParaRPr lang="ja-JP" altLang="en-US" dirty="0">
              <a:solidFill>
                <a:schemeClr val="tx1"/>
              </a:solidFill>
            </a:endParaRPr>
          </a:p>
        </p:txBody>
      </p:sp>
      <p:sp>
        <p:nvSpPr>
          <p:cNvPr id="3" name="スライド番号プレースホルダー 2">
            <a:extLst>
              <a:ext uri="{FF2B5EF4-FFF2-40B4-BE49-F238E27FC236}">
                <a16:creationId xmlns:a16="http://schemas.microsoft.com/office/drawing/2014/main" id="{921BDE74-3734-37C7-54B1-8CBC22B7773A}"/>
              </a:ext>
            </a:extLst>
          </p:cNvPr>
          <p:cNvSpPr>
            <a:spLocks noGrp="1"/>
          </p:cNvSpPr>
          <p:nvPr>
            <p:ph type="sldNum" sz="quarter" idx="11"/>
          </p:nvPr>
        </p:nvSpPr>
        <p:spPr/>
        <p:txBody>
          <a:bodyPr/>
          <a:lstStyle/>
          <a:p>
            <a:fld id="{FB3508C7-2FE0-4945-9CBD-863E05F850D2}" type="slidenum">
              <a:rPr lang="ja-JP" altLang="en-US" smtClean="0"/>
              <a:pPr/>
              <a:t>14</a:t>
            </a:fld>
            <a:endParaRPr lang="ja-JP" altLang="en-US" dirty="0"/>
          </a:p>
        </p:txBody>
      </p:sp>
      <p:sp>
        <p:nvSpPr>
          <p:cNvPr id="2" name="テキスト ボックス 1">
            <a:extLst>
              <a:ext uri="{FF2B5EF4-FFF2-40B4-BE49-F238E27FC236}">
                <a16:creationId xmlns:a16="http://schemas.microsoft.com/office/drawing/2014/main" id="{3AA816F8-D51E-23E7-821A-788F7BD03EA9}"/>
              </a:ext>
            </a:extLst>
          </p:cNvPr>
          <p:cNvSpPr txBox="1"/>
          <p:nvPr/>
        </p:nvSpPr>
        <p:spPr>
          <a:xfrm>
            <a:off x="503210" y="1268760"/>
            <a:ext cx="8223726" cy="4524315"/>
          </a:xfrm>
          <a:prstGeom prst="rect">
            <a:avLst/>
          </a:prstGeom>
          <a:noFill/>
        </p:spPr>
        <p:txBody>
          <a:bodyPr wrap="none" rtlCol="0">
            <a:spAutoFit/>
          </a:bodyPr>
          <a:lstStyle/>
          <a:p>
            <a:r>
              <a:rPr kumimoji="1" lang="ja-JP" altLang="en-US" sz="2000" b="1" dirty="0"/>
              <a:t>■ファンとは？</a:t>
            </a:r>
            <a:endParaRPr kumimoji="1" lang="en-US" altLang="ja-JP" sz="2000" b="1" dirty="0"/>
          </a:p>
          <a:p>
            <a:endParaRPr lang="en-US" altLang="ja-JP" sz="2000" b="1" dirty="0"/>
          </a:p>
          <a:p>
            <a:r>
              <a:rPr lang="ja-JP" altLang="en-US" sz="2000" dirty="0"/>
              <a:t>企業や商品の思いや大切にしていることを熱狂的に支持し、</a:t>
            </a:r>
            <a:endParaRPr lang="en-US" altLang="ja-JP" sz="2000" dirty="0"/>
          </a:p>
          <a:p>
            <a:r>
              <a:rPr lang="ja-JP" altLang="en-US" sz="2000" dirty="0"/>
              <a:t>かつそれを</a:t>
            </a:r>
            <a:r>
              <a:rPr lang="ja-JP" altLang="en-US" sz="2000" b="1" u="sng" dirty="0"/>
              <a:t>他の人に</a:t>
            </a:r>
            <a:r>
              <a:rPr kumimoji="1" lang="ja-JP" altLang="en-US" sz="2000" b="1" u="sng" dirty="0"/>
              <a:t>説明することができる</a:t>
            </a:r>
            <a:r>
              <a:rPr kumimoji="1" lang="ja-JP" altLang="en-US" sz="2000" dirty="0"/>
              <a:t>人。</a:t>
            </a:r>
            <a:endParaRPr kumimoji="1" lang="en-US" altLang="ja-JP" sz="2000" dirty="0"/>
          </a:p>
          <a:p>
            <a:endParaRPr lang="en-US" altLang="ja-JP" sz="2000" b="1" dirty="0"/>
          </a:p>
          <a:p>
            <a:endParaRPr lang="en-US" altLang="ja-JP" sz="2000" b="1" dirty="0"/>
          </a:p>
          <a:p>
            <a:endParaRPr lang="en-US" altLang="ja-JP" sz="2000" b="1" dirty="0"/>
          </a:p>
          <a:p>
            <a:r>
              <a:rPr kumimoji="1" lang="ja-JP" altLang="en-US" sz="2000" b="1" dirty="0"/>
              <a:t>・説明できるようになってもらうためには。</a:t>
            </a:r>
            <a:endParaRPr kumimoji="1" lang="en-US" altLang="ja-JP" sz="2000" b="1" dirty="0"/>
          </a:p>
          <a:p>
            <a:r>
              <a:rPr lang="ja-JP" altLang="en-US" b="1" dirty="0"/>
              <a:t>→</a:t>
            </a:r>
            <a:r>
              <a:rPr lang="ja-JP" altLang="en-US" dirty="0"/>
              <a:t>商品やサービスを使い倒してもらうしかない</a:t>
            </a:r>
            <a:endParaRPr lang="en-US" altLang="ja-JP" dirty="0"/>
          </a:p>
          <a:p>
            <a:endParaRPr lang="en-US" altLang="ja-JP" b="1" dirty="0"/>
          </a:p>
          <a:p>
            <a:endParaRPr lang="en-US" altLang="ja-JP" b="1" dirty="0"/>
          </a:p>
          <a:p>
            <a:endParaRPr lang="en-US" altLang="ja-JP" b="1" dirty="0"/>
          </a:p>
          <a:p>
            <a:endParaRPr lang="en-US" altLang="ja-JP" b="1" dirty="0"/>
          </a:p>
          <a:p>
            <a:r>
              <a:rPr lang="en-US" altLang="ja-JP" sz="2000" b="1" dirty="0"/>
              <a:t>EC</a:t>
            </a:r>
            <a:r>
              <a:rPr lang="ja-JP" altLang="en-US" sz="2000" b="1" dirty="0"/>
              <a:t>においてのファン作りの第一歩は商品を購入して使ってもらうこと</a:t>
            </a:r>
            <a:endParaRPr lang="en-US" altLang="ja-JP" sz="2000" b="1" dirty="0"/>
          </a:p>
          <a:p>
            <a:endParaRPr lang="en-US" altLang="ja-JP" b="1" dirty="0"/>
          </a:p>
        </p:txBody>
      </p:sp>
      <p:sp>
        <p:nvSpPr>
          <p:cNvPr id="4" name="矢印: 下 3">
            <a:extLst>
              <a:ext uri="{FF2B5EF4-FFF2-40B4-BE49-F238E27FC236}">
                <a16:creationId xmlns:a16="http://schemas.microsoft.com/office/drawing/2014/main" id="{546F383A-813B-7F7B-C6C5-A52F4FE2A2BD}"/>
              </a:ext>
            </a:extLst>
          </p:cNvPr>
          <p:cNvSpPr/>
          <p:nvPr/>
        </p:nvSpPr>
        <p:spPr bwMode="auto">
          <a:xfrm>
            <a:off x="3872880" y="2708920"/>
            <a:ext cx="936104" cy="576064"/>
          </a:xfrm>
          <a:prstGeom prst="downArrow">
            <a:avLst/>
          </a:prstGeom>
          <a:solidFill>
            <a:schemeClr val="bg1"/>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327136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893F5-3BEF-4CBE-CBA9-2CD6DF12801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0FC1D9C3-3879-FAD6-5386-76E3A71C4EFC}"/>
              </a:ext>
            </a:extLst>
          </p:cNvPr>
          <p:cNvSpPr>
            <a:spLocks noGrp="1"/>
          </p:cNvSpPr>
          <p:nvPr>
            <p:ph type="title"/>
          </p:nvPr>
        </p:nvSpPr>
        <p:spPr>
          <a:xfrm>
            <a:off x="272480" y="404664"/>
            <a:ext cx="9361040" cy="396044"/>
          </a:xfrm>
        </p:spPr>
        <p:txBody>
          <a:bodyPr/>
          <a:lstStyle/>
          <a:p>
            <a:r>
              <a:rPr lang="ja-JP" altLang="en-US" dirty="0">
                <a:solidFill>
                  <a:schemeClr val="tx1"/>
                </a:solidFill>
              </a:rPr>
              <a:t>方針まとめ</a:t>
            </a:r>
          </a:p>
        </p:txBody>
      </p:sp>
      <p:sp>
        <p:nvSpPr>
          <p:cNvPr id="3" name="スライド番号プレースホルダー 2">
            <a:extLst>
              <a:ext uri="{FF2B5EF4-FFF2-40B4-BE49-F238E27FC236}">
                <a16:creationId xmlns:a16="http://schemas.microsoft.com/office/drawing/2014/main" id="{BE132BF9-1B83-DAF9-5D30-780825B4FFE9}"/>
              </a:ext>
            </a:extLst>
          </p:cNvPr>
          <p:cNvSpPr>
            <a:spLocks noGrp="1"/>
          </p:cNvSpPr>
          <p:nvPr>
            <p:ph type="sldNum" sz="quarter" idx="11"/>
          </p:nvPr>
        </p:nvSpPr>
        <p:spPr/>
        <p:txBody>
          <a:bodyPr/>
          <a:lstStyle/>
          <a:p>
            <a:fld id="{FB3508C7-2FE0-4945-9CBD-863E05F850D2}" type="slidenum">
              <a:rPr lang="ja-JP" altLang="en-US" smtClean="0"/>
              <a:pPr/>
              <a:t>15</a:t>
            </a:fld>
            <a:endParaRPr lang="ja-JP" altLang="en-US" dirty="0"/>
          </a:p>
        </p:txBody>
      </p:sp>
      <p:sp>
        <p:nvSpPr>
          <p:cNvPr id="2" name="テキスト ボックス 1">
            <a:extLst>
              <a:ext uri="{FF2B5EF4-FFF2-40B4-BE49-F238E27FC236}">
                <a16:creationId xmlns:a16="http://schemas.microsoft.com/office/drawing/2014/main" id="{DFBD6EF5-E419-5381-3C76-22691D1CA0E7}"/>
              </a:ext>
            </a:extLst>
          </p:cNvPr>
          <p:cNvSpPr txBox="1"/>
          <p:nvPr/>
        </p:nvSpPr>
        <p:spPr>
          <a:xfrm>
            <a:off x="503210" y="1268760"/>
            <a:ext cx="7109639" cy="5078313"/>
          </a:xfrm>
          <a:prstGeom prst="rect">
            <a:avLst/>
          </a:prstGeom>
          <a:noFill/>
        </p:spPr>
        <p:txBody>
          <a:bodyPr wrap="none" rtlCol="0">
            <a:spAutoFit/>
          </a:bodyPr>
          <a:lstStyle/>
          <a:p>
            <a:r>
              <a:rPr lang="ja-JP" altLang="en-US" b="1" dirty="0"/>
              <a:t>■アントレスクエア内の「ブランド毎」に「ファン」を増やす</a:t>
            </a:r>
            <a:endParaRPr lang="en-US" altLang="ja-JP" b="1" dirty="0"/>
          </a:p>
          <a:p>
            <a:r>
              <a:rPr lang="ja-JP" altLang="en-US" b="1" dirty="0"/>
              <a:t>　・ブランド毎の戦略立案</a:t>
            </a:r>
            <a:endParaRPr lang="en-US" altLang="ja-JP" b="1" dirty="0"/>
          </a:p>
          <a:p>
            <a:r>
              <a:rPr lang="ja-JP" altLang="en-US" b="1" dirty="0"/>
              <a:t>　・商品を熟知してくれるユーザーの育成</a:t>
            </a:r>
            <a:endParaRPr lang="en-US" altLang="ja-JP" b="1" dirty="0"/>
          </a:p>
          <a:p>
            <a:endParaRPr lang="en-US" altLang="ja-JP" b="1" dirty="0"/>
          </a:p>
          <a:p>
            <a:r>
              <a:rPr lang="ja-JP" altLang="en-US" dirty="0"/>
              <a:t>そのために・・・</a:t>
            </a:r>
            <a:endParaRPr lang="en-US" altLang="ja-JP" dirty="0"/>
          </a:p>
          <a:p>
            <a:endParaRPr lang="en-US" altLang="ja-JP" b="1" dirty="0"/>
          </a:p>
          <a:p>
            <a:endParaRPr lang="en-US" altLang="ja-JP" b="1" dirty="0"/>
          </a:p>
          <a:p>
            <a:r>
              <a:rPr lang="ja-JP" altLang="en-US" b="1" dirty="0"/>
              <a:t>■アントレスクエアを知らない人でも買い物がしやすいサイトに</a:t>
            </a:r>
            <a:endParaRPr lang="en-US" altLang="ja-JP" b="1" dirty="0"/>
          </a:p>
          <a:p>
            <a:r>
              <a:rPr lang="ja-JP" altLang="en-US" b="1" dirty="0"/>
              <a:t>　・リニューアルでカテゴリはわかりやすく分かれたが</a:t>
            </a:r>
            <a:endParaRPr lang="en-US" altLang="ja-JP" b="1" dirty="0"/>
          </a:p>
          <a:p>
            <a:r>
              <a:rPr lang="ja-JP" altLang="en-US" b="1" dirty="0"/>
              <a:t>　　現状、アントレスクエアやブランドを知っている人しか</a:t>
            </a:r>
            <a:endParaRPr lang="en-US" altLang="ja-JP" b="1" dirty="0"/>
          </a:p>
          <a:p>
            <a:r>
              <a:rPr lang="ja-JP" altLang="en-US" b="1" dirty="0"/>
              <a:t>　　購入しづらいサイトになっている</a:t>
            </a:r>
            <a:endParaRPr lang="en-US" altLang="ja-JP" b="1" dirty="0"/>
          </a:p>
          <a:p>
            <a:endParaRPr lang="en-US" altLang="ja-JP" b="1" dirty="0"/>
          </a:p>
          <a:p>
            <a:r>
              <a:rPr lang="ja-JP" altLang="en-US" dirty="0"/>
              <a:t>そのために・・・</a:t>
            </a:r>
            <a:endParaRPr lang="en-US" altLang="ja-JP" dirty="0"/>
          </a:p>
          <a:p>
            <a:endParaRPr lang="en-US" altLang="ja-JP" b="1" dirty="0"/>
          </a:p>
          <a:p>
            <a:endParaRPr lang="en-US" altLang="ja-JP" b="1" dirty="0"/>
          </a:p>
          <a:p>
            <a:r>
              <a:rPr lang="ja-JP" altLang="en-US" b="1" dirty="0"/>
              <a:t>■ブランド毎に明確に戦略・戦術を決めて訴求をブラッシュアップ</a:t>
            </a:r>
            <a:endParaRPr lang="en-US" altLang="ja-JP" b="1" dirty="0"/>
          </a:p>
          <a:p>
            <a:r>
              <a:rPr lang="ja-JP" altLang="en-US" b="1" dirty="0"/>
              <a:t>　・狙うターゲットを決めて、値引き以外の訴求も武器に。</a:t>
            </a:r>
            <a:endParaRPr lang="en-US" altLang="ja-JP" b="1" dirty="0"/>
          </a:p>
          <a:p>
            <a:r>
              <a:rPr lang="ja-JP" altLang="en-US" b="1" dirty="0"/>
              <a:t>　・新規ユーザーが興味をもってくれる商品へ。</a:t>
            </a:r>
            <a:endParaRPr lang="en-US" altLang="ja-JP" b="1" dirty="0"/>
          </a:p>
        </p:txBody>
      </p:sp>
    </p:spTree>
    <p:extLst>
      <p:ext uri="{BB962C8B-B14F-4D97-AF65-F5344CB8AC3E}">
        <p14:creationId xmlns:p14="http://schemas.microsoft.com/office/powerpoint/2010/main" val="2933895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1DBD-CDBE-C1F8-14F5-30151FC928F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AD4F757-DEF4-9D26-5CB7-B01568F4585B}"/>
              </a:ext>
            </a:extLst>
          </p:cNvPr>
          <p:cNvSpPr>
            <a:spLocks noGrp="1"/>
          </p:cNvSpPr>
          <p:nvPr>
            <p:ph type="title"/>
          </p:nvPr>
        </p:nvSpPr>
        <p:spPr>
          <a:xfrm>
            <a:off x="272480" y="418803"/>
            <a:ext cx="9361040" cy="396044"/>
          </a:xfrm>
        </p:spPr>
        <p:txBody>
          <a:bodyPr/>
          <a:lstStyle/>
          <a:p>
            <a:r>
              <a:rPr lang="ja-JP" altLang="en-US" dirty="0">
                <a:solidFill>
                  <a:schemeClr val="tx1"/>
                </a:solidFill>
              </a:rPr>
              <a:t>スケジュール目安</a:t>
            </a:r>
          </a:p>
        </p:txBody>
      </p:sp>
      <p:sp>
        <p:nvSpPr>
          <p:cNvPr id="3" name="スライド番号プレースホルダー 2">
            <a:extLst>
              <a:ext uri="{FF2B5EF4-FFF2-40B4-BE49-F238E27FC236}">
                <a16:creationId xmlns:a16="http://schemas.microsoft.com/office/drawing/2014/main" id="{014143EC-7252-7F1F-7C06-54260C7E4C4F}"/>
              </a:ext>
            </a:extLst>
          </p:cNvPr>
          <p:cNvSpPr>
            <a:spLocks noGrp="1"/>
          </p:cNvSpPr>
          <p:nvPr>
            <p:ph type="sldNum" sz="quarter" idx="11"/>
          </p:nvPr>
        </p:nvSpPr>
        <p:spPr/>
        <p:txBody>
          <a:bodyPr/>
          <a:lstStyle/>
          <a:p>
            <a:fld id="{FB3508C7-2FE0-4945-9CBD-863E05F850D2}" type="slidenum">
              <a:rPr lang="ja-JP" altLang="en-US" smtClean="0"/>
              <a:pPr/>
              <a:t>16</a:t>
            </a:fld>
            <a:endParaRPr lang="ja-JP" altLang="en-US" dirty="0"/>
          </a:p>
        </p:txBody>
      </p:sp>
      <p:graphicFrame>
        <p:nvGraphicFramePr>
          <p:cNvPr id="4" name="図表 3">
            <a:extLst>
              <a:ext uri="{FF2B5EF4-FFF2-40B4-BE49-F238E27FC236}">
                <a16:creationId xmlns:a16="http://schemas.microsoft.com/office/drawing/2014/main" id="{697FF10C-BD50-CB9B-A8DF-2AD25993F1A8}"/>
              </a:ext>
            </a:extLst>
          </p:cNvPr>
          <p:cNvGraphicFramePr/>
          <p:nvPr>
            <p:extLst>
              <p:ext uri="{D42A27DB-BD31-4B8C-83A1-F6EECF244321}">
                <p14:modId xmlns:p14="http://schemas.microsoft.com/office/powerpoint/2010/main" val="1092429461"/>
              </p:ext>
            </p:extLst>
          </p:nvPr>
        </p:nvGraphicFramePr>
        <p:xfrm>
          <a:off x="560512" y="-675456"/>
          <a:ext cx="8856984" cy="626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テキスト ボックス 5">
            <a:extLst>
              <a:ext uri="{FF2B5EF4-FFF2-40B4-BE49-F238E27FC236}">
                <a16:creationId xmlns:a16="http://schemas.microsoft.com/office/drawing/2014/main" id="{565860D3-03B0-8CA2-B89C-7CF02FAC9550}"/>
              </a:ext>
            </a:extLst>
          </p:cNvPr>
          <p:cNvSpPr txBox="1"/>
          <p:nvPr/>
        </p:nvSpPr>
        <p:spPr>
          <a:xfrm>
            <a:off x="1280592" y="1154482"/>
            <a:ext cx="1569660" cy="369332"/>
          </a:xfrm>
          <a:prstGeom prst="rect">
            <a:avLst/>
          </a:prstGeom>
          <a:noFill/>
        </p:spPr>
        <p:txBody>
          <a:bodyPr wrap="none" rtlCol="0">
            <a:spAutoFit/>
          </a:bodyPr>
          <a:lstStyle/>
          <a:p>
            <a:r>
              <a:rPr kumimoji="1" lang="ja-JP" altLang="en-US" dirty="0"/>
              <a:t>短期フェーズ</a:t>
            </a:r>
          </a:p>
        </p:txBody>
      </p:sp>
      <p:sp>
        <p:nvSpPr>
          <p:cNvPr id="7" name="テキスト ボックス 6">
            <a:extLst>
              <a:ext uri="{FF2B5EF4-FFF2-40B4-BE49-F238E27FC236}">
                <a16:creationId xmlns:a16="http://schemas.microsoft.com/office/drawing/2014/main" id="{AD3932EA-9266-0ECA-B4C6-999D150F4FFC}"/>
              </a:ext>
            </a:extLst>
          </p:cNvPr>
          <p:cNvSpPr txBox="1"/>
          <p:nvPr/>
        </p:nvSpPr>
        <p:spPr>
          <a:xfrm>
            <a:off x="4168170" y="1154482"/>
            <a:ext cx="1569660" cy="369332"/>
          </a:xfrm>
          <a:prstGeom prst="rect">
            <a:avLst/>
          </a:prstGeom>
          <a:noFill/>
        </p:spPr>
        <p:txBody>
          <a:bodyPr wrap="none" rtlCol="0">
            <a:spAutoFit/>
          </a:bodyPr>
          <a:lstStyle/>
          <a:p>
            <a:r>
              <a:rPr lang="ja-JP" altLang="en-US" dirty="0"/>
              <a:t>中期</a:t>
            </a:r>
            <a:r>
              <a:rPr kumimoji="1" lang="ja-JP" altLang="en-US" dirty="0"/>
              <a:t>フェーズ</a:t>
            </a:r>
          </a:p>
        </p:txBody>
      </p:sp>
      <p:sp>
        <p:nvSpPr>
          <p:cNvPr id="8" name="テキスト ボックス 7">
            <a:extLst>
              <a:ext uri="{FF2B5EF4-FFF2-40B4-BE49-F238E27FC236}">
                <a16:creationId xmlns:a16="http://schemas.microsoft.com/office/drawing/2014/main" id="{DFB889FD-F2E4-58C4-1A34-E9EA36136A83}"/>
              </a:ext>
            </a:extLst>
          </p:cNvPr>
          <p:cNvSpPr txBox="1"/>
          <p:nvPr/>
        </p:nvSpPr>
        <p:spPr>
          <a:xfrm>
            <a:off x="7171018" y="1154482"/>
            <a:ext cx="1569660" cy="369332"/>
          </a:xfrm>
          <a:prstGeom prst="rect">
            <a:avLst/>
          </a:prstGeom>
          <a:noFill/>
        </p:spPr>
        <p:txBody>
          <a:bodyPr wrap="none" rtlCol="0">
            <a:spAutoFit/>
          </a:bodyPr>
          <a:lstStyle/>
          <a:p>
            <a:r>
              <a:rPr kumimoji="1" lang="ja-JP" altLang="en-US" dirty="0"/>
              <a:t>長期フェーズ</a:t>
            </a:r>
          </a:p>
        </p:txBody>
      </p:sp>
      <p:sp>
        <p:nvSpPr>
          <p:cNvPr id="9" name="テキスト ボックス 8">
            <a:extLst>
              <a:ext uri="{FF2B5EF4-FFF2-40B4-BE49-F238E27FC236}">
                <a16:creationId xmlns:a16="http://schemas.microsoft.com/office/drawing/2014/main" id="{7F118B74-BFDD-D278-2BAE-0D60BCBAD63A}"/>
              </a:ext>
            </a:extLst>
          </p:cNvPr>
          <p:cNvSpPr txBox="1"/>
          <p:nvPr/>
        </p:nvSpPr>
        <p:spPr>
          <a:xfrm>
            <a:off x="632520" y="1882669"/>
            <a:ext cx="2492990" cy="2308324"/>
          </a:xfrm>
          <a:prstGeom prst="rect">
            <a:avLst/>
          </a:prstGeom>
          <a:noFill/>
        </p:spPr>
        <p:txBody>
          <a:bodyPr wrap="none" rtlCol="0">
            <a:spAutoFit/>
          </a:bodyPr>
          <a:lstStyle/>
          <a:p>
            <a:r>
              <a:rPr kumimoji="1" lang="ja-JP" altLang="en-US" dirty="0">
                <a:solidFill>
                  <a:schemeClr val="bg1"/>
                </a:solidFill>
              </a:rPr>
              <a:t>・時期ごとの</a:t>
            </a:r>
            <a:endParaRPr kumimoji="1" lang="en-US" altLang="ja-JP" dirty="0">
              <a:solidFill>
                <a:schemeClr val="bg1"/>
              </a:solidFill>
            </a:endParaRPr>
          </a:p>
          <a:p>
            <a:r>
              <a:rPr lang="ja-JP" altLang="en-US" dirty="0">
                <a:solidFill>
                  <a:schemeClr val="bg1"/>
                </a:solidFill>
              </a:rPr>
              <a:t>　</a:t>
            </a:r>
            <a:r>
              <a:rPr kumimoji="1" lang="ja-JP" altLang="en-US" dirty="0">
                <a:solidFill>
                  <a:schemeClr val="bg1"/>
                </a:solidFill>
              </a:rPr>
              <a:t>注力ブランドの抽出</a:t>
            </a:r>
            <a:endParaRPr kumimoji="1" lang="en-US" altLang="ja-JP" dirty="0">
              <a:solidFill>
                <a:schemeClr val="bg1"/>
              </a:solidFill>
            </a:endParaRPr>
          </a:p>
          <a:p>
            <a:r>
              <a:rPr lang="ja-JP" altLang="en-US" dirty="0">
                <a:solidFill>
                  <a:schemeClr val="bg1"/>
                </a:solidFill>
              </a:rPr>
              <a:t>・ブランドごとの戦略</a:t>
            </a:r>
            <a:endParaRPr lang="en-US" altLang="ja-JP" dirty="0">
              <a:solidFill>
                <a:schemeClr val="bg1"/>
              </a:solidFill>
            </a:endParaRPr>
          </a:p>
          <a:p>
            <a:r>
              <a:rPr lang="ja-JP" altLang="en-US" dirty="0">
                <a:solidFill>
                  <a:schemeClr val="bg1"/>
                </a:solidFill>
              </a:rPr>
              <a:t>・ターゲット決め</a:t>
            </a:r>
            <a:endParaRPr lang="en-US" altLang="ja-JP" dirty="0">
              <a:solidFill>
                <a:schemeClr val="bg1"/>
              </a:solidFill>
            </a:endParaRPr>
          </a:p>
          <a:p>
            <a:r>
              <a:rPr lang="ja-JP" altLang="en-US" dirty="0">
                <a:solidFill>
                  <a:schemeClr val="bg1"/>
                </a:solidFill>
              </a:rPr>
              <a:t>・競合調査</a:t>
            </a:r>
            <a:endParaRPr lang="en-US" altLang="ja-JP" dirty="0">
              <a:solidFill>
                <a:schemeClr val="bg1"/>
              </a:solidFill>
            </a:endParaRPr>
          </a:p>
          <a:p>
            <a:r>
              <a:rPr lang="ja-JP" altLang="en-US" dirty="0">
                <a:solidFill>
                  <a:schemeClr val="bg1"/>
                </a:solidFill>
              </a:rPr>
              <a:t>・訴求ぎめ</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・広告配信</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42E9C58C-D9F0-6278-FBB2-B187C98DC587}"/>
              </a:ext>
            </a:extLst>
          </p:cNvPr>
          <p:cNvSpPr txBox="1"/>
          <p:nvPr/>
        </p:nvSpPr>
        <p:spPr>
          <a:xfrm>
            <a:off x="3706505" y="1878105"/>
            <a:ext cx="2262158" cy="2308324"/>
          </a:xfrm>
          <a:prstGeom prst="rect">
            <a:avLst/>
          </a:prstGeom>
          <a:noFill/>
        </p:spPr>
        <p:txBody>
          <a:bodyPr wrap="none" rtlCol="0">
            <a:spAutoFit/>
          </a:bodyPr>
          <a:lstStyle/>
          <a:p>
            <a:r>
              <a:rPr kumimoji="1" lang="ja-JP" altLang="en-US" dirty="0">
                <a:solidFill>
                  <a:schemeClr val="bg1"/>
                </a:solidFill>
              </a:rPr>
              <a:t>・商品ページ改修</a:t>
            </a:r>
            <a:endParaRPr kumimoji="1" lang="en-US" altLang="ja-JP" dirty="0">
              <a:solidFill>
                <a:schemeClr val="bg1"/>
              </a:solidFill>
            </a:endParaRPr>
          </a:p>
          <a:p>
            <a:r>
              <a:rPr lang="ja-JP" altLang="en-US" dirty="0">
                <a:solidFill>
                  <a:schemeClr val="bg1"/>
                </a:solidFill>
              </a:rPr>
              <a:t>・公式限定特典</a:t>
            </a:r>
            <a:endParaRPr lang="en-US" altLang="ja-JP" dirty="0">
              <a:solidFill>
                <a:schemeClr val="bg1"/>
              </a:solidFill>
            </a:endParaRPr>
          </a:p>
          <a:p>
            <a:r>
              <a:rPr lang="ja-JP" altLang="en-US" dirty="0">
                <a:solidFill>
                  <a:schemeClr val="bg1"/>
                </a:solidFill>
              </a:rPr>
              <a:t>・特典の運用フロー</a:t>
            </a:r>
            <a:endParaRPr lang="en-US" altLang="ja-JP" dirty="0">
              <a:solidFill>
                <a:schemeClr val="bg1"/>
              </a:solidFill>
            </a:endParaRPr>
          </a:p>
          <a:p>
            <a:r>
              <a:rPr lang="ja-JP" altLang="en-US" dirty="0">
                <a:solidFill>
                  <a:schemeClr val="bg1"/>
                </a:solidFill>
              </a:rPr>
              <a:t>・実施</a:t>
            </a:r>
            <a:endParaRPr lang="en-US" altLang="ja-JP" dirty="0">
              <a:solidFill>
                <a:schemeClr val="bg1"/>
              </a:solidFill>
            </a:endParaRPr>
          </a:p>
          <a:p>
            <a:r>
              <a:rPr lang="ja-JP" altLang="en-US" dirty="0">
                <a:solidFill>
                  <a:schemeClr val="bg1"/>
                </a:solidFill>
              </a:rPr>
              <a:t>・ページ改修</a:t>
            </a:r>
            <a:r>
              <a:rPr lang="en-US" altLang="ja-JP" dirty="0">
                <a:solidFill>
                  <a:schemeClr val="bg1"/>
                </a:solidFill>
              </a:rPr>
              <a:t>PDCA</a:t>
            </a:r>
          </a:p>
          <a:p>
            <a:endParaRPr lang="en-US" altLang="ja-JP" dirty="0">
              <a:solidFill>
                <a:schemeClr val="bg1"/>
              </a:solidFill>
            </a:endParaRPr>
          </a:p>
          <a:p>
            <a:r>
              <a:rPr lang="ja-JP" altLang="en-US" dirty="0">
                <a:solidFill>
                  <a:schemeClr val="bg1"/>
                </a:solidFill>
              </a:rPr>
              <a:t>・最適化された</a:t>
            </a:r>
            <a:endParaRPr lang="en-US" altLang="ja-JP" dirty="0">
              <a:solidFill>
                <a:schemeClr val="bg1"/>
              </a:solidFill>
            </a:endParaRPr>
          </a:p>
          <a:p>
            <a:r>
              <a:rPr lang="ja-JP" altLang="en-US" dirty="0">
                <a:solidFill>
                  <a:schemeClr val="bg1"/>
                </a:solidFill>
              </a:rPr>
              <a:t>　広告配信</a:t>
            </a:r>
            <a:endParaRPr lang="en-US" altLang="ja-JP" dirty="0">
              <a:solidFill>
                <a:schemeClr val="bg1"/>
              </a:solidFill>
            </a:endParaRPr>
          </a:p>
        </p:txBody>
      </p:sp>
      <p:sp>
        <p:nvSpPr>
          <p:cNvPr id="11" name="テキスト ボックス 10">
            <a:extLst>
              <a:ext uri="{FF2B5EF4-FFF2-40B4-BE49-F238E27FC236}">
                <a16:creationId xmlns:a16="http://schemas.microsoft.com/office/drawing/2014/main" id="{BB323D79-62EA-50B2-9424-715812DBAA90}"/>
              </a:ext>
            </a:extLst>
          </p:cNvPr>
          <p:cNvSpPr txBox="1"/>
          <p:nvPr/>
        </p:nvSpPr>
        <p:spPr>
          <a:xfrm>
            <a:off x="6654779" y="1896156"/>
            <a:ext cx="2723823" cy="2308324"/>
          </a:xfrm>
          <a:prstGeom prst="rect">
            <a:avLst/>
          </a:prstGeom>
          <a:noFill/>
        </p:spPr>
        <p:txBody>
          <a:bodyPr wrap="none" rtlCol="0">
            <a:spAutoFit/>
          </a:bodyPr>
          <a:lstStyle/>
          <a:p>
            <a:r>
              <a:rPr kumimoji="1" lang="ja-JP" altLang="en-US" dirty="0">
                <a:solidFill>
                  <a:schemeClr val="bg1"/>
                </a:solidFill>
              </a:rPr>
              <a:t>・</a:t>
            </a:r>
            <a:r>
              <a:rPr lang="ja-JP" altLang="en-US" dirty="0">
                <a:solidFill>
                  <a:srgbClr val="FF0000"/>
                </a:solidFill>
              </a:rPr>
              <a:t>各種コンテンツを</a:t>
            </a:r>
            <a:endParaRPr lang="en-US" altLang="ja-JP" dirty="0">
              <a:solidFill>
                <a:srgbClr val="FF0000"/>
              </a:solidFill>
            </a:endParaRPr>
          </a:p>
          <a:p>
            <a:r>
              <a:rPr kumimoji="1" lang="ja-JP" altLang="en-US" dirty="0">
                <a:solidFill>
                  <a:srgbClr val="FF0000"/>
                </a:solidFill>
              </a:rPr>
              <a:t>　活用したファン育成</a:t>
            </a:r>
            <a:endParaRPr kumimoji="1" lang="en-US" altLang="ja-JP" dirty="0">
              <a:solidFill>
                <a:srgbClr val="FF0000"/>
              </a:solidFill>
            </a:endParaRPr>
          </a:p>
          <a:p>
            <a:r>
              <a:rPr lang="ja-JP" altLang="en-US" dirty="0">
                <a:solidFill>
                  <a:srgbClr val="FF0000"/>
                </a:solidFill>
              </a:rPr>
              <a:t>　（ブランディング）</a:t>
            </a:r>
            <a:endParaRPr kumimoji="1" lang="en-US" altLang="ja-JP" dirty="0">
              <a:solidFill>
                <a:srgbClr val="FF0000"/>
              </a:solidFill>
            </a:endParaRPr>
          </a:p>
          <a:p>
            <a:endParaRPr lang="en-US" altLang="ja-JP" dirty="0">
              <a:solidFill>
                <a:schemeClr val="bg1"/>
              </a:solidFill>
            </a:endParaRPr>
          </a:p>
          <a:p>
            <a:r>
              <a:rPr lang="ja-JP" altLang="en-US" dirty="0">
                <a:solidFill>
                  <a:schemeClr val="bg1"/>
                </a:solidFill>
              </a:rPr>
              <a:t>・最適化された広告で</a:t>
            </a:r>
            <a:endParaRPr lang="en-US" altLang="ja-JP" dirty="0">
              <a:solidFill>
                <a:schemeClr val="bg1"/>
              </a:solidFill>
            </a:endParaRPr>
          </a:p>
          <a:p>
            <a:r>
              <a:rPr lang="ja-JP" altLang="en-US" dirty="0">
                <a:solidFill>
                  <a:schemeClr val="bg1"/>
                </a:solidFill>
              </a:rPr>
              <a:t>　来てほしいユーザーを</a:t>
            </a:r>
            <a:endParaRPr lang="en-US" altLang="ja-JP" dirty="0">
              <a:solidFill>
                <a:schemeClr val="bg1"/>
              </a:solidFill>
            </a:endParaRPr>
          </a:p>
          <a:p>
            <a:r>
              <a:rPr lang="ja-JP" altLang="en-US" dirty="0">
                <a:solidFill>
                  <a:schemeClr val="bg1"/>
                </a:solidFill>
              </a:rPr>
              <a:t>　集客し、新規ユーザー</a:t>
            </a:r>
            <a:endParaRPr lang="en-US" altLang="ja-JP" dirty="0">
              <a:solidFill>
                <a:schemeClr val="bg1"/>
              </a:solidFill>
            </a:endParaRPr>
          </a:p>
          <a:p>
            <a:r>
              <a:rPr lang="ja-JP" altLang="en-US" dirty="0">
                <a:solidFill>
                  <a:schemeClr val="bg1"/>
                </a:solidFill>
              </a:rPr>
              <a:t>　も購入しやすいサイト</a:t>
            </a:r>
            <a:endParaRPr lang="en-US" altLang="ja-JP" dirty="0">
              <a:solidFill>
                <a:schemeClr val="bg1"/>
              </a:solidFill>
            </a:endParaRPr>
          </a:p>
        </p:txBody>
      </p:sp>
      <p:sp>
        <p:nvSpPr>
          <p:cNvPr id="12" name="テキスト ボックス 11">
            <a:extLst>
              <a:ext uri="{FF2B5EF4-FFF2-40B4-BE49-F238E27FC236}">
                <a16:creationId xmlns:a16="http://schemas.microsoft.com/office/drawing/2014/main" id="{9385C8B6-1665-4C37-1A74-C95ED3AB2020}"/>
              </a:ext>
            </a:extLst>
          </p:cNvPr>
          <p:cNvSpPr txBox="1"/>
          <p:nvPr/>
        </p:nvSpPr>
        <p:spPr>
          <a:xfrm>
            <a:off x="1083765" y="4725144"/>
            <a:ext cx="1590500"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4</a:t>
            </a:r>
            <a:r>
              <a:rPr lang="ja-JP" altLang="en-US" dirty="0"/>
              <a:t>月</a:t>
            </a:r>
            <a:endParaRPr lang="en-US" altLang="ja-JP" dirty="0"/>
          </a:p>
        </p:txBody>
      </p:sp>
      <p:sp>
        <p:nvSpPr>
          <p:cNvPr id="13" name="テキスト ボックス 12">
            <a:extLst>
              <a:ext uri="{FF2B5EF4-FFF2-40B4-BE49-F238E27FC236}">
                <a16:creationId xmlns:a16="http://schemas.microsoft.com/office/drawing/2014/main" id="{FD0F738C-D55A-385A-687E-C86B14CE9465}"/>
              </a:ext>
            </a:extLst>
          </p:cNvPr>
          <p:cNvSpPr txBox="1"/>
          <p:nvPr/>
        </p:nvSpPr>
        <p:spPr>
          <a:xfrm>
            <a:off x="4042334" y="4712915"/>
            <a:ext cx="1590500"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7</a:t>
            </a:r>
            <a:r>
              <a:rPr lang="ja-JP" altLang="en-US" dirty="0"/>
              <a:t>月</a:t>
            </a:r>
            <a:endParaRPr lang="en-US" altLang="ja-JP" dirty="0"/>
          </a:p>
        </p:txBody>
      </p:sp>
      <p:sp>
        <p:nvSpPr>
          <p:cNvPr id="14" name="テキスト ボックス 13">
            <a:extLst>
              <a:ext uri="{FF2B5EF4-FFF2-40B4-BE49-F238E27FC236}">
                <a16:creationId xmlns:a16="http://schemas.microsoft.com/office/drawing/2014/main" id="{D39BF570-98C5-FB57-C189-DBDC03A92E29}"/>
              </a:ext>
            </a:extLst>
          </p:cNvPr>
          <p:cNvSpPr txBox="1"/>
          <p:nvPr/>
        </p:nvSpPr>
        <p:spPr>
          <a:xfrm>
            <a:off x="7034690" y="4680262"/>
            <a:ext cx="1963999" cy="369332"/>
          </a:xfrm>
          <a:prstGeom prst="rect">
            <a:avLst/>
          </a:prstGeom>
          <a:noFill/>
        </p:spPr>
        <p:txBody>
          <a:bodyPr wrap="none" rtlCol="0">
            <a:spAutoFit/>
          </a:bodyPr>
          <a:lstStyle/>
          <a:p>
            <a:r>
              <a:rPr lang="ja-JP" altLang="en-US" dirty="0"/>
              <a:t>～</a:t>
            </a:r>
            <a:r>
              <a:rPr lang="en-US" altLang="ja-JP" dirty="0"/>
              <a:t>2025</a:t>
            </a:r>
            <a:r>
              <a:rPr lang="ja-JP" altLang="en-US" dirty="0"/>
              <a:t>年</a:t>
            </a:r>
            <a:r>
              <a:rPr lang="en-US" altLang="ja-JP" dirty="0"/>
              <a:t>10</a:t>
            </a:r>
            <a:r>
              <a:rPr lang="ja-JP" altLang="en-US" dirty="0"/>
              <a:t>月末</a:t>
            </a:r>
            <a:endParaRPr lang="en-US" altLang="ja-JP" dirty="0"/>
          </a:p>
        </p:txBody>
      </p:sp>
      <p:sp>
        <p:nvSpPr>
          <p:cNvPr id="15" name="テキスト ボックス 14">
            <a:extLst>
              <a:ext uri="{FF2B5EF4-FFF2-40B4-BE49-F238E27FC236}">
                <a16:creationId xmlns:a16="http://schemas.microsoft.com/office/drawing/2014/main" id="{21521DBC-B249-7AC3-A606-50A247473134}"/>
              </a:ext>
            </a:extLst>
          </p:cNvPr>
          <p:cNvSpPr txBox="1"/>
          <p:nvPr/>
        </p:nvSpPr>
        <p:spPr>
          <a:xfrm>
            <a:off x="704528" y="5589240"/>
            <a:ext cx="8956298" cy="923330"/>
          </a:xfrm>
          <a:prstGeom prst="rect">
            <a:avLst/>
          </a:prstGeom>
          <a:noFill/>
        </p:spPr>
        <p:txBody>
          <a:bodyPr wrap="none" rtlCol="0">
            <a:spAutoFit/>
          </a:bodyPr>
          <a:lstStyle/>
          <a:p>
            <a:r>
              <a:rPr kumimoji="1" lang="en-US" altLang="ja-JP" dirty="0"/>
              <a:t>2025</a:t>
            </a:r>
            <a:r>
              <a:rPr kumimoji="1" lang="ja-JP" altLang="en-US" dirty="0"/>
              <a:t>年の年末商戦までには上記完了して、ド新規のユーザーでも</a:t>
            </a:r>
            <a:endParaRPr kumimoji="1" lang="en-US" altLang="ja-JP" dirty="0"/>
          </a:p>
          <a:p>
            <a:r>
              <a:rPr lang="ja-JP" altLang="en-US" dirty="0"/>
              <a:t>広告 </a:t>
            </a:r>
            <a:r>
              <a:rPr lang="en-US" altLang="ja-JP" dirty="0"/>
              <a:t>or </a:t>
            </a:r>
            <a:r>
              <a:rPr lang="ja-JP" altLang="en-US" dirty="0"/>
              <a:t>検索⇒ランディング⇒購入といい循環が作れるサイトに変えましょう。</a:t>
            </a:r>
            <a:endParaRPr lang="en-US" altLang="ja-JP" dirty="0"/>
          </a:p>
          <a:p>
            <a:r>
              <a:rPr kumimoji="1" lang="en-US" altLang="ja-JP" dirty="0"/>
              <a:t>※</a:t>
            </a:r>
            <a:r>
              <a:rPr kumimoji="1" lang="ja-JP" altLang="en-US" dirty="0"/>
              <a:t>ファン育成はサイトが続く限り長期で行っていくアクションなので色分けしてます</a:t>
            </a:r>
          </a:p>
        </p:txBody>
      </p:sp>
    </p:spTree>
    <p:extLst>
      <p:ext uri="{BB962C8B-B14F-4D97-AF65-F5344CB8AC3E}">
        <p14:creationId xmlns:p14="http://schemas.microsoft.com/office/powerpoint/2010/main" val="344849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8453009-0832-0FC3-2B8B-291B69FAFBE5}"/>
              </a:ext>
            </a:extLst>
          </p:cNvPr>
          <p:cNvSpPr>
            <a:spLocks noGrp="1"/>
          </p:cNvSpPr>
          <p:nvPr>
            <p:ph type="sldNum" sz="quarter" idx="4294967295"/>
          </p:nvPr>
        </p:nvSpPr>
        <p:spPr>
          <a:xfrm>
            <a:off x="9431338" y="6592888"/>
            <a:ext cx="474662" cy="257175"/>
          </a:xfrm>
        </p:spPr>
        <p:txBody>
          <a:bodyPr/>
          <a:lstStyle/>
          <a:p>
            <a:fld id="{FB3508C7-2FE0-4945-9CBD-863E05F850D2}" type="slidenum">
              <a:rPr lang="ja-JP" altLang="en-US" smtClean="0"/>
              <a:pPr/>
              <a:t>17</a:t>
            </a:fld>
            <a:endParaRPr lang="ja-JP" altLang="en-US" dirty="0"/>
          </a:p>
        </p:txBody>
      </p:sp>
    </p:spTree>
    <p:extLst>
      <p:ext uri="{BB962C8B-B14F-4D97-AF65-F5344CB8AC3E}">
        <p14:creationId xmlns:p14="http://schemas.microsoft.com/office/powerpoint/2010/main" val="377985850"/>
      </p:ext>
    </p:extLst>
  </p:cSld>
  <p:clrMapOvr>
    <a:masterClrMapping/>
  </p:clrMapOvr>
</p:sld>
</file>

<file path=ppt/theme/theme1.xml><?xml version="1.0" encoding="utf-8"?>
<a:theme xmlns:a="http://schemas.openxmlformats.org/drawingml/2006/main" name="presentation-design-2022-a4">
  <a:themeElements>
    <a:clrScheme name="ユーザー定義 5">
      <a:dk1>
        <a:srgbClr val="333333"/>
      </a:dk1>
      <a:lt1>
        <a:srgbClr val="FFFFFF"/>
      </a:lt1>
      <a:dk2>
        <a:srgbClr val="1D2D53"/>
      </a:dk2>
      <a:lt2>
        <a:srgbClr val="E2F1FA"/>
      </a:lt2>
      <a:accent1>
        <a:srgbClr val="0071BC"/>
      </a:accent1>
      <a:accent2>
        <a:srgbClr val="FFE050"/>
      </a:accent2>
      <a:accent3>
        <a:srgbClr val="FF5050"/>
      </a:accent3>
      <a:accent4>
        <a:srgbClr val="FF8F86"/>
      </a:accent4>
      <a:accent5>
        <a:srgbClr val="E7E7EA"/>
      </a:accent5>
      <a:accent6>
        <a:srgbClr val="B5B5B8"/>
      </a:accent6>
      <a:hlink>
        <a:srgbClr val="0071BC"/>
      </a:hlink>
      <a:folHlink>
        <a:srgbClr val="0071BC"/>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F9ED0BF-1928-4867-8479-EA309B7EF381}" vid="{E0DEE25F-0F32-4DBC-B847-201E630BC36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2023WCAパワポtemplate_A4</Template>
  <TotalTime>8537</TotalTime>
  <Words>2374</Words>
  <Application>Microsoft Office PowerPoint</Application>
  <PresentationFormat>A4 210 x 297 mm</PresentationFormat>
  <Paragraphs>326</Paragraphs>
  <Slides>18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18</vt:i4>
      </vt:variant>
    </vt:vector>
  </HeadingPairs>
  <TitlesOfParts>
    <vt:vector size="22" baseType="lpstr">
      <vt:lpstr>メイリオ</vt:lpstr>
      <vt:lpstr>Arial</vt:lpstr>
      <vt:lpstr>Calibri</vt:lpstr>
      <vt:lpstr>presentation-design-2022-a4</vt:lpstr>
      <vt:lpstr>アントレスクエアサイト戦略</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【中期フェーズ】ページ改修＋自社限定特典の作成</vt:lpstr>
      <vt:lpstr>【中期フェーズ】プロモーションの最適化</vt:lpstr>
      <vt:lpstr>PowerPoint プレゼンテーション</vt:lpstr>
      <vt:lpstr>【長期メインフェーズ】</vt:lpstr>
      <vt:lpstr>【長期メインフェーズ】</vt:lpstr>
      <vt:lpstr>方針まとめ</vt:lpstr>
      <vt:lpstr>スケジュール目安</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福居 里実</dc:creator>
  <cp:lastModifiedBy>加藤 直樹</cp:lastModifiedBy>
  <cp:revision>130</cp:revision>
  <cp:lastPrinted>2025-01-23T01:30:23Z</cp:lastPrinted>
  <dcterms:created xsi:type="dcterms:W3CDTF">2024-08-01T07:16:16Z</dcterms:created>
  <dcterms:modified xsi:type="dcterms:W3CDTF">2025-01-23T01:45:43Z</dcterms:modified>
</cp:coreProperties>
</file>